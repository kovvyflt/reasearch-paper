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Month 1 — Complete 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A: COCO val2017  |  TextProjection + ImageProjection  |  Symmetric InfoNCE  |  FAISS + KG Hybrid Retrieval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1 — COCO Dataset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40080"/>
            <a:ext cx="1234440" cy="868680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40080"/>
            <a:ext cx="12344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∈ ℝ³ˣ²²⁴ˣ²²⁴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val2017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2880" y="1536192"/>
            <a:ext cx="1234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Image, I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82880" y="1828800"/>
            <a:ext cx="1234440" cy="64008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828800"/>
            <a:ext cx="12344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dog running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beach"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2496312"/>
            <a:ext cx="1234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c ∈ Σ* (5 per image)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82880" y="2715768"/>
            <a:ext cx="1234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 (i)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" y="2944368"/>
            <a:ext cx="1234440" cy="896112"/>
          </a:xfrm>
          <a:prstGeom prst="rect">
            <a:avLst/>
          </a:prstGeom>
          <a:solidFill>
            <a:srgbClr val="D1F0E6"/>
          </a:solidFill>
          <a:ln w="10160">
            <a:solidFill>
              <a:srgbClr val="0D7C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944368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val2017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" y="3163824"/>
            <a:ext cx="10972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25,014 pairs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images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captions/image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false-neg contamination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435608" y="1069848"/>
            <a:ext cx="32918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35608" y="2148840"/>
            <a:ext cx="329184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83080" y="594360"/>
            <a:ext cx="4160520" cy="162763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AAAAA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828800" y="594360"/>
            <a:ext cx="40690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encoders — no gradient through backbone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810512" y="777240"/>
            <a:ext cx="1664208" cy="65836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777240"/>
            <a:ext cx="15179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83664" y="996696"/>
            <a:ext cx="1517904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 → 2048d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93008" y="1106424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785616" y="777240"/>
            <a:ext cx="1883664" cy="658368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777240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58768" y="996696"/>
            <a:ext cx="173736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Linear(2048→2048)→GELU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→LayerNorm→Linear(2048→512)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→LayerNorm→L2-Norm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687568" y="1106424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810512" y="1572768"/>
            <a:ext cx="1664208" cy="621792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1572768"/>
            <a:ext cx="15179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83664" y="1792224"/>
            <a:ext cx="1517904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(110M params)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token → 768d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93008" y="1883664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85616" y="1572768"/>
            <a:ext cx="1883664" cy="621792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1572768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58768" y="1792224"/>
            <a:ext cx="17373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Linear(768→768)→GELU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→LayerNorm→Linear(768→512)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→LayerNorm→L2-Norm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87568" y="1883664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980176" y="749808"/>
            <a:ext cx="804672" cy="142646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5B2D8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980176" y="749808"/>
            <a:ext cx="804672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 space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6053328" y="923544"/>
            <a:ext cx="5943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3328" y="923544"/>
            <a:ext cx="594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e_I  512d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053328" y="1664208"/>
            <a:ext cx="594360" cy="347472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1664208"/>
            <a:ext cx="5943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e_T  512d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665976" y="1097280"/>
            <a:ext cx="20116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665976" y="1837944"/>
            <a:ext cx="201168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876288" y="548640"/>
            <a:ext cx="5084064" cy="245059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1A6B30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931152" y="548640"/>
            <a:ext cx="497433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912864" y="777240"/>
            <a:ext cx="5010912" cy="749808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6016" y="777240"/>
            <a:ext cx="4846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 Loss  (τ = 0.07)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86016" y="987552"/>
            <a:ext cx="484632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L(I→T) = −log[ exp(e_I · e_T / τ) / Σⱼ exp(e_I · e_Tj / τ) ]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86016" y="1170432"/>
            <a:ext cx="484632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L(T→I) = −log[ exp(e_T · e_I / τ) / Σⱼ exp(e_T · e_Ij / τ) ]   |   L_total = (L_I→T + L_T→I) / 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86016" y="1371600"/>
            <a:ext cx="4846320" cy="128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sim(u,v) = u · v  (cosine, after L2-norm)   |   Batch N=32   |   Random baseline = log(N) = 3.47   |   τ=0.07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912864" y="1581912"/>
            <a:ext cx="5010912" cy="438912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6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986016" y="1581912"/>
            <a:ext cx="482803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(image_i , caption_i) from the same COCO image_id — only genuine cross-modal alignment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912864" y="2075688"/>
            <a:ext cx="5010912" cy="585216"/>
          </a:xfrm>
          <a:prstGeom prst="rect">
            <a:avLst/>
          </a:prstGeom>
          <a:solidFill>
            <a:srgbClr val="FAE0E0"/>
          </a:solidFill>
          <a:ln w="10160">
            <a:solidFill>
              <a:srgbClr val="9B2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6016" y="2075688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86016" y="2075688"/>
            <a:ext cx="48280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(image_j , caption_k) pairs within the batch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86016" y="2286000"/>
            <a:ext cx="48280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5 captions per COCO image → false-negative contamination  |  caps P@1 ≈ 2% at training time (dataset property, not model failure)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12864" y="2697480"/>
            <a:ext cx="5010912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N=32  |  AdamW η=1e-4  |  wd=0.01  |  Best epoch 15  |  Only projection heads train (~5M / 140M total params)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82880" y="3913632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Outputs &amp; Retrieval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4133088"/>
            <a:ext cx="2240280" cy="804672"/>
          </a:xfrm>
          <a:prstGeom prst="rect">
            <a:avLst/>
          </a:prstGeom>
          <a:solidFill>
            <a:srgbClr val="D1F0E6"/>
          </a:solidFill>
          <a:ln w="1016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74320" y="4133088"/>
            <a:ext cx="20848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 weights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352544"/>
            <a:ext cx="2084832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epoch 15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models/miva_knight_month2_rebuilt/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text_projection.pth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2523744" y="4133088"/>
            <a:ext cx="2240280" cy="804672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615184" y="4133088"/>
            <a:ext cx="20848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FAISS Index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615184" y="4352544"/>
            <a:ext cx="2084832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25,014 × 512d  |  IndexFlatIP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top-20 shortlist per query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indexes/coco_val2017.faiss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864608" y="4133088"/>
            <a:ext cx="2240280" cy="804672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956048" y="4133088"/>
            <a:ext cx="20848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KG (Month 1 baseline)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956048" y="4352544"/>
            <a:ext cx="2084832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COCO words by co-occurrence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NER-based (upgraded Month 3)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0.7×dense + 0.3×graph_boost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7223760" y="391363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96912" y="391363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(Month 4 — COCO)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23760" y="4133088"/>
            <a:ext cx="896112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3760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223760" y="4370832"/>
            <a:ext cx="8961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223760" y="4133088"/>
            <a:ext cx="896112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0D7C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93024" y="4133088"/>
            <a:ext cx="896112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93024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193024" y="4370832"/>
            <a:ext cx="8961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193024" y="4133088"/>
            <a:ext cx="896112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4407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62288" y="4133088"/>
            <a:ext cx="896112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62288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9162288" y="4370832"/>
            <a:ext cx="8961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162288" y="4133088"/>
            <a:ext cx="896112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31552" y="4133088"/>
            <a:ext cx="896112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131552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0131552" y="4370832"/>
            <a:ext cx="8961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0.7227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0131552" y="4133088"/>
            <a:ext cx="896112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100816" y="4133088"/>
            <a:ext cx="896112" cy="2377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100816" y="4133088"/>
            <a:ext cx="89611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1100816" y="4370832"/>
            <a:ext cx="89611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34.7ms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1100816" y="4133088"/>
            <a:ext cx="896112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23760" y="4846320"/>
            <a:ext cx="484632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COCO P@1 low: 5 captions/image → false-negative contamination. ROCO P@1 = 62.8% (Month 4).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182880" y="5102352"/>
            <a:ext cx="6912864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5102352"/>
            <a:ext cx="1828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formula: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274320" y="5303520"/>
            <a:ext cx="6729984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L_InfoNCE(I,T) = −log[ exp(sim(e_I,e_T)/τ) / Σⱼexp(sim(e_I,e_Tj)/τ) ] + −log[ exp(sim(e_T,e_I)/τ) / Σⱼexp(sim(e_T,e_Ij)/τ) ]   where sim(u,v)=u·v (cosine after L2-norm)   τ=0.07   N=32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82880" y="5724144"/>
            <a:ext cx="274320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 (Month 1):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82880" y="5907024"/>
            <a:ext cx="395020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B20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82880" y="5907024"/>
            <a:ext cx="36576" cy="62179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4320" y="5907024"/>
            <a:ext cx="378561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 error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274320" y="6108192"/>
            <a:ext cx="37856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Zero weight updates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274320" y="6272784"/>
            <a:ext cx="37856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Rebuilt training loop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206240" y="5907024"/>
            <a:ext cx="395020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B20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06240" y="5907024"/>
            <a:ext cx="36576" cy="62179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97680" y="5907024"/>
            <a:ext cx="378561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→ collapse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4297680" y="6108192"/>
            <a:ext cx="37856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Trivially minimised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4297680" y="6272784"/>
            <a:ext cx="37856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Replaced with InfoNCE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8229600" y="5907024"/>
            <a:ext cx="395020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9B202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29600" y="5907024"/>
            <a:ext cx="36576" cy="62179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21040" y="5907024"/>
            <a:ext cx="378561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as fake documents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8321040" y="6108192"/>
            <a:ext cx="3785616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Inflated corpus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8321040" y="6272784"/>
            <a:ext cx="378561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KG now scalar-boosts only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Projection Head Architecture &amp; Encoder Mathematics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projection pattern  |  All heads: trainable  |  All backbones: frozen  |  L2-normalised onto S⁵¹¹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1 — COCO Dataset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116128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Head — Shared Architecture (same pattern: TextProjection, ImageProjection, AudioProjection):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1389888" cy="1024128"/>
          </a:xfrm>
          <a:prstGeom prst="rect">
            <a:avLst/>
          </a:prstGeom>
          <a:solidFill>
            <a:srgbClr val="EEEEEE"/>
          </a:solidFill>
          <a:ln w="1143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2048d (image)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 (text/audio)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64208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19072" y="868680"/>
            <a:ext cx="1389888" cy="102412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(in→in)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19072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same-dim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08960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63824" y="868680"/>
            <a:ext cx="1389888" cy="102412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63824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Error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Unit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53712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08576" y="868680"/>
            <a:ext cx="1389888" cy="102412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08576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98464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53328" y="868680"/>
            <a:ext cx="1389888" cy="102412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(in→512)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53328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443216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98080" y="868680"/>
            <a:ext cx="1389888" cy="102412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87968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42832" y="868680"/>
            <a:ext cx="1389888" cy="1024128"/>
          </a:xfrm>
          <a:prstGeom prst="rect">
            <a:avLst/>
          </a:prstGeom>
          <a:solidFill>
            <a:srgbClr val="D1F0E6"/>
          </a:solidFill>
          <a:ln w="11430">
            <a:solidFill>
              <a:srgbClr val="0D7C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42832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sphere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‖e‖=1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332720" y="1371600"/>
            <a:ext cx="914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87584" y="868680"/>
            <a:ext cx="1389888" cy="1024128"/>
          </a:xfrm>
          <a:prstGeom prst="rect">
            <a:avLst/>
          </a:prstGeom>
          <a:solidFill>
            <a:srgbClr val="0D7C5F"/>
          </a:solidFill>
          <a:ln w="11430">
            <a:solidFill>
              <a:srgbClr val="0D7C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87584" y="868680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87584" y="1261872"/>
            <a:ext cx="1389888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1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e_I or e_T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L2-normalised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2057400"/>
            <a:ext cx="6949440" cy="2322576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103120"/>
            <a:ext cx="667512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AnyProjection(nn.Module):  # TextProjection: in=768  |  ImageProjection: in=2048  |  AudioProjection: in=768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" y="228600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input_dim, embed_dim=512):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1480" y="246888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1480" y="265176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self.proj = nn.Sequential(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1480" y="283464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nn.Linear(input_dim, input_dim),       # Step 1: same-dim linear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11480" y="301752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nn.GELU(),                              # Step 2: smooth non-linearity (better than ReLU for transformers)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11480" y="320040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nn.LayerNorm(input_dim),               # Step 3: normalise hidden dim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11480" y="338328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nn.Linear(input_dim, embed_dim),       # Step 4: bottleneck → 512d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1480" y="356616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11480" y="374904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self.norm = nn.LayerNorm(embed_dim)        # Step 5: output LayerNorm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11480" y="393192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11480" y="4114800"/>
            <a:ext cx="685800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F.normalize(self.norm(self.proj(x)), p=2, dim=1)  # Step 6: L2-norm → unit sphere S⁵¹¹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406640" y="2057400"/>
            <a:ext cx="4572000" cy="2322576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498080" y="2057400"/>
            <a:ext cx="43891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Definitions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98080" y="2331720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GELU(x):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997696" y="2331720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x·Φ(x)   where  Φ(x) = ½[1 + erf(x/√2)]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498080" y="2642616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997696" y="2642616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0.5x·(1 + tanh[√(2/π)·(x + 0.044715x³)])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498080" y="2953512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LayerNorm(x):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997696" y="2953512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γ ⊙ (x−μ) / √(σ²+ε) + β    ε=1e-5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498080" y="3264408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  ê: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997696" y="3264408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 / ‖e‖₂   where  ‖e‖₂ = √(Σᵢ eᵢ²)    → ê ∈ S⁵¹¹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498080" y="3575304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TextProj(x):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997696" y="3575304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x∈ℝ⁷⁶⁸ → h₁=W₁x+b₁ → GELU → LN → W₂h+b₂ ∈ℝ⁵¹² → L2 → ê∈S⁵¹¹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498080" y="3886200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ImageProj(x):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997696" y="3886200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x∈ℝ²⁰⁴⁸ → h₁=W₁x+b₁ → GELU → LN → W₂h+b₂∈ℝ⁵¹² → L2 → ê∈S⁵¹¹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498080" y="4197096"/>
            <a:ext cx="1463040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sim: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997696" y="4197096"/>
            <a:ext cx="2907792" cy="310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sim(u,v) = u·v  (valid after L2-norm: ‖u‖=‖v‖=1)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74320" y="4443984"/>
            <a:ext cx="4114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Breakdown: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681728"/>
            <a:ext cx="347472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4681728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749040" y="4681728"/>
            <a:ext cx="137160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03904" y="468172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120640" y="4681728"/>
            <a:ext cx="137160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75504" y="468172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492240" y="4681728"/>
            <a:ext cx="219456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47104" y="4681728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74320" y="4919472"/>
            <a:ext cx="3474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" y="4919472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(frozen)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749040" y="49194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03904" y="4919472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~25M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5120640" y="49194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75504" y="4919472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492240" y="49194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47104" y="4919472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 → 2048d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74320" y="5157216"/>
            <a:ext cx="347472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184" y="5157216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(frozen)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749040" y="5157216"/>
            <a:ext cx="13716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03904" y="5157216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~110M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120640" y="5157216"/>
            <a:ext cx="13716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75504" y="5157216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492240" y="5157216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47104" y="5157216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→ 768d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74320" y="5394960"/>
            <a:ext cx="3474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9184" y="5394960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ImageProjection (trains)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749040" y="53949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03904" y="5394960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~4.2M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120640" y="53949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75504" y="5394960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~4.2M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492240" y="539496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47104" y="5394960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2048→512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4320" y="5632704"/>
            <a:ext cx="347472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9184" y="5632704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 (trains)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749040" y="5632704"/>
            <a:ext cx="13716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03904" y="5632704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~0.79M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120640" y="5632704"/>
            <a:ext cx="13716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75504" y="5632704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~0.79M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492240" y="5632704"/>
            <a:ext cx="21945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547104" y="5632704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74320" y="5870448"/>
            <a:ext cx="3474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9184" y="5870448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 (trains, Month 2)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749040" y="58704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03904" y="587044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~0.79M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120640" y="58704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75504" y="5870448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~0.79M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492240" y="587044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47104" y="5870448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274320" y="6108192"/>
            <a:ext cx="3474720" cy="237744"/>
          </a:xfrm>
          <a:prstGeom prst="rect">
            <a:avLst/>
          </a:prstGeom>
          <a:solidFill>
            <a:srgbClr val="D7E4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9184" y="6108192"/>
            <a:ext cx="3383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749040" y="6108192"/>
            <a:ext cx="1371600" cy="237744"/>
          </a:xfrm>
          <a:prstGeom prst="rect">
            <a:avLst/>
          </a:prstGeom>
          <a:solidFill>
            <a:srgbClr val="D7E4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803904" y="6108192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~141M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5120640" y="6108192"/>
            <a:ext cx="1371600" cy="237744"/>
          </a:xfrm>
          <a:prstGeom prst="rect">
            <a:avLst/>
          </a:prstGeom>
          <a:solidFill>
            <a:srgbClr val="D7E4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75504" y="6108192"/>
            <a:ext cx="12801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~5.8M (4.1%)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6492240" y="6108192"/>
            <a:ext cx="2194560" cy="237744"/>
          </a:xfrm>
          <a:prstGeom prst="rect">
            <a:avLst/>
          </a:prstGeom>
          <a:solidFill>
            <a:srgbClr val="D7E4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47104" y="6108192"/>
            <a:ext cx="21031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Colab T4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8641080" y="4407408"/>
            <a:ext cx="3337560" cy="2103120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8732520" y="4407408"/>
            <a:ext cx="315468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Derivation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8732520" y="4663440"/>
            <a:ext cx="3154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 query i, text positives/negatives: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8732520" y="4846320"/>
            <a:ext cx="3154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L(I→T) = −(1/N) Σᵢ log pᵢ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732520" y="5029200"/>
            <a:ext cx="3154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= exp(eᵢ_I · eᵢ_T / τ) / Σⱼ exp(eᵢ_I · eⱼ_T / τ)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8732520" y="5230368"/>
            <a:ext cx="3154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½·(L_I→T + L_T→I)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8732520" y="5431536"/>
            <a:ext cx="3154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optimum: eᵢ_I ≈ eᵢ_T  (aligned pairs)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eᵢ_I ⊥ eⱼ_T  i≠j  (orthogonal negatives)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8732520" y="6144768"/>
            <a:ext cx="31546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τ=0.07  |  N=32 batch  |  Target: min loss &lt; 1.0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Knowledge Graph Construction &amp; Hybrid Retrieval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retrieval: FAISS dense (α=0.7) + NER KG re-rank (α=0.3)  |  +20% P@1 contribution (ablation)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1 — COCO Dataset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Construction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128016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68680"/>
            <a:ext cx="12801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Corpus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images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25,014 captions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81328" y="1234440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55648" y="868680"/>
            <a:ext cx="1737360" cy="731520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868680"/>
            <a:ext cx="15910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00" y="1088136"/>
            <a:ext cx="159105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word split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filter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Lower-case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511296" y="1234440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85616" y="868680"/>
            <a:ext cx="1737360" cy="731520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868680"/>
            <a:ext cx="15910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58768" y="1088136"/>
            <a:ext cx="159105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Counter(all_words)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by frequency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entity vocabulary V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41264" y="1234440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15584" y="868680"/>
            <a:ext cx="1828800" cy="731520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868680"/>
            <a:ext cx="168249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Edges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88736" y="1088136"/>
            <a:ext cx="168249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caption c: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e₁,e₂ ∈ V ∩ c: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G.add_edge(e₁,e₂)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662672" y="1234440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36992" y="868680"/>
            <a:ext cx="1828800" cy="731520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868680"/>
            <a:ext cx="168249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KG: G = (V, E)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10144" y="1088136"/>
            <a:ext cx="168249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|V|=100 entities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|E|=co-occurrence pairs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upgrade to NER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784080" y="1234440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0" y="868680"/>
            <a:ext cx="1920240" cy="731520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1552" y="868680"/>
            <a:ext cx="177393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knowledge_graph.pkl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31552" y="1088136"/>
            <a:ext cx="1773936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for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at inference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0.5-2s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664208"/>
            <a:ext cx="11795760" cy="457200"/>
          </a:xfrm>
          <a:prstGeom prst="rect">
            <a:avLst/>
          </a:prstGeom>
          <a:solidFill>
            <a:srgbClr val="F5F5F5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166420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DFS k-hop traversal for re-ranking: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1865376"/>
            <a:ext cx="115214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get_neighbors(v, k=2): DFS from entity v  |  for each hop h: weight = 1/(h+1)  |  graph_boost(d) = Σ_{v∈E_q} Σ_{n∈N(v)} 1/(hop(n)+1)  for each doc d containing neighbor 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" y="2212848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FAISS Dense Retrieval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2432304"/>
            <a:ext cx="2103120" cy="230428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2432304"/>
            <a:ext cx="193852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Encoding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2670048"/>
            <a:ext cx="1938528" cy="20299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query q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(frozen, 110M)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[CLS]→768d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768→512→L2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e_q ∈ S⁵¹¹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304288" y="3584448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596896" y="2432304"/>
            <a:ext cx="2651760" cy="230428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688336" y="2432304"/>
            <a:ext cx="248716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688336" y="2670048"/>
            <a:ext cx="2487168" cy="20299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stores: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25,014 × 512d vectors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(all COCO captions)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score(d) = e_q · e_d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(inner product = cosine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after L2-norm)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top-K=20 shortlist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66944" y="3584448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59552" y="2212848"/>
            <a:ext cx="3657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KG Re-ranking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59552" y="2432304"/>
            <a:ext cx="2651760" cy="2304288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650992" y="2432304"/>
            <a:ext cx="248716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KG Re-ranker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50992" y="2670048"/>
            <a:ext cx="2487168" cy="20299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entities from q: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E_q = spaCy NER(q)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e ∈ E_q: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neighbors = DFS(e, k=2)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Boost each doc d: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graph_boost(d) =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Σ 1/(hop+1)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neighbors in d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Hybrid score: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50992" y="4553712"/>
            <a:ext cx="2487168" cy="1463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0.7·dense + 0.3·graph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29600" y="3584448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522208" y="2212848"/>
            <a:ext cx="36576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Confidence Guard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522208" y="2432304"/>
            <a:ext cx="3456432" cy="2304288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13648" y="2432304"/>
            <a:ext cx="32735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Confidence Guard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13648" y="2724912"/>
            <a:ext cx="3273552" cy="512064"/>
          </a:xfrm>
          <a:prstGeom prst="rect">
            <a:avLst/>
          </a:prstGeom>
          <a:solidFill>
            <a:srgbClr val="FAE0E0"/>
          </a:solidFill>
          <a:ln w="10160">
            <a:solidFill>
              <a:srgbClr val="1A6B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2724912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≥ 0.40 (gen)  ≥ 0.55 (med)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705088" y="2944368"/>
            <a:ext cx="309067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Answer normally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613648" y="3291840"/>
            <a:ext cx="3273552" cy="512064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05088" y="3291840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0.20–0.40 / 0.35–0.55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705088" y="3511296"/>
            <a:ext cx="309067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Answer + uncertainty flag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613648" y="3858768"/>
            <a:ext cx="3273552" cy="512064"/>
          </a:xfrm>
          <a:prstGeom prst="rect">
            <a:avLst/>
          </a:prstGeom>
          <a:solidFill>
            <a:srgbClr val="FAE0E0"/>
          </a:solidFill>
          <a:ln w="10160">
            <a:solidFill>
              <a:srgbClr val="9B20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3858768"/>
            <a:ext cx="309067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&lt; 0.20 (gen)  &lt; 0.35 (med)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705088" y="4078224"/>
            <a:ext cx="3090672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LLM call — no hallucination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613648" y="4462272"/>
            <a:ext cx="32735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top-N=5 from re-ranked shortlist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Groq Llama-3.1-8B for generation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82880" y="4809744"/>
            <a:ext cx="11795760" cy="438912"/>
          </a:xfrm>
          <a:prstGeom prst="rect">
            <a:avLst/>
          </a:prstGeom>
          <a:solidFill>
            <a:srgbClr val="D8F2DF"/>
          </a:solidFill>
          <a:ln w="15240">
            <a:solidFill>
              <a:srgbClr val="1A6B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09744"/>
            <a:ext cx="1828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ablation result: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74320" y="4809744"/>
            <a:ext cx="115214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re-ranking raises ROCO P@1 from 64.6% → 84.6%  (+20.0 percentage points) — the single largest performance gain in the entire MIVA-KNIGHT system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1247120" y="4809744"/>
            <a:ext cx="7315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82880" y="5321808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" y="532180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 Algorithm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82880" y="5541264"/>
            <a:ext cx="11795760" cy="896112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5577840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hybrid_retrieve(query, faiss_index, kg, alpha=0.7):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0040" y="5719572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e_q = text_encoder.encode(query)                    # TextProjection → 512d L2-norm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20040" y="5861304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E_q = spacy_ner(query)                              # named entity extraction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20040" y="6003036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top20 = faiss_index.search(e_q, k=20)              # dense retrieval shortlist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20040" y="6144768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doc in top20:  doc.score = alpha*dense(doc) + (1-alpha)*graph_boost(doc, E_q, kg)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20040" y="6286500"/>
            <a:ext cx="11612880" cy="1417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sorted(top20, by=score, desc=True)[:5]       # final top-5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Evaluation Results, Ablation Study &amp; Training History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1–6 metrics  |  COCO general  |  ROCO medical  |  Pipeline C/D emotion recognition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1 — COCO Dataset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594360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val2017 — General domain (500 image groups):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113385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1133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11338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868680"/>
            <a:ext cx="1133856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0D7C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68680"/>
            <a:ext cx="113385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868680"/>
            <a:ext cx="1133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81328" y="1115568"/>
            <a:ext cx="11338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81328" y="868680"/>
            <a:ext cx="1133856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4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88336" y="868680"/>
            <a:ext cx="113385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868680"/>
            <a:ext cx="1133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88336" y="1115568"/>
            <a:ext cx="11338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88336" y="868680"/>
            <a:ext cx="1133856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95344" y="868680"/>
            <a:ext cx="1133856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868680"/>
            <a:ext cx="1133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95344" y="1115568"/>
            <a:ext cx="11338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95344" y="868680"/>
            <a:ext cx="1133856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868680"/>
            <a:ext cx="1133856" cy="2377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868680"/>
            <a:ext cx="1133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02352" y="1115568"/>
            <a:ext cx="113385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34.7ms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02352" y="868680"/>
            <a:ext cx="1133856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1609344"/>
            <a:ext cx="5943600" cy="512064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609344"/>
            <a:ext cx="56692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COCO P@1 = 21.8% is not a model failure: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1810512"/>
            <a:ext cx="56692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captions per COCO image → all 4 other captions of image_i treated as negatives in InfoNCE → false-negative contamination → caps P@1 regardless of model quality. ROCO (1 caption/image) achieves P@1=62.8%.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00800" y="621792"/>
            <a:ext cx="55778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medical domain — Month 4 result (500 samples):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868680"/>
            <a:ext cx="1069848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868680"/>
            <a:ext cx="106984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0" y="1115568"/>
            <a:ext cx="106984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62.8%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868680"/>
            <a:ext cx="1069848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0D7C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868680"/>
            <a:ext cx="1069848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868680"/>
            <a:ext cx="106984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543800" y="1115568"/>
            <a:ext cx="106984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43800" y="868680"/>
            <a:ext cx="1069848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440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868680"/>
            <a:ext cx="1069848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868680"/>
            <a:ext cx="106984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686800" y="1115568"/>
            <a:ext cx="106984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86800" y="868680"/>
            <a:ext cx="1069848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29800" y="868680"/>
            <a:ext cx="1069848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29800" y="868680"/>
            <a:ext cx="106984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829800" y="1115568"/>
            <a:ext cx="106984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29800" y="868680"/>
            <a:ext cx="1069848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72800" y="868680"/>
            <a:ext cx="1069848" cy="237744"/>
          </a:xfrm>
          <a:prstGeom prst="rect">
            <a:avLst/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0" y="868680"/>
            <a:ext cx="106984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972800" y="1115568"/>
            <a:ext cx="106984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972800" y="868680"/>
            <a:ext cx="1069848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B85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1609344"/>
            <a:ext cx="557784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swap latency: 1.35s  (target &lt; 5s)  ✓  |  Only FAISS index + image head + KG swap — BERT, Wav2Vec, TextProjection all frozen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74320" y="2194560"/>
            <a:ext cx="7772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ROCO validation set (500 samples):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450592"/>
            <a:ext cx="283464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2450592"/>
            <a:ext cx="27797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08960" y="2450592"/>
            <a:ext cx="658368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45536" y="2450592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767328" y="2450592"/>
            <a:ext cx="658368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03904" y="2450592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425696" y="2450592"/>
            <a:ext cx="658368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62272" y="2450592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84064" y="2450592"/>
            <a:ext cx="713232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2450592"/>
            <a:ext cx="658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797296" y="2450592"/>
            <a:ext cx="73152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33872" y="2450592"/>
            <a:ext cx="6766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528816" y="2450592"/>
            <a:ext cx="3054096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2450592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74320" y="2688336"/>
            <a:ext cx="28346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" y="2688336"/>
            <a:ext cx="27797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Text only (no KG)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108960" y="2688336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45536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64.6%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767328" y="2688336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03904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425696" y="2688336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62272" y="2688336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084064" y="2688336"/>
            <a:ext cx="7132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0640" y="2688336"/>
            <a:ext cx="658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0.7149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797296" y="2688336"/>
            <a:ext cx="7315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33872" y="2688336"/>
            <a:ext cx="6766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0.7422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528816" y="2688336"/>
            <a:ext cx="305409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65392" y="2688336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FAISS retrieval only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74320" y="2926080"/>
            <a:ext cx="2834640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2926080"/>
            <a:ext cx="27797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Text + KG re-rank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108960" y="2926080"/>
            <a:ext cx="658368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45536" y="2926080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67328" y="2926080"/>
            <a:ext cx="658368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03904" y="2926080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425696" y="2926080"/>
            <a:ext cx="658368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62272" y="2926080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084064" y="2926080"/>
            <a:ext cx="713232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20640" y="2926080"/>
            <a:ext cx="658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0.8756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797296" y="2926080"/>
            <a:ext cx="731520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33872" y="2926080"/>
            <a:ext cx="6766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0.8854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528816" y="2926080"/>
            <a:ext cx="3054096" cy="237744"/>
          </a:xfrm>
          <a:prstGeom prst="rect">
            <a:avLst/>
          </a:prstGeom>
          <a:solidFill>
            <a:srgbClr val="D8F2D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65392" y="2926080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+20.0% P@1 — strongest gain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74320" y="3163824"/>
            <a:ext cx="28346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10896" y="3163824"/>
            <a:ext cx="27797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Text + KG + Image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108960" y="3163824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145536" y="3163824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767328" y="3163824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803904" y="3163824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4425696" y="3163824"/>
            <a:ext cx="658368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62272" y="3163824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084064" y="3163824"/>
            <a:ext cx="71323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20640" y="3163824"/>
            <a:ext cx="658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0.8756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797296" y="3163824"/>
            <a:ext cx="7315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833872" y="3163824"/>
            <a:ext cx="6766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0.8854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6528816" y="3163824"/>
            <a:ext cx="3054096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65392" y="3163824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affects LLM, not FAISS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274320" y="3401568"/>
            <a:ext cx="283464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10896" y="3401568"/>
            <a:ext cx="27797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Full system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108960" y="3401568"/>
            <a:ext cx="658368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145536" y="3401568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3767328" y="3401568"/>
            <a:ext cx="658368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03904" y="3401568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425696" y="3401568"/>
            <a:ext cx="658368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62272" y="3401568"/>
            <a:ext cx="60350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084064" y="3401568"/>
            <a:ext cx="713232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120640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0.8756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5797296" y="3401568"/>
            <a:ext cx="73152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833872" y="3401568"/>
            <a:ext cx="6766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0.8854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6528816" y="3401568"/>
            <a:ext cx="3054096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565392" y="3401568"/>
            <a:ext cx="299923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→ LLM prompt only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74320" y="3675888"/>
            <a:ext cx="9144000" cy="347472"/>
          </a:xfrm>
          <a:prstGeom prst="rect">
            <a:avLst/>
          </a:prstGeom>
          <a:solidFill>
            <a:srgbClr val="D8F2DF"/>
          </a:solidFill>
          <a:ln w="15240">
            <a:solidFill>
              <a:srgbClr val="1A6B3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65760" y="3675888"/>
            <a:ext cx="89611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KG re-ranking contributes +20.0% P@1  (64.6%→84.6%) — the single largest performance gain. Conditions C/D identical to B: AudioProjection feeds emotion to LLM prompt, not FAISS index.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274320" y="4114800"/>
            <a:ext cx="7315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history — all pipelines: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274320" y="4352544"/>
            <a:ext cx="82296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10896" y="435254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1097280" y="4352544"/>
            <a:ext cx="91440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133856" y="435254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2011680" y="4352544"/>
            <a:ext cx="237744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048256" y="435254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4389120" y="4352544"/>
            <a:ext cx="82296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425696" y="435254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5212080" y="4352544"/>
            <a:ext cx="256032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248656" y="435254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7772400" y="4352544"/>
            <a:ext cx="3108960" cy="274320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808976" y="435254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274320" y="4626864"/>
            <a:ext cx="82296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10896" y="462686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(Feb)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1097280" y="4626864"/>
            <a:ext cx="91440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33856" y="462686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011680" y="4626864"/>
            <a:ext cx="237744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048256" y="462686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(25K pairs)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4389120" y="4626864"/>
            <a:ext cx="82296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425696" y="462686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5212080" y="4626864"/>
            <a:ext cx="256032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248656" y="462686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MRR=0.7227  P@1≈2% (train)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7772400" y="4626864"/>
            <a:ext cx="3108960" cy="274320"/>
          </a:xfrm>
          <a:prstGeom prst="rect">
            <a:avLst/>
          </a:prstGeom>
          <a:solidFill>
            <a:srgbClr val="D1F0E6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808976" y="462686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 contamination — expected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274320" y="4901184"/>
            <a:ext cx="822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10896" y="490118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(Mar)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1097280" y="4901184"/>
            <a:ext cx="91440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33856" y="490118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A+C (contaminated)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2011680" y="4901184"/>
            <a:ext cx="237744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048256" y="490118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+ RAVDESS synthetic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4389120" y="4901184"/>
            <a:ext cx="822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425696" y="490118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5212080" y="4901184"/>
            <a:ext cx="256032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248656" y="490118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wav2vec_dim=512 bug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7772400" y="4901184"/>
            <a:ext cx="3108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808976" y="490118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superseded by Pipeline C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274320" y="5175504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10896" y="517550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(Apr)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1097280" y="5175504"/>
            <a:ext cx="9144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33856" y="517550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upgrade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2011680" y="5175504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048256" y="517550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replacement attempt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4389120" y="5175504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425696" y="517550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5212080" y="5175504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248656" y="517550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5/8→2/8 regression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7772400" y="5175504"/>
            <a:ext cx="3108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808976" y="517550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 → motivated replan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274320" y="5449824"/>
            <a:ext cx="822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10896" y="544982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(May)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1097280" y="5449824"/>
            <a:ext cx="91440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133856" y="544982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2011680" y="5449824"/>
            <a:ext cx="237744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048256" y="544982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ROCO (~70K pairs)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4389120" y="5449824"/>
            <a:ext cx="822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425696" y="544982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5212080" y="5449824"/>
            <a:ext cx="256032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248656" y="544982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P@1=62.8%  MRR=0.767  loss=0.2428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7772400" y="5449824"/>
            <a:ext cx="3108960" cy="27432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808976" y="544982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image_projection_roco.pth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274320" y="5724144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10896" y="572414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</a:t>
            </a:r>
            <a:endParaRPr lang="en-US" sz="650" dirty="0"/>
          </a:p>
        </p:txBody>
      </p:sp>
      <p:sp>
        <p:nvSpPr>
          <p:cNvPr id="189" name="Shape 187"/>
          <p:cNvSpPr/>
          <p:nvPr/>
        </p:nvSpPr>
        <p:spPr>
          <a:xfrm>
            <a:off x="1097280" y="5724144"/>
            <a:ext cx="9144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133856" y="5724144"/>
            <a:ext cx="85953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D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2011680" y="5724144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048256" y="5724144"/>
            <a:ext cx="23225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/ CREMA-D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4389120" y="5724144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425696" y="5724144"/>
            <a:ext cx="768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13</a:t>
            </a:r>
            <a:endParaRPr lang="en-US" sz="650" dirty="0"/>
          </a:p>
        </p:txBody>
      </p:sp>
      <p:sp>
        <p:nvSpPr>
          <p:cNvPr id="195" name="Shape 193"/>
          <p:cNvSpPr/>
          <p:nvPr/>
        </p:nvSpPr>
        <p:spPr>
          <a:xfrm>
            <a:off x="5212080" y="5724144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5248656" y="5724144"/>
            <a:ext cx="250545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 / 48.6% emotion acc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7772400" y="5724144"/>
            <a:ext cx="3108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808976" y="5724144"/>
            <a:ext cx="305409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4-pipeline replan; fully isolated</a:t>
            </a:r>
            <a:endParaRPr lang="en-US" sz="650" dirty="0"/>
          </a:p>
        </p:txBody>
      </p:sp>
      <p:sp>
        <p:nvSpPr>
          <p:cNvPr id="199" name="Text 197"/>
          <p:cNvSpPr/>
          <p:nvPr/>
        </p:nvSpPr>
        <p:spPr>
          <a:xfrm>
            <a:off x="9601200" y="2194560"/>
            <a:ext cx="24688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pipeline results: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9601200" y="2450592"/>
            <a:ext cx="2468880" cy="950976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9692640" y="2450592"/>
            <a:ext cx="230428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(RAVDESS)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9692640" y="2670048"/>
            <a:ext cx="230428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 |  30 epochs</a:t>
            </a:r>
            <a:endParaRPr lang="en-US" sz="700" dirty="0"/>
          </a:p>
        </p:txBody>
      </p:sp>
      <p:sp>
        <p:nvSpPr>
          <p:cNvPr id="203" name="Text 201"/>
          <p:cNvSpPr/>
          <p:nvPr/>
        </p:nvSpPr>
        <p:spPr>
          <a:xfrm>
            <a:off x="9692640" y="2834640"/>
            <a:ext cx="230428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1400" dirty="0"/>
          </a:p>
        </p:txBody>
      </p:sp>
      <p:sp>
        <p:nvSpPr>
          <p:cNvPr id="204" name="Text 202"/>
          <p:cNvSpPr/>
          <p:nvPr/>
        </p:nvSpPr>
        <p:spPr>
          <a:xfrm>
            <a:off x="9692640" y="3054096"/>
            <a:ext cx="23042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 emotions  |  Random: 12.5%  +46.5pp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9601200" y="3456432"/>
            <a:ext cx="2468880" cy="950976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692640" y="3456432"/>
            <a:ext cx="230428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(CREMA-D)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9692640" y="3675888"/>
            <a:ext cx="230428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X-modal InfoNCE+SupCon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9692640" y="3840480"/>
            <a:ext cx="230428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1400" dirty="0"/>
          </a:p>
        </p:txBody>
      </p:sp>
      <p:sp>
        <p:nvSpPr>
          <p:cNvPr id="209" name="Text 207"/>
          <p:cNvSpPr/>
          <p:nvPr/>
        </p:nvSpPr>
        <p:spPr>
          <a:xfrm>
            <a:off x="9692640" y="4059936"/>
            <a:ext cx="2304288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 emotions  |  Random: 16.7%  +31.9pp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9601200" y="4663440"/>
            <a:ext cx="246888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 per-emotion accuracy (best epoch 27):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9601200" y="4882896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628632" y="4882896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9948672" y="4882896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61.5%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10222992" y="4882896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250424" y="4882896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10570464" y="4882896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10844784" y="4882896"/>
            <a:ext cx="585216" cy="256032"/>
          </a:xfrm>
          <a:prstGeom prst="rect">
            <a:avLst/>
          </a:prstGeom>
          <a:solidFill>
            <a:srgbClr val="FAE0E0"/>
          </a:solidFill>
          <a:ln w="6350">
            <a:solidFill>
              <a:srgbClr val="9B202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872216" y="4882896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11192256" y="4882896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11466576" y="4882896"/>
            <a:ext cx="585216" cy="256032"/>
          </a:xfrm>
          <a:prstGeom prst="rect">
            <a:avLst/>
          </a:prstGeom>
          <a:solidFill>
            <a:srgbClr val="FAE0E0"/>
          </a:solidFill>
          <a:ln w="6350">
            <a:solidFill>
              <a:srgbClr val="9B202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11494008" y="4882896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11814048" y="4882896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9601200" y="5175504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9628632" y="5175504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650" dirty="0"/>
          </a:p>
        </p:txBody>
      </p:sp>
      <p:sp>
        <p:nvSpPr>
          <p:cNvPr id="225" name="Text 223"/>
          <p:cNvSpPr/>
          <p:nvPr/>
        </p:nvSpPr>
        <p:spPr>
          <a:xfrm>
            <a:off x="9948672" y="5175504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650" dirty="0"/>
          </a:p>
        </p:txBody>
      </p:sp>
      <p:sp>
        <p:nvSpPr>
          <p:cNvPr id="226" name="Shape 224"/>
          <p:cNvSpPr/>
          <p:nvPr/>
        </p:nvSpPr>
        <p:spPr>
          <a:xfrm>
            <a:off x="10222992" y="5175504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0250424" y="5175504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0570464" y="5175504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58.9%</a:t>
            </a:r>
            <a:endParaRPr lang="en-US" sz="650" dirty="0"/>
          </a:p>
        </p:txBody>
      </p:sp>
      <p:sp>
        <p:nvSpPr>
          <p:cNvPr id="229" name="Shape 227"/>
          <p:cNvSpPr/>
          <p:nvPr/>
        </p:nvSpPr>
        <p:spPr>
          <a:xfrm>
            <a:off x="10844784" y="5175504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0872216" y="5175504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11192256" y="5175504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11466576" y="5175504"/>
            <a:ext cx="585216" cy="256032"/>
          </a:xfrm>
          <a:prstGeom prst="rect">
            <a:avLst/>
          </a:prstGeom>
          <a:solidFill>
            <a:srgbClr val="D8F2DF"/>
          </a:solidFill>
          <a:ln w="6350">
            <a:solidFill>
              <a:srgbClr val="1A6B3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1494008" y="5175504"/>
            <a:ext cx="32918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11814048" y="5175504"/>
            <a:ext cx="2194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66.1%</a:t>
            </a:r>
            <a:endParaRPr lang="en-US" sz="650" dirty="0"/>
          </a:p>
        </p:txBody>
      </p:sp>
      <p:sp>
        <p:nvSpPr>
          <p:cNvPr id="235" name="Text 233"/>
          <p:cNvSpPr/>
          <p:nvPr/>
        </p:nvSpPr>
        <p:spPr>
          <a:xfrm>
            <a:off x="9601200" y="5477256"/>
            <a:ext cx="24688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happy/sad fail: overlap in pitch/energy (SER literature)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91440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Training Loop, Algorithms &amp; Formal Definitions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1170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pseudocode  |  GCN-style box flow  |  Axioms, theorems, lemmas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Month 1 — COCO Dataset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62179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Training Loop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1737360" cy="713232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DataLoader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106424"/>
            <a:ext cx="15727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batch=16, shuffle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batches/epoch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(image, caption) pairs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38528" y="1225296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1136" y="868680"/>
            <a:ext cx="2011680" cy="713232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868680"/>
            <a:ext cx="184708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pair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22576" y="1106424"/>
            <a:ext cx="184708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→ ImageProj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→ TextProj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(e_I, e_T) ∈ S⁵¹¹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61104" y="1225296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53712" y="868680"/>
            <a:ext cx="2011680" cy="713232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868680"/>
            <a:ext cx="184708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InfoNCE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5152" y="1106424"/>
            <a:ext cx="184708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(L_I→T + L_T→I)/2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τ=0.07  N=32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random baseline=3.47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583680" y="1225296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76288" y="868680"/>
            <a:ext cx="1737360" cy="713232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67728" y="1106424"/>
            <a:ext cx="15727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∂L/∂W_proj only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(frozen: BERT, ResNet)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η=1e-4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631936" y="1225296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24544" y="868680"/>
            <a:ext cx="1737360" cy="713232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984" y="868680"/>
            <a:ext cx="157276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15984" y="1106424"/>
            <a:ext cx="1572768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step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β₁=0.9  β₂=0.999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wd=0.01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680192" y="1225296"/>
            <a:ext cx="27432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72800" y="868680"/>
            <a:ext cx="1005840" cy="71323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45952" y="868680"/>
            <a:ext cx="859536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1691640"/>
            <a:ext cx="11795760" cy="0"/>
          </a:xfrm>
          <a:prstGeom prst="line">
            <a:avLst/>
          </a:prstGeom>
          <a:noFill/>
          <a:ln w="7620">
            <a:solidFill>
              <a:srgbClr val="AAAAA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4320" y="1719072"/>
            <a:ext cx="115214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Repeat for 15 epochs  |  Best epoch = 15  |  Saved: text_projection.pth + image_projection.pth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82880" y="19933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199339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TextEncoder.encode(q)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2212848"/>
            <a:ext cx="5532120" cy="2029968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24942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1: TextEncoderV2.encode(text)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0040" y="240944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text t ∈ Σ*,  frozen BERT,  trained TextProjection P_θ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0040" y="256946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e_q ∈ S⁵¹¹,  entities E_q,  domain_hint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0040" y="272948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tokens ← tokeniser(t, max_length=128, truncation=True)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0040" y="288950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H ← BERT(tokens).last_hidden_state       # shape: (1, T, 768)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0040" y="304952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h_BERT ← (1/T) Σₜ Hₜ                    # mean pool: (1, 768)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0040" y="320954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e_raw ← P_θ(h_BERT)                      # TextProjection: 768→512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0040" y="336956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e_q ← e_raw / ‖e_raw‖₂                  # L2 normalise → S⁵¹¹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0040" y="352958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E_q ← {noun_chunks} ∪ {named_entities}  # spaCy NER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0040" y="368960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n_m ← |{w ∈ MEDICAL_TERMS : w ⊆ t}|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0040" y="384962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 domain_hint ← 'medical' if n_m ≥ 2 else None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0040" y="4009644"/>
            <a:ext cx="534924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 return (e_q, E_q, domain_hint)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852160" y="1993392"/>
            <a:ext cx="3657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1993392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KG Build + Hybrid Retrieve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52160" y="2212848"/>
            <a:ext cx="6126480" cy="2029968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224942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2: build_kg(captions, top_entities=100)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89320" y="240944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counts ← Counter(all words from all captions)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9320" y="256946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V ← top 100 words by frequency (stopwords removed)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989320" y="272948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for each caption c:  for each pair (e₁,e₂)∈V∩c: G.add_edge(e₁,e₂)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989320" y="288950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return G  # saved to knowledge_graph.pkl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989320" y="304952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989320" y="320954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3: hybrid_retrieve(q, FAISS, KG, α=0.7)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989320" y="336956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e_q, E_q ← TextEncoder.encode(q)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989320" y="352958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top20 ← FAISS.search(e_q, k=20)      # dense shortlist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989320" y="368960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for d in top20: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989320" y="384962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  g_boost ← Σ_{e∈E_q} Σ_{n∈DFS(e,k=2)} 1/(hop(n)+1)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989320" y="400964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  d.score ← α·dense(d) + (1-α)·g_boost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989320" y="4169664"/>
            <a:ext cx="5943600" cy="1600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return sort(top20)[:5]  # top-N=5 re-ranked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4315968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Results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4526280"/>
            <a:ext cx="5806440" cy="896112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82880" y="4526280"/>
            <a:ext cx="45720" cy="896112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526280"/>
            <a:ext cx="565099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1 — Domain-Agnostic Shared Space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74320" y="4745736"/>
            <a:ext cx="565099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W_shared = {W_TextProj, W_AudioProj, W_BERT, W_Wav2Vec} are fixed across domains. Only (FAISS_index, KG, NER, τ) differ. The 512-d embedding space is domain-agnostic.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172200" y="4526280"/>
            <a:ext cx="5806440" cy="896112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72200" y="4526280"/>
            <a:ext cx="45720" cy="896112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63640" y="4526280"/>
            <a:ext cx="565099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 — Domain Switch Efficiency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263640" y="4745736"/>
            <a:ext cx="565099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swap requires only FAISS reload (~1-3s) + KG reload (~0.5-2s). Ratio vs full model reload: (110M+94M)/(FAISS+KG) ≈ 20× speedup. Measured: 1.35s.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5486400"/>
            <a:ext cx="5806440" cy="896112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82880" y="5486400"/>
            <a:ext cx="45720" cy="8961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5486400"/>
            <a:ext cx="565099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 — Cosine via Dot Product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74320" y="5705856"/>
            <a:ext cx="565099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L2-norm: ‖e‖=1. Therefore sim(u,v) = u·v = ‖u‖‖v‖cos(θ) = cos(θ). IndexFlatIP (inner product) computes exact cosine similarity with zero overhead.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172200" y="5486400"/>
            <a:ext cx="5806440" cy="896112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72200" y="5486400"/>
            <a:ext cx="45720" cy="896112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63640" y="5486400"/>
            <a:ext cx="565099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2 — GELU vs ReLU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263640" y="5705856"/>
            <a:ext cx="5650992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ReLU(x)=max(0,x) has zero gradient for x&lt;0 (dying neurons). GELU(x)=x·Φ(x) is smooth, non-zero everywhere, providing continuous gradients — consistent with BERT/GPT architectures.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MIVA-KNIGHT Month 1 — Full Technical Architecture</dc:title>
  <dc:subject>PptxGenJS Presentation</dc:subject>
  <dc:creator>PptxGenJS</dc:creator>
  <cp:lastModifiedBy>PptxGenJS</cp:lastModifiedBy>
  <cp:revision>1</cp:revision>
  <dcterms:created xsi:type="dcterms:W3CDTF">2026-03-17T07:53:49Z</dcterms:created>
  <dcterms:modified xsi:type="dcterms:W3CDTF">2026-03-17T07:53:49Z</dcterms:modified>
</cp:coreProperties>
</file>