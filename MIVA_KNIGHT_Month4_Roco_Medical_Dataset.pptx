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91440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MIVA-KNIGHT  |  Month 4 — Medical Domain Transfer Architecture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8600" y="274320"/>
            <a:ext cx="1170432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claim: shared 512-d space is domain-agnostic  |  Only ImageProjection swapped (~5.25M / 235M params = 2.23%)  |  ROCO: 81K X-ray pairs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6583680"/>
            <a:ext cx="117043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MIVA-KNIGHT  |  IT 581 Capstone  |  Concordia University of Edmonton  |  Month 4 — ROCO Medical Domain Transfer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182880" y="621792"/>
            <a:ext cx="36576" cy="237744"/>
          </a:xfrm>
          <a:prstGeom prst="rect">
            <a:avLst/>
          </a:prstGeom>
          <a:solidFill>
            <a:srgbClr val="14407A"/>
          </a:solidFill>
          <a:ln w="12700">
            <a:solidFill>
              <a:srgbClr val="1440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621792"/>
            <a:ext cx="36576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— identical across all domains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" y="859536"/>
            <a:ext cx="5120640" cy="365760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14407A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256032" y="859536"/>
            <a:ext cx="4974336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weights — domain-agnostic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256032" y="1078992"/>
            <a:ext cx="4974336" cy="603504"/>
          </a:xfrm>
          <a:prstGeom prst="rect">
            <a:avLst/>
          </a:prstGeom>
          <a:solidFill>
            <a:srgbClr val="D7E4F5"/>
          </a:solidFill>
          <a:ln w="12700">
            <a:solidFill>
              <a:srgbClr val="14407A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078992"/>
            <a:ext cx="50292" cy="603504"/>
          </a:xfrm>
          <a:prstGeom prst="rect">
            <a:avLst/>
          </a:prstGeom>
          <a:solidFill>
            <a:srgbClr val="14407A"/>
          </a:solidFill>
          <a:ln w="12700">
            <a:solidFill>
              <a:srgbClr val="1440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078992"/>
            <a:ext cx="4809744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BERT-base-uncased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7472" y="1298448"/>
            <a:ext cx="4809744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110M params  |  frozen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mean-pool → e_bert ∈ ℝ⁷⁶⁸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56032" y="1737360"/>
            <a:ext cx="4974336" cy="603504"/>
          </a:xfrm>
          <a:prstGeom prst="rect">
            <a:avLst/>
          </a:prstGeom>
          <a:solidFill>
            <a:srgbClr val="D7E4F5"/>
          </a:solidFill>
          <a:ln w="12700">
            <a:solidFill>
              <a:srgbClr val="14407A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1737360"/>
            <a:ext cx="50292" cy="603504"/>
          </a:xfrm>
          <a:prstGeom prst="rect">
            <a:avLst/>
          </a:prstGeom>
          <a:solidFill>
            <a:srgbClr val="14407A"/>
          </a:solidFill>
          <a:ln w="12700">
            <a:solidFill>
              <a:srgbClr val="1440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737360"/>
            <a:ext cx="4809744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TextProjection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7472" y="1956816"/>
            <a:ext cx="4809744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1.6M params  |  Month 2 trained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768→512 → ê_text ∈ S⁵¹¹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56032" y="2395728"/>
            <a:ext cx="4974336" cy="603504"/>
          </a:xfrm>
          <a:prstGeom prst="rect">
            <a:avLst/>
          </a:prstGeom>
          <a:solidFill>
            <a:srgbClr val="D1F0E6"/>
          </a:solidFill>
          <a:ln w="12700">
            <a:solidFill>
              <a:srgbClr val="0D7C5F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95728"/>
            <a:ext cx="50292" cy="603504"/>
          </a:xfrm>
          <a:prstGeom prst="rect">
            <a:avLst/>
          </a:prstGeom>
          <a:solidFill>
            <a:srgbClr val="0D7C5F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395728"/>
            <a:ext cx="4809744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 2.0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2615184"/>
            <a:ext cx="4809744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94M params  |  frozen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waveform → 768d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56032" y="3054096"/>
            <a:ext cx="4974336" cy="603504"/>
          </a:xfrm>
          <a:prstGeom prst="rect">
            <a:avLst/>
          </a:prstGeom>
          <a:solidFill>
            <a:srgbClr val="D1F0E6"/>
          </a:solidFill>
          <a:ln w="12700">
            <a:solidFill>
              <a:srgbClr val="0D7C5F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3054096"/>
            <a:ext cx="50292" cy="603504"/>
          </a:xfrm>
          <a:prstGeom prst="rect">
            <a:avLst/>
          </a:prstGeom>
          <a:solidFill>
            <a:srgbClr val="0D7C5F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3054096"/>
            <a:ext cx="4809744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AudioProjection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7472" y="3273552"/>
            <a:ext cx="4809744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 trained  |  frozen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768→512 → ê_audio ∈ S⁵¹¹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56032" y="3712464"/>
            <a:ext cx="4974336" cy="603504"/>
          </a:xfrm>
          <a:prstGeom prst="rect">
            <a:avLst/>
          </a:prstGeom>
          <a:solidFill>
            <a:srgbClr val="EAE0F8"/>
          </a:solidFill>
          <a:ln w="12700">
            <a:solidFill>
              <a:srgbClr val="5B2D8E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3712464"/>
            <a:ext cx="50292" cy="603504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712464"/>
            <a:ext cx="4809744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backbone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3931920"/>
            <a:ext cx="4809744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23M params  |  ImageNet frozen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pool5 → f_img ∈ ℝ²⁰⁴⁸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468112" y="621792"/>
            <a:ext cx="36576" cy="237744"/>
          </a:xfrm>
          <a:prstGeom prst="rect">
            <a:avLst/>
          </a:prstGeom>
          <a:solidFill>
            <a:srgbClr val="6B1F6B"/>
          </a:solidFill>
          <a:ln w="12700">
            <a:solidFill>
              <a:srgbClr val="6B1F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41264" y="621792"/>
            <a:ext cx="36576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— swapped per domain in &lt; 5 seconds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68112" y="859536"/>
            <a:ext cx="6510528" cy="365760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6B1F6B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5541264" y="859536"/>
            <a:ext cx="640080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B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components (new in Month 4)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5541264" y="1078992"/>
            <a:ext cx="3127248" cy="786384"/>
          </a:xfrm>
          <a:prstGeom prst="rect">
            <a:avLst/>
          </a:prstGeom>
          <a:solidFill>
            <a:srgbClr val="EAE0F8"/>
          </a:solidFill>
          <a:ln w="8890">
            <a:solidFill>
              <a:srgbClr val="5B2D8E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614416" y="1078992"/>
            <a:ext cx="2980944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ImageProjection — GeneralDomain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614416" y="1298448"/>
            <a:ext cx="2980944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COCO-trained  |  2048→512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Path: models/miva_knight_month2/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8741664" y="1078992"/>
            <a:ext cx="3163824" cy="786384"/>
          </a:xfrm>
          <a:prstGeom prst="rect">
            <a:avLst/>
          </a:prstGeom>
          <a:solidFill>
            <a:srgbClr val="F5E0F5"/>
          </a:solidFill>
          <a:ln w="12700">
            <a:solidFill>
              <a:srgbClr val="6B1F6B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741664" y="1078992"/>
            <a:ext cx="50292" cy="786384"/>
          </a:xfrm>
          <a:prstGeom prst="rect">
            <a:avLst/>
          </a:prstGeom>
          <a:solidFill>
            <a:srgbClr val="6B1F6B"/>
          </a:solidFill>
          <a:ln w="12700">
            <a:solidFill>
              <a:srgbClr val="6B1F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33104" y="1078992"/>
            <a:ext cx="299923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B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ImageProjection — MedicalDomain ← NEW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8833104" y="1298448"/>
            <a:ext cx="2999232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ROCO fine-tuned  |  2048→512  |  loss=0.2428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Path: models/miva_knight_month4/image_projection_roco.pth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8686800" y="1472184"/>
            <a:ext cx="36576" cy="0"/>
          </a:xfrm>
          <a:prstGeom prst="line">
            <a:avLst/>
          </a:prstGeom>
          <a:noFill/>
          <a:ln w="15240">
            <a:solidFill>
              <a:srgbClr val="6B1F6B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8686800" y="1371600"/>
            <a:ext cx="73152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541264" y="1920240"/>
            <a:ext cx="3127248" cy="786384"/>
          </a:xfrm>
          <a:prstGeom prst="rect">
            <a:avLst/>
          </a:prstGeom>
          <a:solidFill>
            <a:srgbClr val="D7E4F5"/>
          </a:solidFill>
          <a:ln w="8890">
            <a:solidFill>
              <a:srgbClr val="14407A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614416" y="1920240"/>
            <a:ext cx="2980944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 — coco_val2017.faiss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614416" y="2139696"/>
            <a:ext cx="2980944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202K vectors  |  ~420 MB  |  IndexFlatIP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8741664" y="1920240"/>
            <a:ext cx="3163824" cy="786384"/>
          </a:xfrm>
          <a:prstGeom prst="rect">
            <a:avLst/>
          </a:prstGeom>
          <a:solidFill>
            <a:srgbClr val="F5E0F5"/>
          </a:solidFill>
          <a:ln w="12700">
            <a:solidFill>
              <a:srgbClr val="6B1F6B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741664" y="1920240"/>
            <a:ext cx="50292" cy="786384"/>
          </a:xfrm>
          <a:prstGeom prst="rect">
            <a:avLst/>
          </a:prstGeom>
          <a:solidFill>
            <a:srgbClr val="6B1F6B"/>
          </a:solidFill>
          <a:ln w="12700">
            <a:solidFill>
              <a:srgbClr val="6B1F6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833104" y="1920240"/>
            <a:ext cx="299923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B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 — roco_medical.faiss ← NEW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8833104" y="2139696"/>
            <a:ext cx="2999232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80K vectors  |  ~165 MB  |  IndexFlatIP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ROCO train+val captions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8686800" y="2313432"/>
            <a:ext cx="36576" cy="0"/>
          </a:xfrm>
          <a:prstGeom prst="line">
            <a:avLst/>
          </a:prstGeom>
          <a:noFill/>
          <a:ln w="15240">
            <a:solidFill>
              <a:srgbClr val="6B1F6B"/>
            </a:solidFill>
            <a:prstDash val="solid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8686800" y="2212848"/>
            <a:ext cx="73152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541264" y="2761488"/>
            <a:ext cx="3127248" cy="786384"/>
          </a:xfrm>
          <a:prstGeom prst="rect">
            <a:avLst/>
          </a:prstGeom>
          <a:solidFill>
            <a:srgbClr val="FFF0CC"/>
          </a:solidFill>
          <a:ln w="8890">
            <a:solidFill>
              <a:srgbClr val="8A520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5614416" y="2761488"/>
            <a:ext cx="2980944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— ner_kg_general.pkl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614416" y="2980944"/>
            <a:ext cx="2980944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en_core_web_sm  |  ~2K entities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PMI-weighted co-occurrence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8741664" y="2761488"/>
            <a:ext cx="3163824" cy="786384"/>
          </a:xfrm>
          <a:prstGeom prst="rect">
            <a:avLst/>
          </a:prstGeom>
          <a:solidFill>
            <a:srgbClr val="F5E0F5"/>
          </a:solidFill>
          <a:ln w="12700">
            <a:solidFill>
              <a:srgbClr val="6B1F6B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8741664" y="2761488"/>
            <a:ext cx="50292" cy="786384"/>
          </a:xfrm>
          <a:prstGeom prst="rect">
            <a:avLst/>
          </a:prstGeom>
          <a:solidFill>
            <a:srgbClr val="6B1F6B"/>
          </a:solidFill>
          <a:ln w="12700">
            <a:solidFill>
              <a:srgbClr val="6B1F6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833104" y="2761488"/>
            <a:ext cx="299923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B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— ner_kg_medical.pkl ← NEW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8833104" y="2980944"/>
            <a:ext cx="2999232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scispaCy en_core_sci_sm + RadLex seeds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~3K medical entities  |  PMI-weighted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8686800" y="3154680"/>
            <a:ext cx="36576" cy="0"/>
          </a:xfrm>
          <a:prstGeom prst="line">
            <a:avLst/>
          </a:prstGeom>
          <a:noFill/>
          <a:ln w="15240">
            <a:solidFill>
              <a:srgbClr val="6B1F6B"/>
            </a:solidFill>
            <a:prstDash val="solid"/>
            <a:tailEnd type="triangle"/>
          </a:ln>
        </p:spPr>
      </p:sp>
      <p:sp>
        <p:nvSpPr>
          <p:cNvPr id="61" name="Text 59"/>
          <p:cNvSpPr/>
          <p:nvPr/>
        </p:nvSpPr>
        <p:spPr>
          <a:xfrm>
            <a:off x="8686800" y="3054096"/>
            <a:ext cx="73152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541264" y="3602736"/>
            <a:ext cx="3127248" cy="786384"/>
          </a:xfrm>
          <a:prstGeom prst="rect">
            <a:avLst/>
          </a:prstGeom>
          <a:solidFill>
            <a:srgbClr val="F5F5F5"/>
          </a:solidFill>
          <a:ln w="8890">
            <a:solidFill>
              <a:srgbClr val="AAAAAA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5614416" y="3602736"/>
            <a:ext cx="2980944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threshold: τ = 0.40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5614416" y="3822192"/>
            <a:ext cx="2980944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domain — moderate precision needed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8741664" y="3602736"/>
            <a:ext cx="3163824" cy="786384"/>
          </a:xfrm>
          <a:prstGeom prst="rect">
            <a:avLst/>
          </a:prstGeom>
          <a:solidFill>
            <a:srgbClr val="FAE0E0"/>
          </a:solidFill>
          <a:ln w="12700">
            <a:solidFill>
              <a:srgbClr val="9B202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8741664" y="3602736"/>
            <a:ext cx="50292" cy="786384"/>
          </a:xfrm>
          <a:prstGeom prst="rect">
            <a:avLst/>
          </a:prstGeom>
          <a:solidFill>
            <a:srgbClr val="9B2020"/>
          </a:solidFill>
          <a:ln w="12700">
            <a:solidFill>
              <a:srgbClr val="9B202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833104" y="3602736"/>
            <a:ext cx="299923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threshold: τ = 0.55 ← STRICTER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8833104" y="3822192"/>
            <a:ext cx="2999232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domain — FDA guidance: P@1 &gt; 95% for CDSTs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threshold prevents unsafe hallucination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8686800" y="3995928"/>
            <a:ext cx="36576" cy="0"/>
          </a:xfrm>
          <a:prstGeom prst="line">
            <a:avLst/>
          </a:prstGeom>
          <a:noFill/>
          <a:ln w="15240">
            <a:solidFill>
              <a:srgbClr val="6B1F6B"/>
            </a:solidFill>
            <a:prstDash val="solid"/>
            <a:tailEnd type="triangle"/>
          </a:ln>
        </p:spPr>
      </p:sp>
      <p:sp>
        <p:nvSpPr>
          <p:cNvPr id="70" name="Text 68"/>
          <p:cNvSpPr/>
          <p:nvPr/>
        </p:nvSpPr>
        <p:spPr>
          <a:xfrm>
            <a:off x="8686800" y="3895344"/>
            <a:ext cx="73152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182880" y="4590288"/>
            <a:ext cx="11795760" cy="402336"/>
          </a:xfrm>
          <a:prstGeom prst="rect">
            <a:avLst/>
          </a:prstGeom>
          <a:solidFill>
            <a:srgbClr val="D1F0E6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74320" y="4590288"/>
            <a:ext cx="1161288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512-dimensional embedding space  S⁵¹¹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274320" y="4773168"/>
            <a:ext cx="1161288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ê_text, ê_audio, ê_image  all live on the same unit hypersphere  |  Domain swap: only the image translation layer changes  |  Swap latency: 1.35s (target &lt; 5s)  ✓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182880" y="5084064"/>
            <a:ext cx="36576" cy="237744"/>
          </a:xfrm>
          <a:prstGeom prst="rect">
            <a:avLst/>
          </a:prstGeom>
          <a:solidFill>
            <a:srgbClr val="1A6B30"/>
          </a:solidFill>
          <a:ln w="12700">
            <a:solidFill>
              <a:srgbClr val="1A6B3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56032" y="5084064"/>
            <a:ext cx="36576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Switch Theorem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82880" y="5303520"/>
            <a:ext cx="5760720" cy="804672"/>
          </a:xfrm>
          <a:prstGeom prst="rect">
            <a:avLst/>
          </a:prstGeom>
          <a:solidFill>
            <a:srgbClr val="D8F2DF"/>
          </a:solidFill>
          <a:ln w="12700">
            <a:solidFill>
              <a:srgbClr val="1A6B3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274320" y="5303520"/>
            <a:ext cx="557784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Theorem: Domain-Agnostic Shared Space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274320" y="5522976"/>
            <a:ext cx="557784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W_shared = {W_TextProj, W_AudioProj, W_BERT, W_Wav2Vec} fixed across all domains.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(FAISS_index, ImageProjection, KG, NER, τ) differ.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reload: ~110M+94M params → 50–100s  |  Domain swap: FAISS(1-3s) + KG(0.5-2s) → ratio ≈ 20× speedup.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6108192" y="5084064"/>
            <a:ext cx="36576" cy="237744"/>
          </a:xfrm>
          <a:prstGeom prst="rect">
            <a:avLst/>
          </a:prstGeom>
          <a:solidFill>
            <a:srgbClr val="6B1F6B"/>
          </a:solidFill>
          <a:ln w="12700">
            <a:solidFill>
              <a:srgbClr val="6B1F6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181344" y="5084064"/>
            <a:ext cx="36576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Transfer Claim (Core Thesis)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6108192" y="5303520"/>
            <a:ext cx="5870448" cy="804672"/>
          </a:xfrm>
          <a:prstGeom prst="rect">
            <a:avLst/>
          </a:prstGeom>
          <a:solidFill>
            <a:srgbClr val="F5E0F5"/>
          </a:solidFill>
          <a:ln w="12700">
            <a:solidFill>
              <a:srgbClr val="6B1F6B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6199632" y="5303520"/>
            <a:ext cx="5687568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2.23% of parameters retrained — 97.77% frozen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6199632" y="5559552"/>
            <a:ext cx="1810512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236208" y="5559552"/>
            <a:ext cx="11887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backbone</a:t>
            </a:r>
            <a:endParaRPr lang="en-US" sz="650" dirty="0"/>
          </a:p>
        </p:txBody>
      </p:sp>
      <p:sp>
        <p:nvSpPr>
          <p:cNvPr id="85" name="Text 83"/>
          <p:cNvSpPr/>
          <p:nvPr/>
        </p:nvSpPr>
        <p:spPr>
          <a:xfrm>
            <a:off x="7424928" y="5559552"/>
            <a:ext cx="34747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23M</a:t>
            </a:r>
            <a:endParaRPr lang="en-US" sz="650" dirty="0"/>
          </a:p>
        </p:txBody>
      </p:sp>
      <p:sp>
        <p:nvSpPr>
          <p:cNvPr id="86" name="Text 84"/>
          <p:cNvSpPr/>
          <p:nvPr/>
        </p:nvSpPr>
        <p:spPr>
          <a:xfrm>
            <a:off x="7754112" y="5559552"/>
            <a:ext cx="237744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600" dirty="0"/>
          </a:p>
        </p:txBody>
      </p:sp>
      <p:sp>
        <p:nvSpPr>
          <p:cNvPr id="87" name="Shape 85"/>
          <p:cNvSpPr/>
          <p:nvPr/>
        </p:nvSpPr>
        <p:spPr>
          <a:xfrm>
            <a:off x="8065008" y="5559552"/>
            <a:ext cx="1810512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101584" y="5559552"/>
            <a:ext cx="11887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BERT-base-uncased</a:t>
            </a:r>
            <a:endParaRPr lang="en-US" sz="650" dirty="0"/>
          </a:p>
        </p:txBody>
      </p:sp>
      <p:sp>
        <p:nvSpPr>
          <p:cNvPr id="89" name="Text 87"/>
          <p:cNvSpPr/>
          <p:nvPr/>
        </p:nvSpPr>
        <p:spPr>
          <a:xfrm>
            <a:off x="9290304" y="5559552"/>
            <a:ext cx="34747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110M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9619488" y="5559552"/>
            <a:ext cx="237744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600" dirty="0"/>
          </a:p>
        </p:txBody>
      </p:sp>
      <p:sp>
        <p:nvSpPr>
          <p:cNvPr id="91" name="Shape 89"/>
          <p:cNvSpPr/>
          <p:nvPr/>
        </p:nvSpPr>
        <p:spPr>
          <a:xfrm>
            <a:off x="9930384" y="5559552"/>
            <a:ext cx="1810512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966960" y="5559552"/>
            <a:ext cx="11887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 2.0</a:t>
            </a:r>
            <a:endParaRPr lang="en-US" sz="650" dirty="0"/>
          </a:p>
        </p:txBody>
      </p:sp>
      <p:sp>
        <p:nvSpPr>
          <p:cNvPr id="93" name="Text 91"/>
          <p:cNvSpPr/>
          <p:nvPr/>
        </p:nvSpPr>
        <p:spPr>
          <a:xfrm>
            <a:off x="11155680" y="5559552"/>
            <a:ext cx="34747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94M</a:t>
            </a:r>
            <a:endParaRPr lang="en-US" sz="650" dirty="0"/>
          </a:p>
        </p:txBody>
      </p:sp>
      <p:sp>
        <p:nvSpPr>
          <p:cNvPr id="94" name="Text 92"/>
          <p:cNvSpPr/>
          <p:nvPr/>
        </p:nvSpPr>
        <p:spPr>
          <a:xfrm>
            <a:off x="11484864" y="5559552"/>
            <a:ext cx="237744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600" dirty="0"/>
          </a:p>
        </p:txBody>
      </p:sp>
      <p:sp>
        <p:nvSpPr>
          <p:cNvPr id="95" name="Shape 93"/>
          <p:cNvSpPr/>
          <p:nvPr/>
        </p:nvSpPr>
        <p:spPr>
          <a:xfrm>
            <a:off x="6199632" y="5815584"/>
            <a:ext cx="1810512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236208" y="5815584"/>
            <a:ext cx="11887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TextProjection</a:t>
            </a:r>
            <a:endParaRPr lang="en-US" sz="650" dirty="0"/>
          </a:p>
        </p:txBody>
      </p:sp>
      <p:sp>
        <p:nvSpPr>
          <p:cNvPr id="97" name="Text 95"/>
          <p:cNvSpPr/>
          <p:nvPr/>
        </p:nvSpPr>
        <p:spPr>
          <a:xfrm>
            <a:off x="7424928" y="5815584"/>
            <a:ext cx="34747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1.6M</a:t>
            </a:r>
            <a:endParaRPr lang="en-US" sz="650" dirty="0"/>
          </a:p>
        </p:txBody>
      </p:sp>
      <p:sp>
        <p:nvSpPr>
          <p:cNvPr id="98" name="Text 96"/>
          <p:cNvSpPr/>
          <p:nvPr/>
        </p:nvSpPr>
        <p:spPr>
          <a:xfrm>
            <a:off x="7754112" y="5815584"/>
            <a:ext cx="237744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600" dirty="0"/>
          </a:p>
        </p:txBody>
      </p:sp>
      <p:sp>
        <p:nvSpPr>
          <p:cNvPr id="99" name="Shape 97"/>
          <p:cNvSpPr/>
          <p:nvPr/>
        </p:nvSpPr>
        <p:spPr>
          <a:xfrm>
            <a:off x="8065008" y="5815584"/>
            <a:ext cx="1810512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101584" y="5815584"/>
            <a:ext cx="11887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AudioProjection</a:t>
            </a:r>
            <a:endParaRPr lang="en-US" sz="650" dirty="0"/>
          </a:p>
        </p:txBody>
      </p:sp>
      <p:sp>
        <p:nvSpPr>
          <p:cNvPr id="101" name="Text 99"/>
          <p:cNvSpPr/>
          <p:nvPr/>
        </p:nvSpPr>
        <p:spPr>
          <a:xfrm>
            <a:off x="9290304" y="5815584"/>
            <a:ext cx="34747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~0.8M</a:t>
            </a:r>
            <a:endParaRPr lang="en-US" sz="650" dirty="0"/>
          </a:p>
        </p:txBody>
      </p:sp>
      <p:sp>
        <p:nvSpPr>
          <p:cNvPr id="102" name="Text 100"/>
          <p:cNvSpPr/>
          <p:nvPr/>
        </p:nvSpPr>
        <p:spPr>
          <a:xfrm>
            <a:off x="9619488" y="5815584"/>
            <a:ext cx="237744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600" dirty="0"/>
          </a:p>
        </p:txBody>
      </p:sp>
      <p:sp>
        <p:nvSpPr>
          <p:cNvPr id="103" name="Shape 101"/>
          <p:cNvSpPr/>
          <p:nvPr/>
        </p:nvSpPr>
        <p:spPr>
          <a:xfrm>
            <a:off x="9930384" y="5815584"/>
            <a:ext cx="1810512" cy="237744"/>
          </a:xfrm>
          <a:prstGeom prst="rect">
            <a:avLst/>
          </a:prstGeom>
          <a:solidFill>
            <a:srgbClr val="F5E0F5"/>
          </a:solidFill>
          <a:ln w="12700">
            <a:solidFill>
              <a:srgbClr val="6B1F6B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966960" y="5815584"/>
            <a:ext cx="11887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ImageProjection (ROCO) ← trains</a:t>
            </a:r>
            <a:endParaRPr lang="en-US" sz="650" dirty="0"/>
          </a:p>
        </p:txBody>
      </p:sp>
      <p:sp>
        <p:nvSpPr>
          <p:cNvPr id="105" name="Text 103"/>
          <p:cNvSpPr/>
          <p:nvPr/>
        </p:nvSpPr>
        <p:spPr>
          <a:xfrm>
            <a:off x="11155680" y="5815584"/>
            <a:ext cx="34747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~5.25M</a:t>
            </a:r>
            <a:endParaRPr lang="en-US" sz="650" dirty="0"/>
          </a:p>
        </p:txBody>
      </p:sp>
      <p:sp>
        <p:nvSpPr>
          <p:cNvPr id="106" name="Text 104"/>
          <p:cNvSpPr/>
          <p:nvPr/>
        </p:nvSpPr>
        <p:spPr>
          <a:xfrm>
            <a:off x="11484864" y="5815584"/>
            <a:ext cx="237744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91440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MIVA-KNIGHT  |  Month 4 — ImageProjection Fine-tuning on ROCO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8600" y="274320"/>
            <a:ext cx="1170432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InfoNCE  |  τ=0.07  |  B=32  |  15 epochs  |  20K samples  |  Differential LR: text=1e-5 / image=5e-5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6583680"/>
            <a:ext cx="117043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MIVA-KNIGHT  |  IT 581 Capstone  |  Concordia University of Edmonton  |  Month 4 — ROCO Medical Domain Transfer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182880" y="621792"/>
            <a:ext cx="36576" cy="237744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621792"/>
            <a:ext cx="36576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ImageEncoderV2 Architecture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" y="868680"/>
            <a:ext cx="1280160" cy="749808"/>
          </a:xfrm>
          <a:prstGeom prst="rect">
            <a:avLst/>
          </a:prstGeom>
          <a:solidFill>
            <a:srgbClr val="1A1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868680"/>
            <a:ext cx="1280160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 image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∈ ℝ³ˣᴴˣᵂ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ROCO corpus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82880" y="1645920"/>
            <a:ext cx="1280160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radiology image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1481328" y="1243584"/>
            <a:ext cx="25603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755648" y="868680"/>
            <a:ext cx="1828800" cy="749808"/>
          </a:xfrm>
          <a:prstGeom prst="rect">
            <a:avLst/>
          </a:prstGeom>
          <a:solidFill>
            <a:srgbClr val="F5F5F5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868680"/>
            <a:ext cx="1682496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IMAGE_TRANSFORM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828800" y="1088136"/>
            <a:ext cx="1682496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Resize(256)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→CenterCrop(224)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→ToTensor()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→Normalize(μ,σ)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3602736" y="1243584"/>
            <a:ext cx="25603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877056" y="868680"/>
            <a:ext cx="1883664" cy="749808"/>
          </a:xfrm>
          <a:prstGeom prst="rect">
            <a:avLst/>
          </a:prstGeom>
          <a:solidFill>
            <a:srgbClr val="EAE0F8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50208" y="868680"/>
            <a:ext cx="17373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(FROZEN)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950208" y="1088136"/>
            <a:ext cx="173736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23M params  |  ImageNet weights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Conv→BN→ReLU→Pool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AdaptiveAvgPool2d → [2048,1,1]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5779008" y="1243584"/>
            <a:ext cx="25603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053328" y="978408"/>
            <a:ext cx="621792" cy="53035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53328" y="978408"/>
            <a:ext cx="621792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f_img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∈ℝ²⁰⁴⁸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693408" y="1243584"/>
            <a:ext cx="25603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967728" y="868680"/>
            <a:ext cx="2121408" cy="749808"/>
          </a:xfrm>
          <a:prstGeom prst="rect">
            <a:avLst/>
          </a:prstGeom>
          <a:solidFill>
            <a:srgbClr val="F5E0F5"/>
          </a:solidFill>
          <a:ln w="15240">
            <a:solidFill>
              <a:srgbClr val="6B1F6B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67728" y="868680"/>
            <a:ext cx="50292" cy="749808"/>
          </a:xfrm>
          <a:prstGeom prst="rect">
            <a:avLst/>
          </a:prstGeom>
          <a:solidFill>
            <a:srgbClr val="6B1F6B"/>
          </a:solidFill>
          <a:ln w="12700">
            <a:solidFill>
              <a:srgbClr val="6B1F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59168" y="868680"/>
            <a:ext cx="1956816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ImageProjection (ROCO) ← TRAINS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059168" y="1088136"/>
            <a:ext cx="1956816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Linear(2048→2048) → GELU → LN(2048)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Linear(2048→512) → LN(512) → L2-norm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~5.25M trainable params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9107424" y="1243584"/>
            <a:ext cx="25603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381744" y="978408"/>
            <a:ext cx="658368" cy="530352"/>
          </a:xfrm>
          <a:prstGeom prst="rect">
            <a:avLst/>
          </a:prstGeom>
          <a:solidFill>
            <a:srgbClr val="6B1F6B"/>
          </a:solidFill>
          <a:ln w="12700">
            <a:solidFill>
              <a:srgbClr val="6B1F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81744" y="978408"/>
            <a:ext cx="658368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ê_img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∈ S⁵¹¹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9290304" y="749808"/>
            <a:ext cx="841248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Embeddings, ê_image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10149840" y="868680"/>
            <a:ext cx="1828800" cy="749808"/>
          </a:xfrm>
          <a:prstGeom prst="rect">
            <a:avLst/>
          </a:prstGeom>
          <a:solidFill>
            <a:srgbClr val="F5E0F5"/>
          </a:solidFill>
          <a:ln w="10160">
            <a:solidFill>
              <a:srgbClr val="6B1F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22992" y="868680"/>
            <a:ext cx="1682496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B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ImageProjection f_φ: ℝ²⁰⁴⁸→S⁵¹¹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0222992" y="1069848"/>
            <a:ext cx="1682496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f_φ(x) = g_φ(x)/‖g_φ(x)‖₂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g_φ(x)=LN₅₁₂(W₂·GELU(LN₂₀₄₈(W₁x+b₁))+b₂)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W₁∈ℝ²⁰⁴⁸ˣ²⁰⁴⁸  W₂∈ℝ⁵¹²ˣ²⁰⁴⁸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182880" y="1682496"/>
            <a:ext cx="11978640" cy="347472"/>
          </a:xfrm>
          <a:prstGeom prst="rect">
            <a:avLst/>
          </a:prstGeom>
          <a:solidFill>
            <a:srgbClr val="F5F5F5"/>
          </a:solidFill>
          <a:ln w="7620">
            <a:solidFill>
              <a:srgbClr val="AAAA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1682496"/>
            <a:ext cx="2286000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normalisation (mandatory):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74320" y="1847088"/>
            <a:ext cx="11795760" cy="1645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x̂_{c,h,w} = (x_{c,h,w} − μ_c) / σ_c   |   μ=[0.485,0.456,0.406]  σ=[0.229,0.224,0.225]  (exact ImageNet-1.2M statistics)  |  BatchNorm calibrated with these values during ResNet-50 pretraining — different normalisation shifts the input distribution and degrades pool5 features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82880" y="2121408"/>
            <a:ext cx="36576" cy="237744"/>
          </a:xfrm>
          <a:prstGeom prst="rect">
            <a:avLst/>
          </a:prstGeom>
          <a:solidFill>
            <a:srgbClr val="1A6B30"/>
          </a:solidFill>
          <a:ln w="12700">
            <a:solidFill>
              <a:srgbClr val="1A6B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6032" y="2121408"/>
            <a:ext cx="36576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InfoNCE Fine-tuning on ROCO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82880" y="2340864"/>
            <a:ext cx="2359152" cy="2267712"/>
          </a:xfrm>
          <a:prstGeom prst="rect">
            <a:avLst/>
          </a:prstGeom>
          <a:solidFill>
            <a:srgbClr val="D7E4F5"/>
          </a:solidFill>
          <a:ln w="12700">
            <a:solidFill>
              <a:srgbClr val="14407A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74320" y="2340864"/>
            <a:ext cx="21945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branch (BERT frozen)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74320" y="2560320"/>
            <a:ext cx="2194560" cy="2011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c → BERT tokenise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last_hidden_state.mean(dim=1)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bert_emb ∈ ℝ⁷⁶⁸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TextProjection (LR=1e-5, tiny nudge)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L2_norm → ê_text ∈ S⁵¹¹</a:t>
            </a:r>
            <a:endParaRPr lang="en-US" sz="700" dirty="0"/>
          </a:p>
          <a:p>
            <a:pPr algn="l" indent="0" marL="0">
              <a:buNone/>
            </a:pP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BERT: torch.no_grad()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(frozen — zero grad through backbone)</a:t>
            </a:r>
            <a:endParaRPr lang="en-US" sz="700" dirty="0"/>
          </a:p>
          <a:p>
            <a:pPr algn="l" indent="0" marL="0">
              <a:buNone/>
            </a:pP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TextProjection: grad enabled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LR=1e-5  (Month 2 weights preserved)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2633472" y="2340864"/>
            <a:ext cx="2359152" cy="2267712"/>
          </a:xfrm>
          <a:prstGeom prst="rect">
            <a:avLst/>
          </a:prstGeom>
          <a:solidFill>
            <a:srgbClr val="F5E0F5"/>
          </a:solidFill>
          <a:ln w="12700">
            <a:solidFill>
              <a:srgbClr val="6B1F6B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724912" y="2340864"/>
            <a:ext cx="21945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branch (ResNet frozen)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724912" y="2560320"/>
            <a:ext cx="2194560" cy="2011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 image → IMAGE_TRANSFORM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[3,224,224] tensor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ResNet-50 backbone (no_grad)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pool5 → feats ∈ ℝ²⁰⁴⁸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ImageProjection_ROCO (LR=5e-5)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ê_image ∈ S⁵¹¹</a:t>
            </a:r>
            <a:endParaRPr lang="en-US" sz="700" dirty="0"/>
          </a:p>
          <a:p>
            <a:pPr algn="l" indent="0" marL="0">
              <a:buNone/>
            </a:pP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ResNet: torch.no_grad()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ImageProjection: grad enabled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LR=5e-5  (fresh random init)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5010912" y="3474720"/>
            <a:ext cx="27432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362456" y="4608576"/>
            <a:ext cx="0" cy="20116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3813048" y="4608576"/>
            <a:ext cx="0" cy="20116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5303520" y="2340864"/>
            <a:ext cx="3035808" cy="2267712"/>
          </a:xfrm>
          <a:prstGeom prst="rect">
            <a:avLst/>
          </a:prstGeom>
          <a:solidFill>
            <a:srgbClr val="D8F2DF"/>
          </a:solidFill>
          <a:ln w="12700">
            <a:solidFill>
              <a:srgbClr val="1A6B3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394960" y="2340864"/>
            <a:ext cx="2871216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InfoNCE  (τ=0.07)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394960" y="2560320"/>
            <a:ext cx="2871216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S_ij = ê_text_i · ê_image_j  (cosine sim matrix B×B)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394960" y="2743200"/>
            <a:ext cx="2871216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L(T→I)_i = −log[exp(S_ii/τ) / Σⱼ exp(S_ij/τ)]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394960" y="2926080"/>
            <a:ext cx="2871216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L(I→T)_i = −log[exp(S_ii/τ) / Σⱼ exp(S_ji/τ)]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394960" y="3108960"/>
            <a:ext cx="2871216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L_InfoNCE = (1/2B) Σᵢ [L(T→I)_i + L(I→T)_i]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394960" y="3310128"/>
            <a:ext cx="2871216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τ=0.07  |  B=32  |  random baseline=log(32)=3.47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394960" y="3511296"/>
            <a:ext cx="2871216" cy="7680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Dual-loss (full thesis):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L_total = L_align + λ(t)·L_distill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λ(t) = 0.5 − 0.4·(t/T_max)   (0.5→0.1)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L_distill = (1/B)Σ‖f_I^ROCO(x)−sg[f_I^COCO(x)]‖²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catastrophic forgetting of COCO geometry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8357616" y="2340864"/>
            <a:ext cx="3712464" cy="2267712"/>
          </a:xfrm>
          <a:prstGeom prst="rect">
            <a:avLst/>
          </a:prstGeom>
          <a:solidFill>
            <a:srgbClr val="F5F5F5"/>
          </a:solidFill>
          <a:ln w="10160">
            <a:solidFill>
              <a:srgbClr val="AAAAAA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8449056" y="2340864"/>
            <a:ext cx="3529584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8357616" y="2615184"/>
            <a:ext cx="3712464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412480" y="2615184"/>
            <a:ext cx="109728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BATCH_SIZE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9528048" y="2615184"/>
            <a:ext cx="7315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0277856" y="2615184"/>
            <a:ext cx="17373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InfoNCE negatives per pair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8357616" y="2852928"/>
            <a:ext cx="3712464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412480" y="2852928"/>
            <a:ext cx="109728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NUM_EPOCHS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9528048" y="2852928"/>
            <a:ext cx="7315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10277856" y="2852928"/>
            <a:ext cx="17373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~epoch 10–12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8357616" y="3090672"/>
            <a:ext cx="3712464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412480" y="3090672"/>
            <a:ext cx="109728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MAX_SAMPLES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9528048" y="3090672"/>
            <a:ext cx="7315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10277856" y="3090672"/>
            <a:ext cx="17373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of 60K ROCO train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8357616" y="3328416"/>
            <a:ext cx="3712464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412480" y="3328416"/>
            <a:ext cx="109728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LR_TEXT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9528048" y="3328416"/>
            <a:ext cx="7315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1e-5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10277856" y="3328416"/>
            <a:ext cx="17373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nudge — preserve Month 2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8357616" y="3566160"/>
            <a:ext cx="3712464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412480" y="3566160"/>
            <a:ext cx="109728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LR_IMAGE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9528048" y="3566160"/>
            <a:ext cx="7315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5e-5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10277856" y="3566160"/>
            <a:ext cx="17373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training — random init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8357616" y="3803904"/>
            <a:ext cx="3712464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412480" y="3803904"/>
            <a:ext cx="109728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INFONCE_TEMP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9528048" y="3803904"/>
            <a:ext cx="7315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10277856" y="3803904"/>
            <a:ext cx="17373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standard — sharp softmax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8357616" y="4041648"/>
            <a:ext cx="3712464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412480" y="4041648"/>
            <a:ext cx="109728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9528048" y="4041648"/>
            <a:ext cx="7315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10277856" y="4041648"/>
            <a:ext cx="17373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wd=0.01  β₁=0.9  β₂=0.999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8357616" y="4279392"/>
            <a:ext cx="3712464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412480" y="4279392"/>
            <a:ext cx="109728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loss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9528048" y="4279392"/>
            <a:ext cx="7315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0.2428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10277856" y="4279392"/>
            <a:ext cx="17373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Saved: image_projection_roco.pth</a:t>
            </a:r>
            <a:endParaRPr lang="en-US" sz="650" dirty="0"/>
          </a:p>
        </p:txBody>
      </p:sp>
      <p:sp>
        <p:nvSpPr>
          <p:cNvPr id="91" name="Shape 89"/>
          <p:cNvSpPr/>
          <p:nvPr/>
        </p:nvSpPr>
        <p:spPr>
          <a:xfrm>
            <a:off x="182880" y="4681728"/>
            <a:ext cx="36576" cy="237744"/>
          </a:xfrm>
          <a:prstGeom prst="rect">
            <a:avLst/>
          </a:prstGeom>
          <a:solidFill>
            <a:srgbClr val="8A5200"/>
          </a:solidFill>
          <a:ln w="12700">
            <a:solidFill>
              <a:srgbClr val="8A520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56032" y="4681728"/>
            <a:ext cx="36576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Loss Curve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182880" y="4901184"/>
            <a:ext cx="4754880" cy="1298448"/>
          </a:xfrm>
          <a:prstGeom prst="rect">
            <a:avLst/>
          </a:prstGeom>
          <a:solidFill>
            <a:srgbClr val="FFF0CC"/>
          </a:solidFill>
          <a:ln w="10160">
            <a:solidFill>
              <a:srgbClr val="8A520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74320" y="4901184"/>
            <a:ext cx="4572000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range → Expected loss → Interpretation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219456" y="5120640"/>
            <a:ext cx="4681728" cy="237744"/>
          </a:xfrm>
          <a:prstGeom prst="rect">
            <a:avLst/>
          </a:prstGeom>
          <a:solidFill>
            <a:srgbClr val="FFF0CC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74320" y="5120640"/>
            <a:ext cx="64008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</a:t>
            </a:r>
            <a:endParaRPr lang="en-US" sz="700" dirty="0"/>
          </a:p>
        </p:txBody>
      </p:sp>
      <p:sp>
        <p:nvSpPr>
          <p:cNvPr id="97" name="Text 95"/>
          <p:cNvSpPr/>
          <p:nvPr/>
        </p:nvSpPr>
        <p:spPr>
          <a:xfrm>
            <a:off x="932688" y="5120640"/>
            <a:ext cx="8229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3.0–3.47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1773936" y="5120640"/>
            <a:ext cx="309067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random baseline (log 32)  — ImageProjection starts random</a:t>
            </a:r>
            <a:endParaRPr lang="en-US" sz="650" dirty="0"/>
          </a:p>
        </p:txBody>
      </p:sp>
      <p:sp>
        <p:nvSpPr>
          <p:cNvPr id="99" name="Shape 97"/>
          <p:cNvSpPr/>
          <p:nvPr/>
        </p:nvSpPr>
        <p:spPr>
          <a:xfrm>
            <a:off x="219456" y="5376672"/>
            <a:ext cx="4681728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74320" y="5376672"/>
            <a:ext cx="64008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932688" y="5376672"/>
            <a:ext cx="8229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1.5–2.5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1773936" y="5376672"/>
            <a:ext cx="309067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 — X-ray features moving toward text-space positions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219456" y="5632704"/>
            <a:ext cx="4681728" cy="237744"/>
          </a:xfrm>
          <a:prstGeom prst="rect">
            <a:avLst/>
          </a:prstGeom>
          <a:solidFill>
            <a:srgbClr val="FFF0CC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74320" y="5632704"/>
            <a:ext cx="64008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9–15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932688" y="5632704"/>
            <a:ext cx="8229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0.8–1.5</a:t>
            </a:r>
            <a:endParaRPr lang="en-US" sz="700" dirty="0"/>
          </a:p>
        </p:txBody>
      </p:sp>
      <p:sp>
        <p:nvSpPr>
          <p:cNvPr id="106" name="Text 104"/>
          <p:cNvSpPr/>
          <p:nvPr/>
        </p:nvSpPr>
        <p:spPr>
          <a:xfrm>
            <a:off x="1773936" y="5632704"/>
            <a:ext cx="309067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 — stable cross-modal alignment achieved</a:t>
            </a:r>
            <a:endParaRPr lang="en-US" sz="650" dirty="0"/>
          </a:p>
        </p:txBody>
      </p:sp>
      <p:sp>
        <p:nvSpPr>
          <p:cNvPr id="107" name="Shape 105"/>
          <p:cNvSpPr/>
          <p:nvPr/>
        </p:nvSpPr>
        <p:spPr>
          <a:xfrm>
            <a:off x="219456" y="5888736"/>
            <a:ext cx="4681728" cy="237744"/>
          </a:xfrm>
          <a:prstGeom prst="rect">
            <a:avLst/>
          </a:prstGeom>
          <a:solidFill>
            <a:srgbClr val="D8F2DF"/>
          </a:solidFill>
          <a:ln w="3810">
            <a:solidFill>
              <a:srgbClr val="1A6B3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74320" y="5888736"/>
            <a:ext cx="64008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932688" y="5888736"/>
            <a:ext cx="8229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0.2428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1773936" y="5888736"/>
            <a:ext cx="309067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best loss  — ImageProjection saved at this point</a:t>
            </a:r>
            <a:endParaRPr lang="en-US" sz="650" dirty="0"/>
          </a:p>
        </p:txBody>
      </p:sp>
      <p:sp>
        <p:nvSpPr>
          <p:cNvPr id="111" name="Shape 109"/>
          <p:cNvSpPr/>
          <p:nvPr/>
        </p:nvSpPr>
        <p:spPr>
          <a:xfrm>
            <a:off x="4956048" y="4681728"/>
            <a:ext cx="7114032" cy="1517904"/>
          </a:xfrm>
          <a:prstGeom prst="rect">
            <a:avLst/>
          </a:prstGeom>
          <a:solidFill>
            <a:srgbClr val="D7E4F5"/>
          </a:solidFill>
          <a:ln w="10160">
            <a:solidFill>
              <a:srgbClr val="14407A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047488" y="4681728"/>
            <a:ext cx="693115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Learning Rate Rationale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5047488" y="4956048"/>
            <a:ext cx="6931152" cy="493776"/>
          </a:xfrm>
          <a:prstGeom prst="rect">
            <a:avLst/>
          </a:prstGeom>
          <a:solidFill>
            <a:srgbClr val="D7E4F5"/>
          </a:solidFill>
          <a:ln w="10160">
            <a:solidFill>
              <a:srgbClr val="14407A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120640" y="4956048"/>
            <a:ext cx="12801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TextProjection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6419088" y="4956048"/>
            <a:ext cx="7315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LR=1e-5</a:t>
            </a:r>
            <a:endParaRPr lang="en-US" sz="800" dirty="0"/>
          </a:p>
        </p:txBody>
      </p:sp>
      <p:sp>
        <p:nvSpPr>
          <p:cNvPr id="116" name="Text 114"/>
          <p:cNvSpPr/>
          <p:nvPr/>
        </p:nvSpPr>
        <p:spPr>
          <a:xfrm>
            <a:off x="7168896" y="4956048"/>
            <a:ext cx="4773168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trained on COCO (Month 2). Tiny nudge adapts to ROCO medical vocabulary without overwriting COCO geometry. Large LR would destroy 15 epochs of Month 2 training.</a:t>
            </a:r>
            <a:endParaRPr lang="en-US" sz="650" dirty="0"/>
          </a:p>
        </p:txBody>
      </p:sp>
      <p:sp>
        <p:nvSpPr>
          <p:cNvPr id="117" name="Shape 115"/>
          <p:cNvSpPr/>
          <p:nvPr/>
        </p:nvSpPr>
        <p:spPr>
          <a:xfrm>
            <a:off x="5047488" y="5504688"/>
            <a:ext cx="6931152" cy="493776"/>
          </a:xfrm>
          <a:prstGeom prst="rect">
            <a:avLst/>
          </a:prstGeom>
          <a:solidFill>
            <a:srgbClr val="F5E0F5"/>
          </a:solidFill>
          <a:ln w="10160">
            <a:solidFill>
              <a:srgbClr val="6B1F6B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120640" y="5504688"/>
            <a:ext cx="12801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ImageProjection</a:t>
            </a:r>
            <a:endParaRPr lang="en-US" sz="800" dirty="0"/>
          </a:p>
        </p:txBody>
      </p:sp>
      <p:sp>
        <p:nvSpPr>
          <p:cNvPr id="119" name="Text 117"/>
          <p:cNvSpPr/>
          <p:nvPr/>
        </p:nvSpPr>
        <p:spPr>
          <a:xfrm>
            <a:off x="6419088" y="5504688"/>
            <a:ext cx="7315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LR=5e-5</a:t>
            </a:r>
            <a:endParaRPr lang="en-US" sz="800" dirty="0"/>
          </a:p>
        </p:txBody>
      </p:sp>
      <p:sp>
        <p:nvSpPr>
          <p:cNvPr id="120" name="Text 118"/>
          <p:cNvSpPr/>
          <p:nvPr/>
        </p:nvSpPr>
        <p:spPr>
          <a:xfrm>
            <a:off x="7168896" y="5504688"/>
            <a:ext cx="4773168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random initialisation — must learn ROCO mapping from scratch. Needs larger LR for convergence in 15 epochs. But too large (&gt;1e-3) causes loss divergence.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91440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MIVA-KNIGHT  |  Month 4 — ROCO Dataset, FAISS Index &amp; Medical Knowledge Graph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8600" y="274320"/>
            <a:ext cx="1170432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ROCO: 81K PubMed radiology pairs  |  IndexFlatIP exact cosine  |  scispaCy + RadLex medical KG  |  PMI-weighted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6583680"/>
            <a:ext cx="117043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MIVA-KNIGHT  |  IT 581 Capstone  |  Concordia University of Edmonton  |  Month 4 — ROCO Medical Domain Transfer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182880" y="621792"/>
            <a:ext cx="36576" cy="237744"/>
          </a:xfrm>
          <a:prstGeom prst="rect">
            <a:avLst/>
          </a:prstGeom>
          <a:solidFill>
            <a:srgbClr val="6B1F6B"/>
          </a:solidFill>
          <a:ln w="12700">
            <a:solidFill>
              <a:srgbClr val="6B1F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621792"/>
            <a:ext cx="36576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ROCO Dataset (Radiology Objects in COntext)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" y="859536"/>
            <a:ext cx="3108960" cy="1828800"/>
          </a:xfrm>
          <a:prstGeom prst="rect">
            <a:avLst/>
          </a:prstGeom>
          <a:solidFill>
            <a:srgbClr val="F5E0F5"/>
          </a:solidFill>
          <a:ln w="12700">
            <a:solidFill>
              <a:srgbClr val="6B1F6B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859536"/>
            <a:ext cx="2944368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ROCO — ROCOv2 (eltorio/ROCOv2)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9456" y="1115568"/>
            <a:ext cx="3035808" cy="219456"/>
          </a:xfrm>
          <a:prstGeom prst="rect">
            <a:avLst/>
          </a:prstGeom>
          <a:solidFill>
            <a:srgbClr val="F5E0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115568"/>
            <a:ext cx="1005840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298448" y="1115568"/>
            <a:ext cx="1920240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 Open Access (PMC) figures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219456" y="1335024"/>
            <a:ext cx="3035808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335024"/>
            <a:ext cx="1005840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298448" y="1335024"/>
            <a:ext cx="1920240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~81,000 radiology images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219456" y="1554480"/>
            <a:ext cx="3035808" cy="219456"/>
          </a:xfrm>
          <a:prstGeom prst="rect">
            <a:avLst/>
          </a:prstGeom>
          <a:solidFill>
            <a:srgbClr val="F5E0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554480"/>
            <a:ext cx="1005840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Modalities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298448" y="1554480"/>
            <a:ext cx="1920240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X-ray, CT, MRI, ultrasound, PET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19456" y="1773936"/>
            <a:ext cx="3035808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1773936"/>
            <a:ext cx="1005840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Captions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298448" y="1773936"/>
            <a:ext cx="1920240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 image — medical paper authors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219456" y="1993392"/>
            <a:ext cx="3035808" cy="219456"/>
          </a:xfrm>
          <a:prstGeom prst="rect">
            <a:avLst/>
          </a:prstGeom>
          <a:solidFill>
            <a:srgbClr val="F5E0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1993392"/>
            <a:ext cx="1005840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298448" y="1993392"/>
            <a:ext cx="1920240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eltorio/ROCOv2  (public, no credentials)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219456" y="2212848"/>
            <a:ext cx="3035808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212848"/>
            <a:ext cx="1005840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298448" y="2212848"/>
            <a:ext cx="1920240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~60K  |  validation ~20K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219456" y="2432304"/>
            <a:ext cx="3035808" cy="219456"/>
          </a:xfrm>
          <a:prstGeom prst="rect">
            <a:avLst/>
          </a:prstGeom>
          <a:solidFill>
            <a:srgbClr val="F5E0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432304"/>
            <a:ext cx="1005840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storage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298448" y="2432304"/>
            <a:ext cx="1920240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GB images + ~30 MB metadata JSON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3383280" y="859536"/>
            <a:ext cx="2743200" cy="1828800"/>
          </a:xfrm>
          <a:prstGeom prst="rect">
            <a:avLst/>
          </a:prstGeom>
          <a:solidFill>
            <a:srgbClr val="F5F5F5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0" y="859536"/>
            <a:ext cx="2578608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ROCO vs MIMIC-CXR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438144" y="1115568"/>
            <a:ext cx="969264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425696" y="1115568"/>
            <a:ext cx="768096" cy="320040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25696" y="1115568"/>
            <a:ext cx="768096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instant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5212080" y="1115568"/>
            <a:ext cx="877824" cy="320040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0" y="1115568"/>
            <a:ext cx="877824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PhysioNet app (weeks)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438144" y="1435608"/>
            <a:ext cx="969264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425696" y="1435608"/>
            <a:ext cx="768096" cy="320040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25696" y="1435608"/>
            <a:ext cx="768096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81K pairs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212080" y="1435608"/>
            <a:ext cx="877824" cy="320040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2080" y="1435608"/>
            <a:ext cx="877824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227K pairs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438144" y="1755648"/>
            <a:ext cx="969264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425696" y="1755648"/>
            <a:ext cx="768096" cy="320040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25696" y="1755648"/>
            <a:ext cx="768096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Author-written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5212080" y="1755648"/>
            <a:ext cx="877824" cy="320040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12080" y="1755648"/>
            <a:ext cx="877824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Radiologist reports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438144" y="2075688"/>
            <a:ext cx="969264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Chosen?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4425696" y="2075688"/>
            <a:ext cx="768096" cy="320040"/>
          </a:xfrm>
          <a:prstGeom prst="rect">
            <a:avLst/>
          </a:prstGeom>
          <a:solidFill>
            <a:srgbClr val="D8F2DF"/>
          </a:solidFill>
          <a:ln w="3810">
            <a:solidFill>
              <a:srgbClr val="1A6B3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25696" y="2075688"/>
            <a:ext cx="768096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YES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5212080" y="2075688"/>
            <a:ext cx="877824" cy="320040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12080" y="2075688"/>
            <a:ext cx="877824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barrier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6199632" y="859536"/>
            <a:ext cx="5779008" cy="1828800"/>
          </a:xfrm>
          <a:prstGeom prst="rect">
            <a:avLst/>
          </a:prstGeom>
          <a:solidFill>
            <a:srgbClr val="1E1E2E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9360" y="859536"/>
            <a:ext cx="557784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 record schema (per ROCO document):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309360" y="1060704"/>
            <a:ext cx="557784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6309360" y="1220724"/>
            <a:ext cx="557784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"doc_id":     "roco_train_004217",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6309360" y="1380744"/>
            <a:ext cx="557784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"text":       "Chest radiograph showing bilateral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309360" y="1540764"/>
            <a:ext cx="557784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pleural effusion with consolidation","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309360" y="1700784"/>
            <a:ext cx="557784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"image_path": "/content/drive/.../ROCO/images/train_004217.jpg"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6309360" y="1860804"/>
            <a:ext cx="557784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6309360" y="2020824"/>
            <a:ext cx="557784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E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doc_id → primary key for P@1 evaluation (Step 8)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6309360" y="2180844"/>
            <a:ext cx="557784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E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  → fed to FAISS index (Step 6) and KG (Step 7)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6309360" y="2340864"/>
            <a:ext cx="557784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E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  → fed to DataLoader during Step 5 fine-tuning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182880" y="2798064"/>
            <a:ext cx="36576" cy="237744"/>
          </a:xfrm>
          <a:prstGeom prst="rect">
            <a:avLst/>
          </a:prstGeom>
          <a:solidFill>
            <a:srgbClr val="14407A"/>
          </a:solidFill>
          <a:ln w="12700">
            <a:solidFill>
              <a:srgbClr val="14407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56032" y="2798064"/>
            <a:ext cx="36576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IndexFlatIP Construction (Step 6)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182880" y="3017520"/>
            <a:ext cx="2194560" cy="749808"/>
          </a:xfrm>
          <a:prstGeom prst="rect">
            <a:avLst/>
          </a:prstGeom>
          <a:solidFill>
            <a:srgbClr val="1A1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56032" y="3017520"/>
            <a:ext cx="2066544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ROCO corpus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256032" y="3255264"/>
            <a:ext cx="2066544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train+val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~80K records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2395728" y="3401568"/>
            <a:ext cx="18288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2596896" y="3017520"/>
            <a:ext cx="2194560" cy="749808"/>
          </a:xfrm>
          <a:prstGeom prst="rect">
            <a:avLst/>
          </a:prstGeom>
          <a:solidFill>
            <a:srgbClr val="D7E4F5"/>
          </a:solidFill>
          <a:ln w="12700">
            <a:solidFill>
              <a:srgbClr val="14407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670048" y="3017520"/>
            <a:ext cx="2066544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TextProjection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2670048" y="3255264"/>
            <a:ext cx="2066544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ROCO-nudged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Month 2 fallback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4809744" y="3401568"/>
            <a:ext cx="18288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5010912" y="3017520"/>
            <a:ext cx="2194560" cy="749808"/>
          </a:xfrm>
          <a:prstGeom prst="rect">
            <a:avLst/>
          </a:prstGeom>
          <a:solidFill>
            <a:srgbClr val="D7E4F5"/>
          </a:solidFill>
          <a:ln w="12700">
            <a:solidFill>
              <a:srgbClr val="14407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084064" y="3017520"/>
            <a:ext cx="2066544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texts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084064" y="3255264"/>
            <a:ext cx="2066544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batch_size=256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e∈S⁵¹¹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7223760" y="3401568"/>
            <a:ext cx="18288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7424928" y="3017520"/>
            <a:ext cx="2194560" cy="749808"/>
          </a:xfrm>
          <a:prstGeom prst="rect">
            <a:avLst/>
          </a:prstGeom>
          <a:solidFill>
            <a:srgbClr val="D1F0E6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498080" y="3017520"/>
            <a:ext cx="2066544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IndexFlatIP(512)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7498080" y="3255264"/>
            <a:ext cx="2066544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index.add(embs)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80K × 512 float32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9637776" y="3401568"/>
            <a:ext cx="18288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9838944" y="3017520"/>
            <a:ext cx="2194560" cy="749808"/>
          </a:xfrm>
          <a:prstGeom prst="rect">
            <a:avLst/>
          </a:prstGeom>
          <a:solidFill>
            <a:srgbClr val="D8F2DF"/>
          </a:solidFill>
          <a:ln w="12700">
            <a:solidFill>
              <a:srgbClr val="1A6B3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912096" y="3017520"/>
            <a:ext cx="2066544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roco_medical.faiss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9912096" y="3255264"/>
            <a:ext cx="2066544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~165 MB binary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roco_corpus_metadata.json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182880" y="3858768"/>
            <a:ext cx="11978640" cy="475488"/>
          </a:xfrm>
          <a:prstGeom prst="rect">
            <a:avLst/>
          </a:prstGeom>
          <a:solidFill>
            <a:srgbClr val="D7E4F5"/>
          </a:solidFill>
          <a:ln w="10160">
            <a:solidFill>
              <a:srgbClr val="14407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74320" y="3858768"/>
            <a:ext cx="36576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IndexFlatIP (exact) not IndexIVFFlat (approximate)?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274320" y="4059936"/>
            <a:ext cx="117043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80K vectors at D=512: exact search ≈ 0.5ms/query on CPU — fast enough for real-time use.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T_brute = O(N·D)  where N=80K, D=512  →  BLAS GEMM + AVX2 SIMD  →  sub-millisecond.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L2-normalised vectors: cos(û,v̂) = û·v̂  because ‖û‖₂=‖v̂‖₂=1  →  IndexFlatIP gives exact cosine. Approximate would cut to 0.05ms but miss some true nearest neighbours — correctness prioritised for thesis.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182880" y="4425696"/>
            <a:ext cx="36576" cy="237744"/>
          </a:xfrm>
          <a:prstGeom prst="rect">
            <a:avLst/>
          </a:prstGeom>
          <a:solidFill>
            <a:srgbClr val="8A5200"/>
          </a:solidFill>
          <a:ln w="12700">
            <a:solidFill>
              <a:srgbClr val="8A520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56032" y="4425696"/>
            <a:ext cx="36576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Knowledge Graph — scispaCy + RadLex (Step 7)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182880" y="4645152"/>
            <a:ext cx="4114800" cy="1536192"/>
          </a:xfrm>
          <a:prstGeom prst="rect">
            <a:avLst/>
          </a:prstGeom>
          <a:solidFill>
            <a:srgbClr val="FFF0CC"/>
          </a:solidFill>
          <a:ln w="10160">
            <a:solidFill>
              <a:srgbClr val="8A520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92" name="Text 90"/>
          <p:cNvSpPr/>
          <p:nvPr/>
        </p:nvSpPr>
        <p:spPr>
          <a:xfrm>
            <a:off x="274320" y="4645152"/>
            <a:ext cx="39319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vs Medical NER comparison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219456" y="4882896"/>
            <a:ext cx="1828800" cy="246888"/>
          </a:xfrm>
          <a:prstGeom prst="rect">
            <a:avLst/>
          </a:prstGeom>
          <a:solidFill>
            <a:srgbClr val="8A520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74320" y="4882896"/>
            <a:ext cx="1792224" cy="2468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phrase</a:t>
            </a:r>
            <a:endParaRPr lang="en-US" sz="650" dirty="0"/>
          </a:p>
        </p:txBody>
      </p:sp>
      <p:sp>
        <p:nvSpPr>
          <p:cNvPr id="95" name="Shape 93"/>
          <p:cNvSpPr/>
          <p:nvPr/>
        </p:nvSpPr>
        <p:spPr>
          <a:xfrm>
            <a:off x="2048256" y="4882896"/>
            <a:ext cx="1097280" cy="246888"/>
          </a:xfrm>
          <a:prstGeom prst="rect">
            <a:avLst/>
          </a:prstGeom>
          <a:solidFill>
            <a:srgbClr val="8A520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084832" y="4882896"/>
            <a:ext cx="1042416" cy="2468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en_core_web_sm</a:t>
            </a:r>
            <a:endParaRPr lang="en-US" sz="650" dirty="0"/>
          </a:p>
        </p:txBody>
      </p:sp>
      <p:sp>
        <p:nvSpPr>
          <p:cNvPr id="97" name="Shape 95"/>
          <p:cNvSpPr/>
          <p:nvPr/>
        </p:nvSpPr>
        <p:spPr>
          <a:xfrm>
            <a:off x="3145536" y="4882896"/>
            <a:ext cx="1097280" cy="246888"/>
          </a:xfrm>
          <a:prstGeom prst="rect">
            <a:avLst/>
          </a:prstGeom>
          <a:solidFill>
            <a:srgbClr val="8A520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182112" y="4882896"/>
            <a:ext cx="1042416" cy="2468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en_core_sci_sm</a:t>
            </a:r>
            <a:endParaRPr lang="en-US" sz="650" dirty="0"/>
          </a:p>
        </p:txBody>
      </p:sp>
      <p:sp>
        <p:nvSpPr>
          <p:cNvPr id="99" name="Shape 97"/>
          <p:cNvSpPr/>
          <p:nvPr/>
        </p:nvSpPr>
        <p:spPr>
          <a:xfrm>
            <a:off x="219456" y="5129784"/>
            <a:ext cx="182880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74320" y="5129784"/>
            <a:ext cx="1792224" cy="2468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"bilateral pleural effusion"</a:t>
            </a:r>
            <a:endParaRPr lang="en-US" sz="650" dirty="0"/>
          </a:p>
        </p:txBody>
      </p:sp>
      <p:sp>
        <p:nvSpPr>
          <p:cNvPr id="101" name="Shape 99"/>
          <p:cNvSpPr/>
          <p:nvPr/>
        </p:nvSpPr>
        <p:spPr>
          <a:xfrm>
            <a:off x="2048256" y="5129784"/>
            <a:ext cx="109728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084832" y="5129784"/>
            <a:ext cx="1042416" cy="2468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"bilateral" (misc)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3145536" y="5129784"/>
            <a:ext cx="109728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182112" y="5129784"/>
            <a:ext cx="1042416" cy="2468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"pleural effusion" (ENTITY)</a:t>
            </a:r>
            <a:endParaRPr lang="en-US" sz="650" dirty="0"/>
          </a:p>
        </p:txBody>
      </p:sp>
      <p:sp>
        <p:nvSpPr>
          <p:cNvPr id="105" name="Shape 103"/>
          <p:cNvSpPr/>
          <p:nvPr/>
        </p:nvSpPr>
        <p:spPr>
          <a:xfrm>
            <a:off x="219456" y="5376672"/>
            <a:ext cx="1828800" cy="246888"/>
          </a:xfrm>
          <a:prstGeom prst="rect">
            <a:avLst/>
          </a:prstGeom>
          <a:solidFill>
            <a:srgbClr val="FFF0CC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74320" y="5376672"/>
            <a:ext cx="1792224" cy="2468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"cardiomegaly"</a:t>
            </a:r>
            <a:endParaRPr lang="en-US" sz="650" dirty="0"/>
          </a:p>
        </p:txBody>
      </p:sp>
      <p:sp>
        <p:nvSpPr>
          <p:cNvPr id="107" name="Shape 105"/>
          <p:cNvSpPr/>
          <p:nvPr/>
        </p:nvSpPr>
        <p:spPr>
          <a:xfrm>
            <a:off x="2048256" y="5376672"/>
            <a:ext cx="1097280" cy="246888"/>
          </a:xfrm>
          <a:prstGeom prst="rect">
            <a:avLst/>
          </a:prstGeom>
          <a:solidFill>
            <a:srgbClr val="FFF0CC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084832" y="5376672"/>
            <a:ext cx="1042416" cy="2468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recognised</a:t>
            </a:r>
            <a:endParaRPr lang="en-US" sz="650" dirty="0"/>
          </a:p>
        </p:txBody>
      </p:sp>
      <p:sp>
        <p:nvSpPr>
          <p:cNvPr id="109" name="Shape 107"/>
          <p:cNvSpPr/>
          <p:nvPr/>
        </p:nvSpPr>
        <p:spPr>
          <a:xfrm>
            <a:off x="3145536" y="5376672"/>
            <a:ext cx="1097280" cy="246888"/>
          </a:xfrm>
          <a:prstGeom prst="rect">
            <a:avLst/>
          </a:prstGeom>
          <a:solidFill>
            <a:srgbClr val="FFF0CC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182112" y="5376672"/>
            <a:ext cx="1042416" cy="2468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"cardiomegaly" (ENTITY)</a:t>
            </a:r>
            <a:endParaRPr lang="en-US" sz="650" dirty="0"/>
          </a:p>
        </p:txBody>
      </p:sp>
      <p:sp>
        <p:nvSpPr>
          <p:cNvPr id="111" name="Shape 109"/>
          <p:cNvSpPr/>
          <p:nvPr/>
        </p:nvSpPr>
        <p:spPr>
          <a:xfrm>
            <a:off x="219456" y="5623560"/>
            <a:ext cx="182880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74320" y="5623560"/>
            <a:ext cx="1792224" cy="2468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"pneumothorax"</a:t>
            </a:r>
            <a:endParaRPr lang="en-US" sz="650" dirty="0"/>
          </a:p>
        </p:txBody>
      </p:sp>
      <p:sp>
        <p:nvSpPr>
          <p:cNvPr id="113" name="Shape 111"/>
          <p:cNvSpPr/>
          <p:nvPr/>
        </p:nvSpPr>
        <p:spPr>
          <a:xfrm>
            <a:off x="2048256" y="5623560"/>
            <a:ext cx="109728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2084832" y="5623560"/>
            <a:ext cx="1042416" cy="2468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recognised</a:t>
            </a:r>
            <a:endParaRPr lang="en-US" sz="650" dirty="0"/>
          </a:p>
        </p:txBody>
      </p:sp>
      <p:sp>
        <p:nvSpPr>
          <p:cNvPr id="115" name="Shape 113"/>
          <p:cNvSpPr/>
          <p:nvPr/>
        </p:nvSpPr>
        <p:spPr>
          <a:xfrm>
            <a:off x="3145536" y="5623560"/>
            <a:ext cx="109728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182112" y="5623560"/>
            <a:ext cx="1042416" cy="2468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"pneumothorax" (ENTITY)</a:t>
            </a:r>
            <a:endParaRPr lang="en-US" sz="650" dirty="0"/>
          </a:p>
        </p:txBody>
      </p:sp>
      <p:sp>
        <p:nvSpPr>
          <p:cNvPr id="117" name="Shape 115"/>
          <p:cNvSpPr/>
          <p:nvPr/>
        </p:nvSpPr>
        <p:spPr>
          <a:xfrm>
            <a:off x="219456" y="5870448"/>
            <a:ext cx="1828800" cy="246888"/>
          </a:xfrm>
          <a:prstGeom prst="rect">
            <a:avLst/>
          </a:prstGeom>
          <a:solidFill>
            <a:srgbClr val="FFF0CC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74320" y="5870448"/>
            <a:ext cx="1792224" cy="2468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"left lower lobe consolidation"</a:t>
            </a:r>
            <a:endParaRPr lang="en-US" sz="650" dirty="0"/>
          </a:p>
        </p:txBody>
      </p:sp>
      <p:sp>
        <p:nvSpPr>
          <p:cNvPr id="119" name="Shape 117"/>
          <p:cNvSpPr/>
          <p:nvPr/>
        </p:nvSpPr>
        <p:spPr>
          <a:xfrm>
            <a:off x="2048256" y="5870448"/>
            <a:ext cx="1097280" cy="246888"/>
          </a:xfrm>
          <a:prstGeom prst="rect">
            <a:avLst/>
          </a:prstGeom>
          <a:solidFill>
            <a:srgbClr val="FFF0CC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084832" y="5870448"/>
            <a:ext cx="1042416" cy="2468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"left" (misc)</a:t>
            </a:r>
            <a:endParaRPr lang="en-US" sz="650" dirty="0"/>
          </a:p>
        </p:txBody>
      </p:sp>
      <p:sp>
        <p:nvSpPr>
          <p:cNvPr id="121" name="Shape 119"/>
          <p:cNvSpPr/>
          <p:nvPr/>
        </p:nvSpPr>
        <p:spPr>
          <a:xfrm>
            <a:off x="3145536" y="5870448"/>
            <a:ext cx="1097280" cy="246888"/>
          </a:xfrm>
          <a:prstGeom prst="rect">
            <a:avLst/>
          </a:prstGeom>
          <a:solidFill>
            <a:srgbClr val="FFF0CC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182112" y="5870448"/>
            <a:ext cx="1042416" cy="2468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"consolidation" (ENTITY)</a:t>
            </a:r>
            <a:endParaRPr lang="en-US" sz="650" dirty="0"/>
          </a:p>
        </p:txBody>
      </p:sp>
      <p:sp>
        <p:nvSpPr>
          <p:cNvPr id="123" name="Shape 121"/>
          <p:cNvSpPr/>
          <p:nvPr/>
        </p:nvSpPr>
        <p:spPr>
          <a:xfrm>
            <a:off x="4407408" y="4645152"/>
            <a:ext cx="3950208" cy="1536192"/>
          </a:xfrm>
          <a:prstGeom prst="rect">
            <a:avLst/>
          </a:prstGeom>
          <a:solidFill>
            <a:srgbClr val="D8F2DF"/>
          </a:solidFill>
          <a:ln w="10160">
            <a:solidFill>
              <a:srgbClr val="1A6B3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124" name="Text 122"/>
          <p:cNvSpPr/>
          <p:nvPr/>
        </p:nvSpPr>
        <p:spPr>
          <a:xfrm>
            <a:off x="4498848" y="4645152"/>
            <a:ext cx="3785616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 — Pointwise Mutual Information</a:t>
            </a:r>
            <a:endParaRPr lang="en-US" sz="800" dirty="0"/>
          </a:p>
        </p:txBody>
      </p:sp>
      <p:sp>
        <p:nvSpPr>
          <p:cNvPr id="125" name="Text 123"/>
          <p:cNvSpPr/>
          <p:nvPr/>
        </p:nvSpPr>
        <p:spPr>
          <a:xfrm>
            <a:off x="4498848" y="4864608"/>
            <a:ext cx="3785616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PMI(a,b) = log[ P(a,b) / (P(a)·P(b)) ] = log[ c_ab · N / (f_a · f_b) ]</a:t>
            </a:r>
            <a:endParaRPr lang="en-US" sz="750" dirty="0"/>
          </a:p>
        </p:txBody>
      </p:sp>
      <p:sp>
        <p:nvSpPr>
          <p:cNvPr id="126" name="Text 124"/>
          <p:cNvSpPr/>
          <p:nvPr/>
        </p:nvSpPr>
        <p:spPr>
          <a:xfrm>
            <a:off x="4498848" y="5065776"/>
            <a:ext cx="3785616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c_ab=co-occur count  N=total docs  f_a,f_b=doc frequencies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4498848" y="5230368"/>
            <a:ext cx="3785616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 &gt; 0  ↔  entities co-occur more than chance  ↔  semantically related</a:t>
            </a:r>
            <a:endParaRPr lang="en-US" sz="700" dirty="0"/>
          </a:p>
        </p:txBody>
      </p:sp>
      <p:sp>
        <p:nvSpPr>
          <p:cNvPr id="128" name="Text 126"/>
          <p:cNvSpPr/>
          <p:nvPr/>
        </p:nvSpPr>
        <p:spPr>
          <a:xfrm>
            <a:off x="4498848" y="5394960"/>
            <a:ext cx="3785616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worked example: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N=80K  f_effusion=3K  f_bilateral=5K  c_ab=2.1K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 = log(2100×80000 / (3000×5000)) = log(11.2) ≈ 2.42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→ "bilateral effusion" is a strong medical association</a:t>
            </a:r>
            <a:endParaRPr lang="en-US" sz="700" dirty="0"/>
          </a:p>
        </p:txBody>
      </p:sp>
      <p:sp>
        <p:nvSpPr>
          <p:cNvPr id="129" name="Shape 127"/>
          <p:cNvSpPr/>
          <p:nvPr/>
        </p:nvSpPr>
        <p:spPr>
          <a:xfrm>
            <a:off x="8375904" y="4645152"/>
            <a:ext cx="3785616" cy="1536192"/>
          </a:xfrm>
          <a:prstGeom prst="rect">
            <a:avLst/>
          </a:prstGeom>
          <a:solidFill>
            <a:srgbClr val="1E1E2E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build_medical_kg(roco_captions)</a:t>
            </a:r>
            <a:endParaRPr lang="en-US" sz="800" dirty="0"/>
          </a:p>
        </p:txBody>
      </p:sp>
      <p:sp>
        <p:nvSpPr>
          <p:cNvPr id="131" name="Text 129"/>
          <p:cNvSpPr/>
          <p:nvPr/>
        </p:nvSpPr>
        <p:spPr>
          <a:xfrm>
            <a:off x="8467344" y="4681728"/>
            <a:ext cx="3639312" cy="1508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Algorithm: BUILD_ROCO_MEDICAL_KG</a:t>
            </a:r>
            <a:endParaRPr lang="en-US" sz="650" dirty="0"/>
          </a:p>
        </p:txBody>
      </p:sp>
      <p:sp>
        <p:nvSpPr>
          <p:cNvPr id="132" name="Text 130"/>
          <p:cNvSpPr/>
          <p:nvPr/>
        </p:nvSpPr>
        <p:spPr>
          <a:xfrm>
            <a:off x="8467344" y="4832604"/>
            <a:ext cx="3639312" cy="1508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 nlp ← scispacy.load('en_core_sci_sm')</a:t>
            </a:r>
            <a:endParaRPr lang="en-US" sz="650" dirty="0"/>
          </a:p>
        </p:txBody>
      </p:sp>
      <p:sp>
        <p:nvSpPr>
          <p:cNvPr id="133" name="Text 131"/>
          <p:cNvSpPr/>
          <p:nvPr/>
        </p:nvSpPr>
        <p:spPr>
          <a:xfrm>
            <a:off x="8467344" y="4983480"/>
            <a:ext cx="3639312" cy="1508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 seeds ← RadLex terms (anatomy, pathology)</a:t>
            </a:r>
            <a:endParaRPr lang="en-US" sz="650" dirty="0"/>
          </a:p>
        </p:txBody>
      </p:sp>
      <p:sp>
        <p:nvSpPr>
          <p:cNvPr id="134" name="Text 132"/>
          <p:cNvSpPr/>
          <p:nvPr/>
        </p:nvSpPr>
        <p:spPr>
          <a:xfrm>
            <a:off x="8467344" y="5134356"/>
            <a:ext cx="3639312" cy="1508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 for caption in roco_corpus:</a:t>
            </a:r>
            <a:endParaRPr lang="en-US" sz="650" dirty="0"/>
          </a:p>
        </p:txBody>
      </p:sp>
      <p:sp>
        <p:nvSpPr>
          <p:cNvPr id="135" name="Text 133"/>
          <p:cNvSpPr/>
          <p:nvPr/>
        </p:nvSpPr>
        <p:spPr>
          <a:xfrm>
            <a:off x="8467344" y="5285232"/>
            <a:ext cx="3639312" cy="1508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4:   ents ← nlp(caption).ents ∪ seeds</a:t>
            </a:r>
            <a:endParaRPr lang="en-US" sz="650" dirty="0"/>
          </a:p>
        </p:txBody>
      </p:sp>
      <p:sp>
        <p:nvSpPr>
          <p:cNvPr id="136" name="Text 134"/>
          <p:cNvSpPr/>
          <p:nvPr/>
        </p:nvSpPr>
        <p:spPr>
          <a:xfrm>
            <a:off x="8467344" y="5436108"/>
            <a:ext cx="3639312" cy="1508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5: entity_freq ← Counter(all_ents)</a:t>
            </a:r>
            <a:endParaRPr lang="en-US" sz="650" dirty="0"/>
          </a:p>
        </p:txBody>
      </p:sp>
      <p:sp>
        <p:nvSpPr>
          <p:cNvPr id="137" name="Text 135"/>
          <p:cNvSpPr/>
          <p:nvPr/>
        </p:nvSpPr>
        <p:spPr>
          <a:xfrm>
            <a:off x="8467344" y="5586984"/>
            <a:ext cx="3639312" cy="1508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6: top_entities ← top-3000 (freq≥5)</a:t>
            </a:r>
            <a:endParaRPr lang="en-US" sz="650" dirty="0"/>
          </a:p>
        </p:txBody>
      </p:sp>
      <p:sp>
        <p:nvSpPr>
          <p:cNvPr id="138" name="Text 136"/>
          <p:cNvSpPr/>
          <p:nvPr/>
        </p:nvSpPr>
        <p:spPr>
          <a:xfrm>
            <a:off x="8467344" y="5737860"/>
            <a:ext cx="3639312" cy="1508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7: cooc: for (a,b)∈pairs in same doc</a:t>
            </a:r>
            <a:endParaRPr lang="en-US" sz="650" dirty="0"/>
          </a:p>
        </p:txBody>
      </p:sp>
      <p:sp>
        <p:nvSpPr>
          <p:cNvPr id="139" name="Text 137"/>
          <p:cNvSpPr/>
          <p:nvPr/>
        </p:nvSpPr>
        <p:spPr>
          <a:xfrm>
            <a:off x="8467344" y="5888736"/>
            <a:ext cx="3639312" cy="1508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8: kg[a][b] ← PMI(a,b) if PMI&gt;0</a:t>
            </a:r>
            <a:endParaRPr lang="en-US" sz="650" dirty="0"/>
          </a:p>
        </p:txBody>
      </p:sp>
      <p:sp>
        <p:nvSpPr>
          <p:cNvPr id="140" name="Text 138"/>
          <p:cNvSpPr/>
          <p:nvPr/>
        </p:nvSpPr>
        <p:spPr>
          <a:xfrm>
            <a:off x="8467344" y="6039612"/>
            <a:ext cx="3639312" cy="1508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9: save → ner_kg_medical.pkl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91440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MIVA-KNIGHT  |  Month 4 — Test Suite Results &amp; Evaluation Metrics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8600" y="274320"/>
            <a:ext cx="1170432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tests across 6 suites  |  37/38 pass (97.4%)  |  P@1=62.8%  |  MRR=0.767  |  Domain swap=1.35s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6583680"/>
            <a:ext cx="117043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MIVA-KNIGHT  |  IT 581 Capstone  |  Concordia University of Edmonton  |  Month 4 — ROCO Medical Domain Transfer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182880" y="621792"/>
            <a:ext cx="36576" cy="237744"/>
          </a:xfrm>
          <a:prstGeom prst="rect">
            <a:avLst/>
          </a:prstGeom>
          <a:solidFill>
            <a:srgbClr val="14407A"/>
          </a:solidFill>
          <a:ln w="12700">
            <a:solidFill>
              <a:srgbClr val="1440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621792"/>
            <a:ext cx="36576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Test Suites — MIVATestRunner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" y="859536"/>
            <a:ext cx="3840480" cy="2267712"/>
          </a:xfrm>
          <a:prstGeom prst="rect">
            <a:avLst/>
          </a:prstGeom>
          <a:solidFill>
            <a:srgbClr val="D8F2DF"/>
          </a:solidFill>
          <a:ln w="12700">
            <a:solidFill>
              <a:srgbClr val="1A6B3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859536"/>
            <a:ext cx="50292" cy="2267712"/>
          </a:xfrm>
          <a:prstGeom prst="rect">
            <a:avLst/>
          </a:prstGeom>
          <a:solidFill>
            <a:srgbClr val="1A6B30"/>
          </a:solidFill>
          <a:ln w="12700">
            <a:solidFill>
              <a:srgbClr val="1A6B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859536"/>
            <a:ext cx="27432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1 — Unit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017520" y="859536"/>
            <a:ext cx="9144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11/11 PASS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1115568"/>
            <a:ext cx="3657600" cy="1737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TextEncoder output shape (512,)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274320" y="1289304"/>
            <a:ext cx="3657600" cy="1737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TextEncoder L2 norm = 1.0 ± 0.01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74320" y="1463040"/>
            <a:ext cx="3657600" cy="1737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NER entities non-empty list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274320" y="1636776"/>
            <a:ext cx="3657600" cy="1737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Medical domain hint fires (true positive)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274320" y="1810512"/>
            <a:ext cx="3657600" cy="1737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false medical hint (true negative)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274320" y="1984248"/>
            <a:ext cx="3657600" cy="1737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Embedding distinctness &lt; 0.95 cosine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274320" y="2157984"/>
            <a:ext cx="3657600" cy="1737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Emotion centroids (8,512) non-zero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74320" y="2331720"/>
            <a:ext cx="3657600" cy="1737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FAISS index loaded (80K vectors)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274320" y="2505456"/>
            <a:ext cx="3657600" cy="1737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KG medical loaded (&gt;100 entities)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274320" y="2679192"/>
            <a:ext cx="3657600" cy="1737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Domain config paths valid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274320" y="2852928"/>
            <a:ext cx="3657600" cy="1737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AudioEncoder centroids all non-zero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4187952" y="859536"/>
            <a:ext cx="3840480" cy="2267712"/>
          </a:xfrm>
          <a:prstGeom prst="rect">
            <a:avLst/>
          </a:prstGeom>
          <a:solidFill>
            <a:srgbClr val="D8F2DF"/>
          </a:solidFill>
          <a:ln w="12700">
            <a:solidFill>
              <a:srgbClr val="1A6B3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87952" y="859536"/>
            <a:ext cx="50292" cy="2267712"/>
          </a:xfrm>
          <a:prstGeom prst="rect">
            <a:avLst/>
          </a:prstGeom>
          <a:solidFill>
            <a:srgbClr val="1A6B30"/>
          </a:solidFill>
          <a:ln w="12700">
            <a:solidFill>
              <a:srgbClr val="1A6B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79392" y="859536"/>
            <a:ext cx="27432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2 — Integration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022592" y="859536"/>
            <a:ext cx="9144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 PASS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79392" y="1115568"/>
            <a:ext cx="3657600" cy="1737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Pipeline output contract (text, sources, confidence)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4279392" y="1289304"/>
            <a:ext cx="3657600" cy="1737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Sources list non-empty (≥1 doc)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4279392" y="1463040"/>
            <a:ext cx="3657600" cy="1737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Rejection path: low-confidence query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4279392" y="1636776"/>
            <a:ext cx="3657600" cy="1737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Retriever returns top-5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4279392" y="1810512"/>
            <a:ext cx="3657600" cy="1737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Re-ranker applies KG boost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4279392" y="1984248"/>
            <a:ext cx="3657600" cy="1737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Generation completes (if Groq key present)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8193024" y="859536"/>
            <a:ext cx="3840480" cy="2267712"/>
          </a:xfrm>
          <a:prstGeom prst="rect">
            <a:avLst/>
          </a:prstGeom>
          <a:solidFill>
            <a:srgbClr val="D8F2DF"/>
          </a:solidFill>
          <a:ln w="12700">
            <a:solidFill>
              <a:srgbClr val="1A6B3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193024" y="859536"/>
            <a:ext cx="50292" cy="2267712"/>
          </a:xfrm>
          <a:prstGeom prst="rect">
            <a:avLst/>
          </a:prstGeom>
          <a:solidFill>
            <a:srgbClr val="1A6B30"/>
          </a:solidFill>
          <a:ln w="12700">
            <a:solidFill>
              <a:srgbClr val="1A6B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84464" y="859536"/>
            <a:ext cx="27432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3 — Domain Swap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1027664" y="859536"/>
            <a:ext cx="9144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 PASS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84464" y="1115568"/>
            <a:ext cx="3657600" cy="1737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Manual swap: general → medical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8284464" y="1289304"/>
            <a:ext cx="3657600" cy="1737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Medical query auto-swap triggered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8284464" y="1463040"/>
            <a:ext cx="3657600" cy="1737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Domain swap time &lt; 5s (actual: 1.35s)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8284464" y="1636776"/>
            <a:ext cx="3657600" cy="1737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COCO index size after general load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8284464" y="1810512"/>
            <a:ext cx="3657600" cy="1737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ROCO index size after medical load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8284464" y="1984248"/>
            <a:ext cx="3657600" cy="1737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Swap back: medical → general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182880" y="3200400"/>
            <a:ext cx="3840480" cy="2267712"/>
          </a:xfrm>
          <a:prstGeom prst="rect">
            <a:avLst/>
          </a:prstGeom>
          <a:solidFill>
            <a:srgbClr val="D8F2DF"/>
          </a:solidFill>
          <a:ln w="12700">
            <a:solidFill>
              <a:srgbClr val="1A6B3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182880" y="3200400"/>
            <a:ext cx="50292" cy="2267712"/>
          </a:xfrm>
          <a:prstGeom prst="rect">
            <a:avLst/>
          </a:prstGeom>
          <a:solidFill>
            <a:srgbClr val="1A6B30"/>
          </a:solidFill>
          <a:ln w="12700">
            <a:solidFill>
              <a:srgbClr val="1A6B3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3200400"/>
            <a:ext cx="27432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4 — Confidence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017520" y="3200400"/>
            <a:ext cx="9144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 PASS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74320" y="3456432"/>
            <a:ext cx="3657600" cy="1737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tier: score ≥ 0.40 general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274320" y="3630168"/>
            <a:ext cx="3657600" cy="1737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Partial tier: 0.20–0.40 range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274320" y="3803904"/>
            <a:ext cx="3657600" cy="1737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Rejected tier: &lt; 0.20 no LLM call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274320" y="3977640"/>
            <a:ext cx="3657600" cy="1737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Medical threshold stricter (≥0.55)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274320" y="4151376"/>
            <a:ext cx="3657600" cy="1737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Rejection prevents hallucination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4187952" y="3200400"/>
            <a:ext cx="3840480" cy="2267712"/>
          </a:xfrm>
          <a:prstGeom prst="rect">
            <a:avLst/>
          </a:prstGeom>
          <a:solidFill>
            <a:srgbClr val="FFF0CC"/>
          </a:solidFill>
          <a:ln w="12700">
            <a:solidFill>
              <a:srgbClr val="8A520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187952" y="3200400"/>
            <a:ext cx="50292" cy="2267712"/>
          </a:xfrm>
          <a:prstGeom prst="rect">
            <a:avLst/>
          </a:prstGeom>
          <a:solidFill>
            <a:srgbClr val="8A5200"/>
          </a:solidFill>
          <a:ln w="12700">
            <a:solidFill>
              <a:srgbClr val="8A52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79392" y="3200400"/>
            <a:ext cx="27432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5 — Retrieval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022592" y="3200400"/>
            <a:ext cx="9144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 PASS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279392" y="3456432"/>
            <a:ext cx="3657600" cy="1737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P@1 &gt; 30% on ROCO val ✓  (62.8%)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4279392" y="3630168"/>
            <a:ext cx="3657600" cy="1737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P@3 &gt; 60% on ROCO val ✓  (77.0%)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4279392" y="3803904"/>
            <a:ext cx="3657600" cy="1737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MRR &gt; 0.70 on ROCO val ✓  (0.767)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4279392" y="3977640"/>
            <a:ext cx="3657600" cy="1737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Latency &lt; 500ms per query ✓  (34.7ms)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4279392" y="4151376"/>
            <a:ext cx="3657600" cy="1737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Latency &lt; 200ms ✗  (226.9ms — Colab batch)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8193024" y="3200400"/>
            <a:ext cx="3840480" cy="2267712"/>
          </a:xfrm>
          <a:prstGeom prst="rect">
            <a:avLst/>
          </a:prstGeom>
          <a:solidFill>
            <a:srgbClr val="D8F2DF"/>
          </a:solidFill>
          <a:ln w="12700">
            <a:solidFill>
              <a:srgbClr val="1A6B3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8193024" y="3200400"/>
            <a:ext cx="50292" cy="2267712"/>
          </a:xfrm>
          <a:prstGeom prst="rect">
            <a:avLst/>
          </a:prstGeom>
          <a:solidFill>
            <a:srgbClr val="1A6B30"/>
          </a:solidFill>
          <a:ln w="12700">
            <a:solidFill>
              <a:srgbClr val="1A6B3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284464" y="3200400"/>
            <a:ext cx="27432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6 — Regression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1027664" y="3200400"/>
            <a:ext cx="9144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 PASS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8284464" y="3456432"/>
            <a:ext cx="3657600" cy="1737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COCO retrieval still functional (P@1=21.8%)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8284464" y="3630168"/>
            <a:ext cx="3657600" cy="1737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TextProjection epoch 15 confirmed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8284464" y="3803904"/>
            <a:ext cx="3657600" cy="1737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8 emotion centroids non-zero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8284464" y="3977640"/>
            <a:ext cx="3657600" cy="1737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BERT output dim = 768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8284464" y="4151376"/>
            <a:ext cx="3657600" cy="1737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ResNet pool5 output dim = 2048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182880" y="5596128"/>
            <a:ext cx="36576" cy="237744"/>
          </a:xfrm>
          <a:prstGeom prst="rect">
            <a:avLst/>
          </a:prstGeom>
          <a:solidFill>
            <a:srgbClr val="14407A"/>
          </a:solidFill>
          <a:ln w="12700">
            <a:solidFill>
              <a:srgbClr val="14407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56032" y="5596128"/>
            <a:ext cx="36576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Results (Suite 5 — 500 ROCO validation samples)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182880" y="5815584"/>
            <a:ext cx="1627632" cy="237744"/>
          </a:xfrm>
          <a:prstGeom prst="rect">
            <a:avLst/>
          </a:prstGeom>
          <a:solidFill>
            <a:srgbClr val="0D7C5F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82880" y="5815584"/>
            <a:ext cx="162763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P@1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182880" y="6053328"/>
            <a:ext cx="1627632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62.8%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182880" y="6400800"/>
            <a:ext cx="1627632" cy="1645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(target &gt; 30%)  ✓</a:t>
            </a:r>
            <a:endParaRPr lang="en-US" sz="600" dirty="0"/>
          </a:p>
        </p:txBody>
      </p:sp>
      <p:sp>
        <p:nvSpPr>
          <p:cNvPr id="77" name="Shape 75"/>
          <p:cNvSpPr/>
          <p:nvPr/>
        </p:nvSpPr>
        <p:spPr>
          <a:xfrm>
            <a:off x="182880" y="5815584"/>
            <a:ext cx="1627632" cy="749808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0D7C5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892808" y="5815584"/>
            <a:ext cx="1627632" cy="237744"/>
          </a:xfrm>
          <a:prstGeom prst="rect">
            <a:avLst/>
          </a:prstGeom>
          <a:solidFill>
            <a:srgbClr val="14407A"/>
          </a:solidFill>
          <a:ln w="12700">
            <a:solidFill>
              <a:srgbClr val="14407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892808" y="5815584"/>
            <a:ext cx="162763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P@3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1892808" y="6053328"/>
            <a:ext cx="1627632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77.0%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1892808" y="5815584"/>
            <a:ext cx="1627632" cy="749808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14407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602736" y="5815584"/>
            <a:ext cx="1627632" cy="237744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602736" y="5815584"/>
            <a:ext cx="162763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P@5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3602736" y="6053328"/>
            <a:ext cx="1627632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83.2%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3602736" y="5815584"/>
            <a:ext cx="1627632" cy="749808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5B2D8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312664" y="5815584"/>
            <a:ext cx="1627632" cy="237744"/>
          </a:xfrm>
          <a:prstGeom prst="rect">
            <a:avLst/>
          </a:prstGeom>
          <a:solidFill>
            <a:srgbClr val="1A6B30"/>
          </a:solidFill>
          <a:ln w="12700">
            <a:solidFill>
              <a:srgbClr val="1A6B3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312664" y="5815584"/>
            <a:ext cx="162763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5312664" y="6053328"/>
            <a:ext cx="1627632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0.767</a:t>
            </a:r>
            <a:endParaRPr lang="en-US" sz="1300" dirty="0"/>
          </a:p>
        </p:txBody>
      </p:sp>
      <p:sp>
        <p:nvSpPr>
          <p:cNvPr id="89" name="Text 87"/>
          <p:cNvSpPr/>
          <p:nvPr/>
        </p:nvSpPr>
        <p:spPr>
          <a:xfrm>
            <a:off x="5312664" y="6400800"/>
            <a:ext cx="1627632" cy="1645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(target &gt; 0.70)  ✓</a:t>
            </a:r>
            <a:endParaRPr lang="en-US" sz="600" dirty="0"/>
          </a:p>
        </p:txBody>
      </p:sp>
      <p:sp>
        <p:nvSpPr>
          <p:cNvPr id="90" name="Shape 88"/>
          <p:cNvSpPr/>
          <p:nvPr/>
        </p:nvSpPr>
        <p:spPr>
          <a:xfrm>
            <a:off x="5312664" y="5815584"/>
            <a:ext cx="1627632" cy="749808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1A6B3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022592" y="5815584"/>
            <a:ext cx="1627632" cy="237744"/>
          </a:xfrm>
          <a:prstGeom prst="rect">
            <a:avLst/>
          </a:prstGeom>
          <a:solidFill>
            <a:srgbClr val="6B1F6B"/>
          </a:solidFill>
          <a:ln w="12700">
            <a:solidFill>
              <a:srgbClr val="6B1F6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022592" y="5815584"/>
            <a:ext cx="162763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NDCG@5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7022592" y="6053328"/>
            <a:ext cx="1627632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0.7356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7022592" y="5815584"/>
            <a:ext cx="1627632" cy="749808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6B1F6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732520" y="5815584"/>
            <a:ext cx="1627632" cy="237744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732520" y="5815584"/>
            <a:ext cx="162763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8732520" y="6053328"/>
            <a:ext cx="1627632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34.7ms</a:t>
            </a:r>
            <a:endParaRPr lang="en-US" sz="1300" dirty="0"/>
          </a:p>
        </p:txBody>
      </p:sp>
      <p:sp>
        <p:nvSpPr>
          <p:cNvPr id="98" name="Text 96"/>
          <p:cNvSpPr/>
          <p:nvPr/>
        </p:nvSpPr>
        <p:spPr>
          <a:xfrm>
            <a:off x="8732520" y="6400800"/>
            <a:ext cx="1627632" cy="1645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query (T4)</a:t>
            </a:r>
            <a:endParaRPr lang="en-US" sz="600" dirty="0"/>
          </a:p>
        </p:txBody>
      </p:sp>
      <p:sp>
        <p:nvSpPr>
          <p:cNvPr id="99" name="Shape 97"/>
          <p:cNvSpPr/>
          <p:nvPr/>
        </p:nvSpPr>
        <p:spPr>
          <a:xfrm>
            <a:off x="8732520" y="5815584"/>
            <a:ext cx="1627632" cy="749808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442448" y="5815584"/>
            <a:ext cx="1627632" cy="237744"/>
          </a:xfrm>
          <a:prstGeom prst="rect">
            <a:avLst/>
          </a:prstGeom>
          <a:solidFill>
            <a:srgbClr val="0D7C5F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0442448" y="5815584"/>
            <a:ext cx="162763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swap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10442448" y="6053328"/>
            <a:ext cx="1627632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1.35s</a:t>
            </a:r>
            <a:endParaRPr lang="en-US" sz="1300" dirty="0"/>
          </a:p>
        </p:txBody>
      </p:sp>
      <p:sp>
        <p:nvSpPr>
          <p:cNvPr id="103" name="Text 101"/>
          <p:cNvSpPr/>
          <p:nvPr/>
        </p:nvSpPr>
        <p:spPr>
          <a:xfrm>
            <a:off x="10442448" y="6400800"/>
            <a:ext cx="1627632" cy="1645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(target &lt; 5s)  ✓</a:t>
            </a:r>
            <a:endParaRPr lang="en-US" sz="600" dirty="0"/>
          </a:p>
        </p:txBody>
      </p:sp>
      <p:sp>
        <p:nvSpPr>
          <p:cNvPr id="104" name="Shape 102"/>
          <p:cNvSpPr/>
          <p:nvPr/>
        </p:nvSpPr>
        <p:spPr>
          <a:xfrm>
            <a:off x="10442448" y="5815584"/>
            <a:ext cx="1627632" cy="749808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0D7C5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91440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MIVA-KNIGHT  |  Month 4 — 8-Step Pipeline, Algorithms &amp; Formal Definitions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8600" y="274320"/>
            <a:ext cx="1170432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pseudocode  |  Smoke test theorem  |  Centroid optimality lemma  |  Fail-fast theorem  |  Domain-agnostic axiom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6583680"/>
            <a:ext cx="117043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MIVA-KNIGHT  |  IT 581 Capstone  |  Concordia University of Edmonton  |  Month 4 — ROCO Medical Domain Transfer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182880" y="621792"/>
            <a:ext cx="36576" cy="237744"/>
          </a:xfrm>
          <a:prstGeom prst="rect">
            <a:avLst/>
          </a:prstGeom>
          <a:solidFill>
            <a:srgbClr val="0D7C5F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621792"/>
            <a:ext cx="36576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 — 8-Step Pipeline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" y="859536"/>
            <a:ext cx="1371600" cy="950976"/>
          </a:xfrm>
          <a:prstGeom prst="rect">
            <a:avLst/>
          </a:prstGeom>
          <a:solidFill>
            <a:srgbClr val="F5F5F5"/>
          </a:solidFill>
          <a:ln w="10160">
            <a:solidFill>
              <a:srgbClr val="1A1A1A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859536"/>
            <a:ext cx="256032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859536"/>
            <a:ext cx="256032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859536"/>
            <a:ext cx="1078992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19456" y="1097280"/>
            <a:ext cx="1298448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import chain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detection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82880" y="1554480"/>
            <a:ext cx="13716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10s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572768" y="1335024"/>
            <a:ext cx="82296" cy="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673352" y="859536"/>
            <a:ext cx="1371600" cy="950976"/>
          </a:xfrm>
          <a:prstGeom prst="rect">
            <a:avLst/>
          </a:prstGeom>
          <a:solidFill>
            <a:srgbClr val="D1F0E6"/>
          </a:solidFill>
          <a:ln w="10160">
            <a:solidFill>
              <a:srgbClr val="0D7C5F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673352" y="859536"/>
            <a:ext cx="256032" cy="256032"/>
          </a:xfrm>
          <a:prstGeom prst="rect">
            <a:avLst/>
          </a:prstGeom>
          <a:solidFill>
            <a:srgbClr val="0D7C5F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73352" y="859536"/>
            <a:ext cx="256032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947672" y="859536"/>
            <a:ext cx="1078992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centroids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709928" y="1097280"/>
            <a:ext cx="1298448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RAVDESS → AudioProj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centroids.pt [8,512]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673352" y="1554480"/>
            <a:ext cx="13716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min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3063240" y="1335024"/>
            <a:ext cx="82296" cy="0"/>
          </a:xfrm>
          <a:prstGeom prst="line">
            <a:avLst/>
          </a:prstGeom>
          <a:noFill/>
          <a:ln w="15240">
            <a:solidFill>
              <a:srgbClr val="0D7C5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163824" y="859536"/>
            <a:ext cx="1371600" cy="950976"/>
          </a:xfrm>
          <a:prstGeom prst="rect">
            <a:avLst/>
          </a:prstGeom>
          <a:solidFill>
            <a:srgbClr val="F5E0F5"/>
          </a:solidFill>
          <a:ln w="10160">
            <a:solidFill>
              <a:srgbClr val="6B1F6B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63824" y="859536"/>
            <a:ext cx="256032" cy="256032"/>
          </a:xfrm>
          <a:prstGeom prst="rect">
            <a:avLst/>
          </a:prstGeom>
          <a:solidFill>
            <a:srgbClr val="6B1F6B"/>
          </a:solidFill>
          <a:ln w="12700">
            <a:solidFill>
              <a:srgbClr val="6B1F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63824" y="859536"/>
            <a:ext cx="256032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438144" y="859536"/>
            <a:ext cx="1078992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B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ROCO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200400" y="1097280"/>
            <a:ext cx="1298448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eltorio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81K pairs to Drive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3163824" y="1554480"/>
            <a:ext cx="13716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 min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4553712" y="1335024"/>
            <a:ext cx="82296" cy="0"/>
          </a:xfrm>
          <a:prstGeom prst="line">
            <a:avLst/>
          </a:prstGeom>
          <a:noFill/>
          <a:ln w="15240">
            <a:solidFill>
              <a:srgbClr val="6B1F6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654296" y="859536"/>
            <a:ext cx="1371600" cy="950976"/>
          </a:xfrm>
          <a:prstGeom prst="rect">
            <a:avLst/>
          </a:prstGeom>
          <a:solidFill>
            <a:srgbClr val="D7E4F5"/>
          </a:solidFill>
          <a:ln w="10160">
            <a:solidFill>
              <a:srgbClr val="14407A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54296" y="859536"/>
            <a:ext cx="256032" cy="256032"/>
          </a:xfrm>
          <a:prstGeom prst="rect">
            <a:avLst/>
          </a:prstGeom>
          <a:solidFill>
            <a:srgbClr val="14407A"/>
          </a:solidFill>
          <a:ln w="12700">
            <a:solidFill>
              <a:srgbClr val="1440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54296" y="859536"/>
            <a:ext cx="256032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928616" y="859536"/>
            <a:ext cx="1078992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FAISS + KG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690872" y="1097280"/>
            <a:ext cx="1298448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202K vecs  IndexFlatIP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er_kg_general.pkl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4654296" y="1554480"/>
            <a:ext cx="13716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6044184" y="1335024"/>
            <a:ext cx="82296" cy="0"/>
          </a:xfrm>
          <a:prstGeom prst="line">
            <a:avLst/>
          </a:prstGeom>
          <a:noFill/>
          <a:ln w="15240">
            <a:solidFill>
              <a:srgbClr val="14407A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144768" y="859536"/>
            <a:ext cx="1371600" cy="950976"/>
          </a:xfrm>
          <a:prstGeom prst="rect">
            <a:avLst/>
          </a:prstGeom>
          <a:solidFill>
            <a:srgbClr val="F5E0F5"/>
          </a:solidFill>
          <a:ln w="10160">
            <a:solidFill>
              <a:srgbClr val="6B1F6B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44768" y="859536"/>
            <a:ext cx="256032" cy="256032"/>
          </a:xfrm>
          <a:prstGeom prst="rect">
            <a:avLst/>
          </a:prstGeom>
          <a:solidFill>
            <a:srgbClr val="6B1F6B"/>
          </a:solidFill>
          <a:ln w="12700">
            <a:solidFill>
              <a:srgbClr val="6B1F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44768" y="859536"/>
            <a:ext cx="256032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419088" y="859536"/>
            <a:ext cx="1078992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B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ImageProj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181344" y="1097280"/>
            <a:ext cx="1298448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ROCO InfoNCE  15 epochs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loss=0.2428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6144768" y="1554480"/>
            <a:ext cx="13716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min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7534656" y="1335024"/>
            <a:ext cx="82296" cy="0"/>
          </a:xfrm>
          <a:prstGeom prst="line">
            <a:avLst/>
          </a:prstGeom>
          <a:noFill/>
          <a:ln w="15240">
            <a:solidFill>
              <a:srgbClr val="6B1F6B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635240" y="859536"/>
            <a:ext cx="1371600" cy="950976"/>
          </a:xfrm>
          <a:prstGeom prst="rect">
            <a:avLst/>
          </a:prstGeom>
          <a:solidFill>
            <a:srgbClr val="D7E4F5"/>
          </a:solidFill>
          <a:ln w="10160">
            <a:solidFill>
              <a:srgbClr val="14407A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635240" y="859536"/>
            <a:ext cx="256032" cy="256032"/>
          </a:xfrm>
          <a:prstGeom prst="rect">
            <a:avLst/>
          </a:prstGeom>
          <a:solidFill>
            <a:srgbClr val="14407A"/>
          </a:solidFill>
          <a:ln w="12700">
            <a:solidFill>
              <a:srgbClr val="14407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35240" y="859536"/>
            <a:ext cx="256032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909560" y="859536"/>
            <a:ext cx="1078992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ROCO FAISS index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671816" y="1097280"/>
            <a:ext cx="1298448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80K vecs  IndexFlatIP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roco_medical.faiss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7635240" y="1554480"/>
            <a:ext cx="13716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9025128" y="1335024"/>
            <a:ext cx="82296" cy="0"/>
          </a:xfrm>
          <a:prstGeom prst="line">
            <a:avLst/>
          </a:prstGeom>
          <a:noFill/>
          <a:ln w="15240">
            <a:solidFill>
              <a:srgbClr val="14407A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9125712" y="859536"/>
            <a:ext cx="1371600" cy="950976"/>
          </a:xfrm>
          <a:prstGeom prst="rect">
            <a:avLst/>
          </a:prstGeom>
          <a:solidFill>
            <a:srgbClr val="FFF0CC"/>
          </a:solidFill>
          <a:ln w="10160">
            <a:solidFill>
              <a:srgbClr val="8A520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9125712" y="859536"/>
            <a:ext cx="256032" cy="256032"/>
          </a:xfrm>
          <a:prstGeom prst="rect">
            <a:avLst/>
          </a:prstGeom>
          <a:solidFill>
            <a:srgbClr val="8A5200"/>
          </a:solidFill>
          <a:ln w="12700">
            <a:solidFill>
              <a:srgbClr val="8A52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25712" y="859536"/>
            <a:ext cx="256032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9400032" y="859536"/>
            <a:ext cx="1078992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KG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9162288" y="1097280"/>
            <a:ext cx="1298448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scispaCy + RadLex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er_kg_medical.pkl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9125712" y="1554480"/>
            <a:ext cx="13716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10515600" y="1335024"/>
            <a:ext cx="82296" cy="0"/>
          </a:xfrm>
          <a:prstGeom prst="line">
            <a:avLst/>
          </a:prstGeom>
          <a:noFill/>
          <a:ln w="15240">
            <a:solidFill>
              <a:srgbClr val="8A5200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10616184" y="859536"/>
            <a:ext cx="1371600" cy="950976"/>
          </a:xfrm>
          <a:prstGeom prst="rect">
            <a:avLst/>
          </a:prstGeom>
          <a:solidFill>
            <a:srgbClr val="D8F2DF"/>
          </a:solidFill>
          <a:ln w="10160">
            <a:solidFill>
              <a:srgbClr val="1A6B3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10616184" y="859536"/>
            <a:ext cx="256032" cy="256032"/>
          </a:xfrm>
          <a:prstGeom prst="rect">
            <a:avLst/>
          </a:prstGeom>
          <a:solidFill>
            <a:srgbClr val="1A6B30"/>
          </a:solidFill>
          <a:ln w="12700">
            <a:solidFill>
              <a:srgbClr val="1A6B3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616184" y="859536"/>
            <a:ext cx="256032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0890504" y="859536"/>
            <a:ext cx="1078992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10652760" y="1097280"/>
            <a:ext cx="1298448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P@1 P@3 MRR on ROCO val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month4_results.json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10616184" y="1554480"/>
            <a:ext cx="13716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182880" y="1920240"/>
            <a:ext cx="36576" cy="237744"/>
          </a:xfrm>
          <a:prstGeom prst="rect">
            <a:avLst/>
          </a:prstGeom>
          <a:solidFill>
            <a:srgbClr val="0D7C5F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56032" y="1920240"/>
            <a:ext cx="36576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BUILD_EMOTION_CENTROIDS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82880" y="2139696"/>
            <a:ext cx="5650992" cy="2157984"/>
          </a:xfrm>
          <a:prstGeom prst="rect">
            <a:avLst/>
          </a:prstGeom>
          <a:solidFill>
            <a:srgbClr val="1E1E2E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0040" y="2176272"/>
            <a:ext cx="5468112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 2: BUILD_EMOTION_CENTROIDS (Step 2)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320040" y="2336292"/>
            <a:ext cx="5468112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AUDIO_PROJ_PATH, RAVDESS_CACHE (1440 entries)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320040" y="2496312"/>
            <a:ext cx="5468112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emotion_centroids.pt  Tensor[8, 512]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320040" y="2656332"/>
            <a:ext cx="5468112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 projection ← AudioProjection(wav2vec_dim=512)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320040" y="2816352"/>
            <a:ext cx="5468112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 cache ← torch.load(RAVDESS_CACHE)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320040" y="2976372"/>
            <a:ext cx="5468112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 for filename, data in cache: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320040" y="3136392"/>
            <a:ext cx="5468112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4:   emb ← data['embedding'].unsqueeze(0)   # [1,512]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320040" y="3296412"/>
            <a:ext cx="5468112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5:   projected ← projection(emb).squeeze(0)  # [512] on S⁵¹¹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320040" y="3456432"/>
            <a:ext cx="5468112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6:   emotion_embs[data['emotion']].append(projected)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320040" y="3616452"/>
            <a:ext cx="5468112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7: for emotion e in EMOTIONS (8 total):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320040" y="3776472"/>
            <a:ext cx="5468112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8:   μ_e ← stack(emotion_embs[e]).mean(dim=0)   # Euclidean mean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320040" y="3936492"/>
            <a:ext cx="5468112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9:   centroid ← F.normalize(μ_e, p=2, dim=0)    # back to S⁵¹¹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320040" y="4096512"/>
            <a:ext cx="5468112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 torch.save(stack(centroids), CENTROIDS_PATH) # [8,512]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5961888" y="1920240"/>
            <a:ext cx="36576" cy="237744"/>
          </a:xfrm>
          <a:prstGeom prst="rect">
            <a:avLst/>
          </a:prstGeom>
          <a:solidFill>
            <a:srgbClr val="6B1F6B"/>
          </a:solidFill>
          <a:ln w="12700">
            <a:solidFill>
              <a:srgbClr val="6B1F6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035040" y="1920240"/>
            <a:ext cx="36576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FINETUNE_ROCO (Step 5)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961888" y="2139696"/>
            <a:ext cx="6035040" cy="2157984"/>
          </a:xfrm>
          <a:prstGeom prst="rect">
            <a:avLst/>
          </a:prstGeom>
          <a:solidFill>
            <a:srgbClr val="1E1E2E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99048" y="2176272"/>
            <a:ext cx="585216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 3: FINETUNE_IMAGE_PROJECTION_ROCO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6099048" y="2336292"/>
            <a:ext cx="585216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Config: B=32, epochs=15, LR_text=1e-5, LR_img=5e-5, τ=0.07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6099048" y="2496312"/>
            <a:ext cx="585216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 ROCODataset ← filter valid image paths, shuffle, cap 20K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6099048" y="2656332"/>
            <a:ext cx="585216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 BERT.eval()  ResNet.eval()  # fully frozen — no grads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6099048" y="2816352"/>
            <a:ext cx="585216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 for epoch e in 1..15: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6099048" y="2976372"/>
            <a:ext cx="585216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4:   for batch {captions, images}: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6099048" y="3136392"/>
            <a:ext cx="585216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5:     with no_grad: bert_emb ← BERT(tokenise(caps))   #[B,768]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6099048" y="3296412"/>
            <a:ext cx="585216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6:     text_emb ← L2_norm(TextProj(bert_emb))          #[B,512]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6099048" y="3456432"/>
            <a:ext cx="585216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7:     with no_grad: feats ← ResNet(images).squeeze()  #[B,2048]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6099048" y="3616452"/>
            <a:ext cx="585216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8:     img_emb ← ImageProj_ROCO(feats)                 #[B,512]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6099048" y="3776472"/>
            <a:ext cx="585216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9:     loss ← InfoNCE(text_emb, img_emb, τ=0.07)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6099048" y="3936492"/>
            <a:ext cx="585216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    loss.backward(); optimizer.step()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6099048" y="4096512"/>
            <a:ext cx="585216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    if avg_loss &lt; best: save(img_proj, ROCO_IMG_PROJ)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182880" y="4389120"/>
            <a:ext cx="36576" cy="237744"/>
          </a:xfrm>
          <a:prstGeom prst="rect">
            <a:avLst/>
          </a:prstGeom>
          <a:solidFill>
            <a:srgbClr val="14407A"/>
          </a:solidFill>
          <a:ln w="12700">
            <a:solidFill>
              <a:srgbClr val="14407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56032" y="4389120"/>
            <a:ext cx="36576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Results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182880" y="4608576"/>
            <a:ext cx="5760720" cy="877824"/>
          </a:xfrm>
          <a:prstGeom prst="rect">
            <a:avLst/>
          </a:prstGeom>
          <a:solidFill>
            <a:srgbClr val="D1F0E6"/>
          </a:solidFill>
          <a:ln w="12700">
            <a:solidFill>
              <a:srgbClr val="0D7C5F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99" name="Shape 97"/>
          <p:cNvSpPr/>
          <p:nvPr/>
        </p:nvSpPr>
        <p:spPr>
          <a:xfrm>
            <a:off x="182880" y="4608576"/>
            <a:ext cx="50292" cy="877824"/>
          </a:xfrm>
          <a:prstGeom prst="rect">
            <a:avLst/>
          </a:prstGeom>
          <a:solidFill>
            <a:srgbClr val="0D7C5F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74320" y="4608576"/>
            <a:ext cx="5596128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 — Spherical Centroid Optimality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274320" y="4828032"/>
            <a:ext cx="5596128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c̄_e = arg min_{v∈S⁵¹¹} Σᵢ arccos²(â_i^(e) · v)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c̄_e = F.normalize(μ_e)  where μ_e = (1/N_e)Σᵢ â_i^(e) ∈ ℝ⁵¹²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re-normalised Euclidean mean is the point on S⁵¹¹ minimising sum of squared geodesic distances.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6199632" y="4608576"/>
            <a:ext cx="5760720" cy="877824"/>
          </a:xfrm>
          <a:prstGeom prst="rect">
            <a:avLst/>
          </a:prstGeom>
          <a:solidFill>
            <a:srgbClr val="D7E4F5"/>
          </a:solidFill>
          <a:ln w="12700">
            <a:solidFill>
              <a:srgbClr val="14407A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103" name="Shape 101"/>
          <p:cNvSpPr/>
          <p:nvPr/>
        </p:nvSpPr>
        <p:spPr>
          <a:xfrm>
            <a:off x="6199632" y="4608576"/>
            <a:ext cx="50292" cy="877824"/>
          </a:xfrm>
          <a:prstGeom prst="rect">
            <a:avLst/>
          </a:prstGeom>
          <a:solidFill>
            <a:srgbClr val="14407A"/>
          </a:solidFill>
          <a:ln w="12700">
            <a:solidFill>
              <a:srgbClr val="14407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291072" y="4608576"/>
            <a:ext cx="5596128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— Fail-Fast Principle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6291072" y="4828032"/>
            <a:ext cx="5596128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wasted compute is minimised when failure is detected earliest.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 catches ModuleNotFoundError in &lt; 10s with ZERO GPU memory before 45s BERT/ResNet load.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Ratio: (BERT load 45s + ResNet 20s) / smoke_test 10s = 6.5× waste reduction.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182880" y="5541264"/>
            <a:ext cx="5760720" cy="877824"/>
          </a:xfrm>
          <a:prstGeom prst="rect">
            <a:avLst/>
          </a:prstGeom>
          <a:solidFill>
            <a:srgbClr val="FAE0E0"/>
          </a:solidFill>
          <a:ln w="12700">
            <a:solidFill>
              <a:srgbClr val="9B202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107" name="Shape 105"/>
          <p:cNvSpPr/>
          <p:nvPr/>
        </p:nvSpPr>
        <p:spPr>
          <a:xfrm>
            <a:off x="182880" y="5541264"/>
            <a:ext cx="50292" cy="877824"/>
          </a:xfrm>
          <a:prstGeom prst="rect">
            <a:avLst/>
          </a:prstGeom>
          <a:solidFill>
            <a:srgbClr val="9B2020"/>
          </a:solidFill>
          <a:ln w="12700">
            <a:solidFill>
              <a:srgbClr val="9B202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74320" y="5541264"/>
            <a:ext cx="5596128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— Exception Isolation</a:t>
            </a:r>
            <a:endParaRPr lang="en-US" sz="750" dirty="0"/>
          </a:p>
        </p:txBody>
      </p:sp>
      <p:sp>
        <p:nvSpPr>
          <p:cNvPr id="109" name="Text 107"/>
          <p:cNvSpPr/>
          <p:nvPr/>
        </p:nvSpPr>
        <p:spPr>
          <a:xfrm>
            <a:off x="274320" y="5760720"/>
            <a:ext cx="5596128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test functions f₁...fₙ: uncaught exception in fᵢ does NOT abort fᵢ₊₁...fₙ.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try/except in _run() catches AssertionError + base Exception.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always reaches TestResult construction → normal return to calling loop. □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6199632" y="5541264"/>
            <a:ext cx="5760720" cy="877824"/>
          </a:xfrm>
          <a:prstGeom prst="rect">
            <a:avLst/>
          </a:prstGeom>
          <a:solidFill>
            <a:srgbClr val="F5E0F5"/>
          </a:solidFill>
          <a:ln w="12700">
            <a:solidFill>
              <a:srgbClr val="6B1F6B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111" name="Shape 109"/>
          <p:cNvSpPr/>
          <p:nvPr/>
        </p:nvSpPr>
        <p:spPr>
          <a:xfrm>
            <a:off x="6199632" y="5541264"/>
            <a:ext cx="50292" cy="877824"/>
          </a:xfrm>
          <a:prstGeom prst="rect">
            <a:avLst/>
          </a:prstGeom>
          <a:solidFill>
            <a:srgbClr val="6B1F6B"/>
          </a:solidFill>
          <a:ln w="12700">
            <a:solidFill>
              <a:srgbClr val="6B1F6B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291072" y="5541264"/>
            <a:ext cx="5596128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B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 — Domain-Agnostic Space</a:t>
            </a:r>
            <a:endParaRPr lang="en-US" sz="750" dirty="0"/>
          </a:p>
        </p:txBody>
      </p:sp>
      <p:sp>
        <p:nvSpPr>
          <p:cNvPr id="113" name="Text 111"/>
          <p:cNvSpPr/>
          <p:nvPr/>
        </p:nvSpPr>
        <p:spPr>
          <a:xfrm>
            <a:off x="6291072" y="5760720"/>
            <a:ext cx="5596128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W_shared={W_TextProj,W_AudioProj,W_BERT,W_Wav2Vec} fixed ∀ domains.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transfer: retrain only ImageProjection (~5.25M / 235M = 2.23% of params).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swap measured: 1.35s  (FAISS reload 1-3s + KG reload 0.5-2s).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MIVA-KNIGHT Month 4 — Medical Domain Transfer</dc:title>
  <dc:subject>PptxGenJS Presentation</dc:subject>
  <dc:creator>PptxGenJS</dc:creator>
  <cp:lastModifiedBy>PptxGenJS</cp:lastModifiedBy>
  <cp:revision>1</cp:revision>
  <dcterms:created xsi:type="dcterms:W3CDTF">2026-03-17T17:58:24Z</dcterms:created>
  <dcterms:modified xsi:type="dcterms:W3CDTF">2026-03-17T17:58:24Z</dcterms:modified>
</cp:coreProperties>
</file>