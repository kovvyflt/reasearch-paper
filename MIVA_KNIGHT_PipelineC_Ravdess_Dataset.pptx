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61520" cy="502920"/>
          </a:xfrm>
          <a:prstGeom prst="rect">
            <a:avLst/>
          </a:prstGeom>
          <a:solidFill>
            <a:srgbClr val="0F3460"/>
          </a:solidFill>
          <a:ln w="12700">
            <a:solidFill>
              <a:srgbClr val="0F3460"/>
            </a:solidFill>
            <a:prstDash val="solid"/>
          </a:ln>
        </p:spPr>
      </p:sp>
      <p:sp>
        <p:nvSpPr>
          <p:cNvPr id="3" name="Text 1"/>
          <p:cNvSpPr/>
          <p:nvPr/>
        </p:nvSpPr>
        <p:spPr>
          <a:xfrm>
            <a:off x="228600" y="0"/>
            <a:ext cx="10515600" cy="502920"/>
          </a:xfrm>
          <a:prstGeom prst="rect">
            <a:avLst/>
          </a:prstGeom>
          <a:noFill/>
          <a:ln/>
        </p:spPr>
        <p:txBody>
          <a:bodyPr wrap="square" lIns="38100" tIns="38100" rIns="38100" bIns="3810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Pipeline C — Context, Motivation &amp; The Month 2 Problem</a:t>
            </a:r>
            <a:endParaRPr lang="en-US" sz="1400" dirty="0"/>
          </a:p>
        </p:txBody>
      </p:sp>
      <p:sp>
        <p:nvSpPr>
          <p:cNvPr id="4" name="Text 2"/>
          <p:cNvSpPr/>
          <p:nvPr/>
        </p:nvSpPr>
        <p:spPr>
          <a:xfrm>
            <a:off x="10789920" y="0"/>
            <a:ext cx="1188720" cy="502920"/>
          </a:xfrm>
          <a:prstGeom prst="rect">
            <a:avLst/>
          </a:prstGeom>
          <a:noFill/>
          <a:ln/>
        </p:spPr>
        <p:txBody>
          <a:bodyPr wrap="square" lIns="38100" tIns="38100" rIns="38100" bIns="38100" rtlCol="0" anchor="ctr"/>
          <a:lstStyle/>
          <a:p>
            <a:pPr algn="r" indent="0" marL="0">
              <a:buNone/>
            </a:pPr>
            <a:r>
              <a:rPr lang="en-US" sz="1100" b="1" dirty="0">
                <a:solidFill>
                  <a:srgbClr val="9EC8FF"/>
                </a:solidFill>
                <a:latin typeface="Calibri" pitchFamily="34" charset="0"/>
                <a:ea typeface="Calibri" pitchFamily="34" charset="-122"/>
                <a:cs typeface="Calibri" pitchFamily="34" charset="-120"/>
              </a:rPr>
              <a:t>1/9</a:t>
            </a:r>
            <a:endParaRPr lang="en-US" sz="1100" dirty="0"/>
          </a:p>
        </p:txBody>
      </p:sp>
      <p:sp>
        <p:nvSpPr>
          <p:cNvPr id="5" name="Text 3"/>
          <p:cNvSpPr/>
          <p:nvPr/>
        </p:nvSpPr>
        <p:spPr>
          <a:xfrm>
            <a:off x="228600" y="274320"/>
            <a:ext cx="11704320" cy="237744"/>
          </a:xfrm>
          <a:prstGeom prst="rect">
            <a:avLst/>
          </a:prstGeom>
          <a:noFill/>
          <a:ln/>
        </p:spPr>
        <p:txBody>
          <a:bodyPr wrap="square" lIns="38100" tIns="38100" rIns="38100" bIns="38100" rtlCol="0" anchor="ctr"/>
          <a:lstStyle/>
          <a:p>
            <a:pPr algn="l" indent="0" marL="0">
              <a:buNone/>
            </a:pPr>
            <a:r>
              <a:rPr lang="en-US" sz="750" dirty="0">
                <a:solidFill>
                  <a:srgbClr val="9EC8FF"/>
                </a:solidFill>
                <a:latin typeface="Calibri" pitchFamily="34" charset="0"/>
                <a:ea typeface="Calibri" pitchFamily="34" charset="-122"/>
                <a:cs typeface="Calibri" pitchFamily="34" charset="-120"/>
              </a:rPr>
              <a:t>4-pipeline replan  |  Supervisor-mandated  |  Three compounding errors  |  Three targeted fixes</a:t>
            </a:r>
            <a:endParaRPr lang="en-US" sz="750" dirty="0"/>
          </a:p>
        </p:txBody>
      </p:sp>
      <p:sp>
        <p:nvSpPr>
          <p:cNvPr id="6" name="Shape 4"/>
          <p:cNvSpPr/>
          <p:nvPr/>
        </p:nvSpPr>
        <p:spPr>
          <a:xfrm>
            <a:off x="0" y="6583680"/>
            <a:ext cx="12161520" cy="274320"/>
          </a:xfrm>
          <a:prstGeom prst="rect">
            <a:avLst/>
          </a:prstGeom>
          <a:solidFill>
            <a:srgbClr val="0F3460"/>
          </a:solidFill>
          <a:ln w="12700">
            <a:solidFill>
              <a:srgbClr val="0F3460"/>
            </a:solidFill>
            <a:prstDash val="solid"/>
          </a:ln>
        </p:spPr>
      </p:sp>
      <p:sp>
        <p:nvSpPr>
          <p:cNvPr id="7" name="Text 5"/>
          <p:cNvSpPr/>
          <p:nvPr/>
        </p:nvSpPr>
        <p:spPr>
          <a:xfrm>
            <a:off x="228600" y="6583680"/>
            <a:ext cx="11704320" cy="274320"/>
          </a:xfrm>
          <a:prstGeom prst="rect">
            <a:avLst/>
          </a:prstGeom>
          <a:noFill/>
          <a:ln/>
        </p:spPr>
        <p:txBody>
          <a:bodyPr wrap="square" lIns="38100" tIns="38100" rIns="38100" bIns="38100" rtlCol="0" anchor="ctr"/>
          <a:lstStyle/>
          <a:p>
            <a:pPr algn="l" indent="0" marL="0">
              <a:buNone/>
            </a:pPr>
            <a:r>
              <a:rPr lang="en-US" sz="600" dirty="0">
                <a:solidFill>
                  <a:srgbClr val="9EC8FF"/>
                </a:solidFill>
                <a:latin typeface="Calibri" pitchFamily="34" charset="0"/>
                <a:ea typeface="Calibri" pitchFamily="34" charset="-122"/>
                <a:cs typeface="Calibri" pitchFamily="34" charset="-120"/>
              </a:rPr>
              <a:t>MIVA-KNIGHT  |  IT 581 Capstone  |  Concordia University of Edmonton  |  Pipeline C — RAVDESS Standalone Audio Emotion Training</a:t>
            </a:r>
            <a:endParaRPr lang="en-US" sz="600" dirty="0"/>
          </a:p>
        </p:txBody>
      </p:sp>
      <p:sp>
        <p:nvSpPr>
          <p:cNvPr id="8" name="Shape 6"/>
          <p:cNvSpPr/>
          <p:nvPr/>
        </p:nvSpPr>
        <p:spPr>
          <a:xfrm>
            <a:off x="182880" y="621792"/>
            <a:ext cx="36576" cy="237744"/>
          </a:xfrm>
          <a:prstGeom prst="rect">
            <a:avLst/>
          </a:prstGeom>
          <a:solidFill>
            <a:srgbClr val="14407A"/>
          </a:solidFill>
          <a:ln w="12700">
            <a:solidFill>
              <a:srgbClr val="14407A"/>
            </a:solidFill>
            <a:prstDash val="solid"/>
          </a:ln>
        </p:spPr>
      </p:sp>
      <p:sp>
        <p:nvSpPr>
          <p:cNvPr id="9" name="Text 7"/>
          <p:cNvSpPr/>
          <p:nvPr/>
        </p:nvSpPr>
        <p:spPr>
          <a:xfrm>
            <a:off x="256032" y="621792"/>
            <a:ext cx="5486400" cy="237744"/>
          </a:xfrm>
          <a:prstGeom prst="rect">
            <a:avLst/>
          </a:prstGeom>
          <a:noFill/>
          <a:ln/>
        </p:spPr>
        <p:txBody>
          <a:bodyPr wrap="square" lIns="38100" tIns="38100" rIns="38100" bIns="38100" rtlCol="0" anchor="ctr"/>
          <a:lstStyle/>
          <a:p>
            <a:pPr algn="l" indent="0" marL="0">
              <a:buNone/>
            </a:pPr>
            <a:r>
              <a:rPr lang="en-US" sz="800" b="1" dirty="0">
                <a:solidFill>
                  <a:srgbClr val="14407A"/>
                </a:solidFill>
                <a:latin typeface="Calibri" pitchFamily="34" charset="0"/>
                <a:ea typeface="Calibri" pitchFamily="34" charset="-122"/>
                <a:cs typeface="Calibri" pitchFamily="34" charset="-120"/>
              </a:rPr>
              <a:t>4-Pipeline Architecture — Where Pipeline C Fits</a:t>
            </a:r>
            <a:endParaRPr lang="en-US" sz="800" dirty="0"/>
          </a:p>
        </p:txBody>
      </p:sp>
      <p:sp>
        <p:nvSpPr>
          <p:cNvPr id="10" name="Shape 8"/>
          <p:cNvSpPr/>
          <p:nvPr/>
        </p:nvSpPr>
        <p:spPr>
          <a:xfrm>
            <a:off x="182880" y="859536"/>
            <a:ext cx="2816352" cy="914400"/>
          </a:xfrm>
          <a:prstGeom prst="rect">
            <a:avLst/>
          </a:prstGeom>
          <a:solidFill>
            <a:srgbClr val="D1F0E6"/>
          </a:solidFill>
          <a:ln w="8890">
            <a:solidFill>
              <a:srgbClr val="0D7C5F"/>
            </a:solidFill>
            <a:prstDash val="solid"/>
          </a:ln>
        </p:spPr>
      </p:sp>
      <p:sp>
        <p:nvSpPr>
          <p:cNvPr id="11" name="Text 9"/>
          <p:cNvSpPr/>
          <p:nvPr/>
        </p:nvSpPr>
        <p:spPr>
          <a:xfrm>
            <a:off x="274320" y="859536"/>
            <a:ext cx="2651760" cy="256032"/>
          </a:xfrm>
          <a:prstGeom prst="rect">
            <a:avLst/>
          </a:prstGeom>
          <a:noFill/>
          <a:ln/>
        </p:spPr>
        <p:txBody>
          <a:bodyPr wrap="square" lIns="38100" tIns="38100" rIns="38100" bIns="38100" rtlCol="0" anchor="ctr"/>
          <a:lstStyle/>
          <a:p>
            <a:pPr algn="l" indent="0" marL="0">
              <a:buNone/>
            </a:pPr>
            <a:r>
              <a:rPr lang="en-US" sz="900" b="1" dirty="0">
                <a:solidFill>
                  <a:srgbClr val="0D7C5F"/>
                </a:solidFill>
                <a:latin typeface="Calibri" pitchFamily="34" charset="0"/>
                <a:ea typeface="Calibri" pitchFamily="34" charset="-122"/>
                <a:cs typeface="Calibri" pitchFamily="34" charset="-120"/>
              </a:rPr>
              <a:t>Pipeline A</a:t>
            </a:r>
            <a:endParaRPr lang="en-US" sz="900" dirty="0"/>
          </a:p>
        </p:txBody>
      </p:sp>
      <p:sp>
        <p:nvSpPr>
          <p:cNvPr id="12" name="Text 10"/>
          <p:cNvSpPr/>
          <p:nvPr/>
        </p:nvSpPr>
        <p:spPr>
          <a:xfrm>
            <a:off x="274320" y="1097280"/>
            <a:ext cx="2651760" cy="475488"/>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COCO val2017</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Symmetric InfoNCE</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TextProj + ImageProj</a:t>
            </a:r>
            <a:endParaRPr lang="en-US" sz="750" dirty="0"/>
          </a:p>
        </p:txBody>
      </p:sp>
      <p:sp>
        <p:nvSpPr>
          <p:cNvPr id="13" name="Text 11"/>
          <p:cNvSpPr/>
          <p:nvPr/>
        </p:nvSpPr>
        <p:spPr>
          <a:xfrm>
            <a:off x="274320" y="1554480"/>
            <a:ext cx="2651760" cy="201168"/>
          </a:xfrm>
          <a:prstGeom prst="rect">
            <a:avLst/>
          </a:prstGeom>
          <a:noFill/>
          <a:ln/>
        </p:spPr>
        <p:txBody>
          <a:bodyPr wrap="square" lIns="38100" tIns="38100" rIns="38100" bIns="38100" rtlCol="0" anchor="ctr"/>
          <a:lstStyle/>
          <a:p>
            <a:pPr algn="r" indent="0" marL="0">
              <a:buNone/>
            </a:pPr>
            <a:r>
              <a:rPr lang="en-US" sz="750" dirty="0">
                <a:solidFill>
                  <a:srgbClr val="0D7C5F"/>
                </a:solidFill>
                <a:latin typeface="Calibri" pitchFamily="34" charset="0"/>
                <a:ea typeface="Calibri" pitchFamily="34" charset="-122"/>
                <a:cs typeface="Calibri" pitchFamily="34" charset="-120"/>
              </a:rPr>
              <a:t>✅ Month 1</a:t>
            </a:r>
            <a:endParaRPr lang="en-US" sz="750" dirty="0"/>
          </a:p>
        </p:txBody>
      </p:sp>
      <p:sp>
        <p:nvSpPr>
          <p:cNvPr id="14" name="Shape 12"/>
          <p:cNvSpPr/>
          <p:nvPr/>
        </p:nvSpPr>
        <p:spPr>
          <a:xfrm>
            <a:off x="3182112" y="859536"/>
            <a:ext cx="2816352" cy="914400"/>
          </a:xfrm>
          <a:prstGeom prst="rect">
            <a:avLst/>
          </a:prstGeom>
          <a:solidFill>
            <a:srgbClr val="D7E4F5"/>
          </a:solidFill>
          <a:ln w="8890">
            <a:solidFill>
              <a:srgbClr val="14407A"/>
            </a:solidFill>
            <a:prstDash val="solid"/>
          </a:ln>
        </p:spPr>
      </p:sp>
      <p:sp>
        <p:nvSpPr>
          <p:cNvPr id="15" name="Text 13"/>
          <p:cNvSpPr/>
          <p:nvPr/>
        </p:nvSpPr>
        <p:spPr>
          <a:xfrm>
            <a:off x="3273552" y="859536"/>
            <a:ext cx="2651760" cy="256032"/>
          </a:xfrm>
          <a:prstGeom prst="rect">
            <a:avLst/>
          </a:prstGeom>
          <a:noFill/>
          <a:ln/>
        </p:spPr>
        <p:txBody>
          <a:bodyPr wrap="square" lIns="38100" tIns="38100" rIns="38100" bIns="38100" rtlCol="0" anchor="ctr"/>
          <a:lstStyle/>
          <a:p>
            <a:pPr algn="l" indent="0" marL="0">
              <a:buNone/>
            </a:pPr>
            <a:r>
              <a:rPr lang="en-US" sz="900" b="1" dirty="0">
                <a:solidFill>
                  <a:srgbClr val="14407A"/>
                </a:solidFill>
                <a:latin typeface="Calibri" pitchFamily="34" charset="0"/>
                <a:ea typeface="Calibri" pitchFamily="34" charset="-122"/>
                <a:cs typeface="Calibri" pitchFamily="34" charset="-120"/>
              </a:rPr>
              <a:t>Pipeline B</a:t>
            </a:r>
            <a:endParaRPr lang="en-US" sz="900" dirty="0"/>
          </a:p>
        </p:txBody>
      </p:sp>
      <p:sp>
        <p:nvSpPr>
          <p:cNvPr id="16" name="Text 14"/>
          <p:cNvSpPr/>
          <p:nvPr/>
        </p:nvSpPr>
        <p:spPr>
          <a:xfrm>
            <a:off x="3273552" y="1097280"/>
            <a:ext cx="2651760" cy="475488"/>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ROCO 81K pairs</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Symmetric InfoNCE</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ImageProj (ROCO head)</a:t>
            </a:r>
            <a:endParaRPr lang="en-US" sz="750" dirty="0"/>
          </a:p>
        </p:txBody>
      </p:sp>
      <p:sp>
        <p:nvSpPr>
          <p:cNvPr id="17" name="Text 15"/>
          <p:cNvSpPr/>
          <p:nvPr/>
        </p:nvSpPr>
        <p:spPr>
          <a:xfrm>
            <a:off x="3273552" y="1554480"/>
            <a:ext cx="2651760" cy="201168"/>
          </a:xfrm>
          <a:prstGeom prst="rect">
            <a:avLst/>
          </a:prstGeom>
          <a:noFill/>
          <a:ln/>
        </p:spPr>
        <p:txBody>
          <a:bodyPr wrap="square" lIns="38100" tIns="38100" rIns="38100" bIns="38100" rtlCol="0" anchor="ctr"/>
          <a:lstStyle/>
          <a:p>
            <a:pPr algn="r" indent="0" marL="0">
              <a:buNone/>
            </a:pPr>
            <a:r>
              <a:rPr lang="en-US" sz="750" dirty="0">
                <a:solidFill>
                  <a:srgbClr val="14407A"/>
                </a:solidFill>
                <a:latin typeface="Calibri" pitchFamily="34" charset="0"/>
                <a:ea typeface="Calibri" pitchFamily="34" charset="-122"/>
                <a:cs typeface="Calibri" pitchFamily="34" charset="-120"/>
              </a:rPr>
              <a:t>✅ Month 4</a:t>
            </a:r>
            <a:endParaRPr lang="en-US" sz="750" dirty="0"/>
          </a:p>
        </p:txBody>
      </p:sp>
      <p:sp>
        <p:nvSpPr>
          <p:cNvPr id="18" name="Shape 16"/>
          <p:cNvSpPr/>
          <p:nvPr/>
        </p:nvSpPr>
        <p:spPr>
          <a:xfrm>
            <a:off x="6181344" y="859536"/>
            <a:ext cx="2816352" cy="914400"/>
          </a:xfrm>
          <a:prstGeom prst="rect">
            <a:avLst/>
          </a:prstGeom>
          <a:solidFill>
            <a:srgbClr val="F3E5F5"/>
          </a:solidFill>
          <a:ln w="19050">
            <a:solidFill>
              <a:srgbClr val="7B1FA2"/>
            </a:solidFill>
            <a:prstDash val="solid"/>
          </a:ln>
          <a:effectLst>
            <a:outerShdw sx="100000" sy="100000" kx="0" ky="0" algn="bl" rotWithShape="0" blurRad="38100" dist="25400" dir="8100000">
              <a:srgbClr val="000000">
                <a:alpha val="9000"/>
              </a:srgbClr>
            </a:outerShdw>
          </a:effectLst>
        </p:spPr>
      </p:sp>
      <p:sp>
        <p:nvSpPr>
          <p:cNvPr id="19" name="Shape 17"/>
          <p:cNvSpPr/>
          <p:nvPr/>
        </p:nvSpPr>
        <p:spPr>
          <a:xfrm>
            <a:off x="6181344" y="859536"/>
            <a:ext cx="50292" cy="914400"/>
          </a:xfrm>
          <a:prstGeom prst="rect">
            <a:avLst/>
          </a:prstGeom>
          <a:solidFill>
            <a:srgbClr val="7B1FA2"/>
          </a:solidFill>
          <a:ln w="12700">
            <a:solidFill>
              <a:srgbClr val="7B1FA2"/>
            </a:solidFill>
            <a:prstDash val="solid"/>
          </a:ln>
        </p:spPr>
      </p:sp>
      <p:sp>
        <p:nvSpPr>
          <p:cNvPr id="20" name="Text 18"/>
          <p:cNvSpPr/>
          <p:nvPr/>
        </p:nvSpPr>
        <p:spPr>
          <a:xfrm>
            <a:off x="6327648" y="859536"/>
            <a:ext cx="2651760" cy="256032"/>
          </a:xfrm>
          <a:prstGeom prst="rect">
            <a:avLst/>
          </a:prstGeom>
          <a:noFill/>
          <a:ln/>
        </p:spPr>
        <p:txBody>
          <a:bodyPr wrap="square" lIns="38100" tIns="38100" rIns="38100" bIns="38100" rtlCol="0" anchor="ctr"/>
          <a:lstStyle/>
          <a:p>
            <a:pPr algn="l" indent="0" marL="0">
              <a:buNone/>
            </a:pPr>
            <a:r>
              <a:rPr lang="en-US" sz="900" b="1" dirty="0">
                <a:solidFill>
                  <a:srgbClr val="7B1FA2"/>
                </a:solidFill>
                <a:latin typeface="Calibri" pitchFamily="34" charset="0"/>
                <a:ea typeface="Calibri" pitchFamily="34" charset="-122"/>
                <a:cs typeface="Calibri" pitchFamily="34" charset="-120"/>
              </a:rPr>
              <a:t>Pipeline C  ← THIS</a:t>
            </a:r>
            <a:endParaRPr lang="en-US" sz="900" dirty="0"/>
          </a:p>
        </p:txBody>
      </p:sp>
      <p:sp>
        <p:nvSpPr>
          <p:cNvPr id="21" name="Text 19"/>
          <p:cNvSpPr/>
          <p:nvPr/>
        </p:nvSpPr>
        <p:spPr>
          <a:xfrm>
            <a:off x="6327648" y="1097280"/>
            <a:ext cx="2651760" cy="475488"/>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RAVDESS 1,440 clips</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SupCon (audio-only)</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AudioProjection</a:t>
            </a:r>
            <a:endParaRPr lang="en-US" sz="750" dirty="0"/>
          </a:p>
        </p:txBody>
      </p:sp>
      <p:sp>
        <p:nvSpPr>
          <p:cNvPr id="22" name="Text 20"/>
          <p:cNvSpPr/>
          <p:nvPr/>
        </p:nvSpPr>
        <p:spPr>
          <a:xfrm>
            <a:off x="6272784" y="1554480"/>
            <a:ext cx="2651760" cy="201168"/>
          </a:xfrm>
          <a:prstGeom prst="rect">
            <a:avLst/>
          </a:prstGeom>
          <a:noFill/>
          <a:ln/>
        </p:spPr>
        <p:txBody>
          <a:bodyPr wrap="square" lIns="38100" tIns="38100" rIns="38100" bIns="38100" rtlCol="0" anchor="ctr"/>
          <a:lstStyle/>
          <a:p>
            <a:pPr algn="r" indent="0" marL="0">
              <a:buNone/>
            </a:pPr>
            <a:r>
              <a:rPr lang="en-US" sz="750" b="1" dirty="0">
                <a:solidFill>
                  <a:srgbClr val="7B1FA2"/>
                </a:solidFill>
                <a:latin typeface="Calibri" pitchFamily="34" charset="0"/>
                <a:ea typeface="Calibri" pitchFamily="34" charset="-122"/>
                <a:cs typeface="Calibri" pitchFamily="34" charset="-120"/>
              </a:rPr>
              <a:t>🔄 Now</a:t>
            </a:r>
            <a:endParaRPr lang="en-US" sz="750" dirty="0"/>
          </a:p>
        </p:txBody>
      </p:sp>
      <p:sp>
        <p:nvSpPr>
          <p:cNvPr id="23" name="Shape 21"/>
          <p:cNvSpPr/>
          <p:nvPr/>
        </p:nvSpPr>
        <p:spPr>
          <a:xfrm>
            <a:off x="9180576" y="859536"/>
            <a:ext cx="2816352" cy="914400"/>
          </a:xfrm>
          <a:prstGeom prst="rect">
            <a:avLst/>
          </a:prstGeom>
          <a:solidFill>
            <a:srgbClr val="D8F2DF"/>
          </a:solidFill>
          <a:ln w="8890">
            <a:solidFill>
              <a:srgbClr val="1A6B30"/>
            </a:solidFill>
            <a:prstDash val="solid"/>
          </a:ln>
        </p:spPr>
      </p:sp>
      <p:sp>
        <p:nvSpPr>
          <p:cNvPr id="24" name="Text 22"/>
          <p:cNvSpPr/>
          <p:nvPr/>
        </p:nvSpPr>
        <p:spPr>
          <a:xfrm>
            <a:off x="9272016" y="859536"/>
            <a:ext cx="2651760" cy="256032"/>
          </a:xfrm>
          <a:prstGeom prst="rect">
            <a:avLst/>
          </a:prstGeom>
          <a:noFill/>
          <a:ln/>
        </p:spPr>
        <p:txBody>
          <a:bodyPr wrap="square" lIns="38100" tIns="38100" rIns="38100" bIns="38100" rtlCol="0" anchor="ctr"/>
          <a:lstStyle/>
          <a:p>
            <a:pPr algn="l" indent="0" marL="0">
              <a:buNone/>
            </a:pPr>
            <a:r>
              <a:rPr lang="en-US" sz="900" b="1" dirty="0">
                <a:solidFill>
                  <a:srgbClr val="1A6B30"/>
                </a:solidFill>
                <a:latin typeface="Calibri" pitchFamily="34" charset="0"/>
                <a:ea typeface="Calibri" pitchFamily="34" charset="-122"/>
                <a:cs typeface="Calibri" pitchFamily="34" charset="-120"/>
              </a:rPr>
              <a:t>Pipeline D</a:t>
            </a:r>
            <a:endParaRPr lang="en-US" sz="900" dirty="0"/>
          </a:p>
        </p:txBody>
      </p:sp>
      <p:sp>
        <p:nvSpPr>
          <p:cNvPr id="25" name="Text 23"/>
          <p:cNvSpPr/>
          <p:nvPr/>
        </p:nvSpPr>
        <p:spPr>
          <a:xfrm>
            <a:off x="9272016" y="1097280"/>
            <a:ext cx="2651760" cy="475488"/>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CREMA-D 7,442 clips</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Cross-modal InfoNCE</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AudioProj + VideoProj</a:t>
            </a:r>
            <a:endParaRPr lang="en-US" sz="750" dirty="0"/>
          </a:p>
        </p:txBody>
      </p:sp>
      <p:sp>
        <p:nvSpPr>
          <p:cNvPr id="26" name="Text 24"/>
          <p:cNvSpPr/>
          <p:nvPr/>
        </p:nvSpPr>
        <p:spPr>
          <a:xfrm>
            <a:off x="9272016" y="1554480"/>
            <a:ext cx="2651760" cy="201168"/>
          </a:xfrm>
          <a:prstGeom prst="rect">
            <a:avLst/>
          </a:prstGeom>
          <a:noFill/>
          <a:ln/>
        </p:spPr>
        <p:txBody>
          <a:bodyPr wrap="square" lIns="38100" tIns="38100" rIns="38100" bIns="38100" rtlCol="0" anchor="ctr"/>
          <a:lstStyle/>
          <a:p>
            <a:pPr algn="r" indent="0" marL="0">
              <a:buNone/>
            </a:pPr>
            <a:r>
              <a:rPr lang="en-US" sz="750" dirty="0">
                <a:solidFill>
                  <a:srgbClr val="1A6B30"/>
                </a:solidFill>
                <a:latin typeface="Calibri" pitchFamily="34" charset="0"/>
                <a:ea typeface="Calibri" pitchFamily="34" charset="-122"/>
                <a:cs typeface="Calibri" pitchFamily="34" charset="-120"/>
              </a:rPr>
              <a:t>⏳ Month 6</a:t>
            </a:r>
            <a:endParaRPr lang="en-US" sz="750" dirty="0"/>
          </a:p>
        </p:txBody>
      </p:sp>
      <p:sp>
        <p:nvSpPr>
          <p:cNvPr id="27" name="Shape 25"/>
          <p:cNvSpPr/>
          <p:nvPr/>
        </p:nvSpPr>
        <p:spPr>
          <a:xfrm>
            <a:off x="182880" y="1883664"/>
            <a:ext cx="36576" cy="237744"/>
          </a:xfrm>
          <a:prstGeom prst="rect">
            <a:avLst/>
          </a:prstGeom>
          <a:solidFill>
            <a:srgbClr val="9B2020"/>
          </a:solidFill>
          <a:ln w="12700">
            <a:solidFill>
              <a:srgbClr val="9B2020"/>
            </a:solidFill>
            <a:prstDash val="solid"/>
          </a:ln>
        </p:spPr>
      </p:sp>
      <p:sp>
        <p:nvSpPr>
          <p:cNvPr id="28" name="Text 26"/>
          <p:cNvSpPr/>
          <p:nvPr/>
        </p:nvSpPr>
        <p:spPr>
          <a:xfrm>
            <a:off x="256032" y="1883664"/>
            <a:ext cx="5486400" cy="237744"/>
          </a:xfrm>
          <a:prstGeom prst="rect">
            <a:avLst/>
          </a:prstGeom>
          <a:noFill/>
          <a:ln/>
        </p:spPr>
        <p:txBody>
          <a:bodyPr wrap="square" lIns="38100" tIns="38100" rIns="38100" bIns="38100" rtlCol="0" anchor="ctr"/>
          <a:lstStyle/>
          <a:p>
            <a:pPr algn="l" indent="0" marL="0">
              <a:buNone/>
            </a:pPr>
            <a:r>
              <a:rPr lang="en-US" sz="800" b="1" dirty="0">
                <a:solidFill>
                  <a:srgbClr val="9B2020"/>
                </a:solidFill>
                <a:latin typeface="Calibri" pitchFamily="34" charset="0"/>
                <a:ea typeface="Calibri" pitchFamily="34" charset="-122"/>
                <a:cs typeface="Calibri" pitchFamily="34" charset="-120"/>
              </a:rPr>
              <a:t>Why Pipeline C Was Necessary — Three Compounding Month 2 Errors</a:t>
            </a:r>
            <a:endParaRPr lang="en-US" sz="800" dirty="0"/>
          </a:p>
        </p:txBody>
      </p:sp>
      <p:sp>
        <p:nvSpPr>
          <p:cNvPr id="29" name="Shape 27"/>
          <p:cNvSpPr/>
          <p:nvPr/>
        </p:nvSpPr>
        <p:spPr>
          <a:xfrm>
            <a:off x="182880" y="2103120"/>
            <a:ext cx="11795760" cy="1243584"/>
          </a:xfrm>
          <a:prstGeom prst="rect">
            <a:avLst/>
          </a:prstGeom>
          <a:solidFill>
            <a:srgbClr val="FAE0E0"/>
          </a:solidFill>
          <a:ln w="12700">
            <a:solidFill>
              <a:srgbClr val="9B2020"/>
            </a:solidFill>
            <a:prstDash val="solid"/>
          </a:ln>
          <a:effectLst>
            <a:outerShdw sx="100000" sy="100000" kx="0" ky="0" algn="bl" rotWithShape="0" blurRad="38100" dist="25400" dir="8100000">
              <a:srgbClr val="000000">
                <a:alpha val="9000"/>
              </a:srgbClr>
            </a:outerShdw>
          </a:effectLst>
        </p:spPr>
      </p:sp>
      <p:sp>
        <p:nvSpPr>
          <p:cNvPr id="30" name="Shape 28"/>
          <p:cNvSpPr/>
          <p:nvPr/>
        </p:nvSpPr>
        <p:spPr>
          <a:xfrm>
            <a:off x="182880" y="2103120"/>
            <a:ext cx="50292" cy="1243584"/>
          </a:xfrm>
          <a:prstGeom prst="rect">
            <a:avLst/>
          </a:prstGeom>
          <a:solidFill>
            <a:srgbClr val="9B2020"/>
          </a:solidFill>
          <a:ln w="12700">
            <a:solidFill>
              <a:srgbClr val="9B2020"/>
            </a:solidFill>
            <a:prstDash val="solid"/>
          </a:ln>
        </p:spPr>
      </p:sp>
      <p:sp>
        <p:nvSpPr>
          <p:cNvPr id="31" name="Text 29"/>
          <p:cNvSpPr/>
          <p:nvPr/>
        </p:nvSpPr>
        <p:spPr>
          <a:xfrm>
            <a:off x="292608" y="2103120"/>
            <a:ext cx="11484864" cy="256032"/>
          </a:xfrm>
          <a:prstGeom prst="rect">
            <a:avLst/>
          </a:prstGeom>
          <a:noFill/>
          <a:ln/>
        </p:spPr>
        <p:txBody>
          <a:bodyPr wrap="square" lIns="38100" tIns="38100" rIns="38100" bIns="38100" rtlCol="0" anchor="ctr"/>
          <a:lstStyle/>
          <a:p>
            <a:pPr algn="l" indent="0" marL="0">
              <a:buNone/>
            </a:pPr>
            <a:r>
              <a:rPr lang="en-US" sz="900" b="1" dirty="0">
                <a:solidFill>
                  <a:srgbClr val="9B2020"/>
                </a:solidFill>
                <a:latin typeface="Calibri" pitchFamily="34" charset="0"/>
                <a:ea typeface="Calibri" pitchFamily="34" charset="-122"/>
                <a:cs typeface="Calibri" pitchFamily="34" charset="-120"/>
              </a:rPr>
              <a:t>Error 1 — Joint InfoNCE with COCO (Methodological)</a:t>
            </a:r>
            <a:endParaRPr lang="en-US" sz="900" dirty="0"/>
          </a:p>
        </p:txBody>
      </p:sp>
      <p:sp>
        <p:nvSpPr>
          <p:cNvPr id="32" name="Text 30"/>
          <p:cNvSpPr/>
          <p:nvPr/>
        </p:nvSpPr>
        <p:spPr>
          <a:xfrm>
            <a:off x="292608" y="2340864"/>
            <a:ext cx="11484864" cy="969264"/>
          </a:xfrm>
          <a:prstGeom prst="rect">
            <a:avLst/>
          </a:prstGeom>
          <a:noFill/>
          <a:ln/>
        </p:spPr>
        <p:txBody>
          <a:bodyPr wrap="square" lIns="38100" tIns="38100" rIns="38100" bIns="38100" rtlCol="0" anchor="t"/>
          <a:lstStyle/>
          <a:p>
            <a:pPr algn="l" indent="0" marL="0">
              <a:buNone/>
            </a:pPr>
            <a:r>
              <a:rPr lang="en-US" sz="750" dirty="0">
                <a:solidFill>
                  <a:srgbClr val="1A1A1A"/>
                </a:solidFill>
                <a:latin typeface="Calibri" pitchFamily="34" charset="0"/>
                <a:ea typeface="Calibri" pitchFamily="34" charset="-122"/>
                <a:cs typeface="Calibri" pitchFamily="34" charset="-120"/>
              </a:rPr>
              <a:t>RAVDESS audio was trained jointly with COCO images in a single InfoNCE loss. COCO and RAVDESS share ZERO genuine cross-modal ground truth — there is no real relationship between a photo of a dog running on a beach and an actor expressing 'angry' in a recording studio. InfoNCE treated semantically valid RAVDESS pairs as negatives within each batch, actively corrupting the 512-d embedding space that Months 1–3 had been building. The model was penalised for correctly positioning audio near semantically related text.</a:t>
            </a:r>
            <a:endParaRPr lang="en-US" sz="750" dirty="0"/>
          </a:p>
        </p:txBody>
      </p:sp>
      <p:sp>
        <p:nvSpPr>
          <p:cNvPr id="33" name="Shape 31"/>
          <p:cNvSpPr/>
          <p:nvPr/>
        </p:nvSpPr>
        <p:spPr>
          <a:xfrm>
            <a:off x="182880" y="3401568"/>
            <a:ext cx="11795760" cy="1243584"/>
          </a:xfrm>
          <a:prstGeom prst="rect">
            <a:avLst/>
          </a:prstGeom>
          <a:solidFill>
            <a:srgbClr val="FFF0CC"/>
          </a:solidFill>
          <a:ln w="12700">
            <a:solidFill>
              <a:srgbClr val="8A5200"/>
            </a:solidFill>
            <a:prstDash val="solid"/>
          </a:ln>
          <a:effectLst>
            <a:outerShdw sx="100000" sy="100000" kx="0" ky="0" algn="bl" rotWithShape="0" blurRad="38100" dist="25400" dir="8100000">
              <a:srgbClr val="000000">
                <a:alpha val="9000"/>
              </a:srgbClr>
            </a:outerShdw>
          </a:effectLst>
        </p:spPr>
      </p:sp>
      <p:sp>
        <p:nvSpPr>
          <p:cNvPr id="34" name="Shape 32"/>
          <p:cNvSpPr/>
          <p:nvPr/>
        </p:nvSpPr>
        <p:spPr>
          <a:xfrm>
            <a:off x="182880" y="3401568"/>
            <a:ext cx="50292" cy="1243584"/>
          </a:xfrm>
          <a:prstGeom prst="rect">
            <a:avLst/>
          </a:prstGeom>
          <a:solidFill>
            <a:srgbClr val="8A5200"/>
          </a:solidFill>
          <a:ln w="12700">
            <a:solidFill>
              <a:srgbClr val="8A5200"/>
            </a:solidFill>
            <a:prstDash val="solid"/>
          </a:ln>
        </p:spPr>
      </p:sp>
      <p:sp>
        <p:nvSpPr>
          <p:cNvPr id="35" name="Text 33"/>
          <p:cNvSpPr/>
          <p:nvPr/>
        </p:nvSpPr>
        <p:spPr>
          <a:xfrm>
            <a:off x="292608" y="3401568"/>
            <a:ext cx="11484864" cy="256032"/>
          </a:xfrm>
          <a:prstGeom prst="rect">
            <a:avLst/>
          </a:prstGeom>
          <a:noFill/>
          <a:ln/>
        </p:spPr>
        <p:txBody>
          <a:bodyPr wrap="square" lIns="38100" tIns="38100" rIns="38100" bIns="38100" rtlCol="0" anchor="ctr"/>
          <a:lstStyle/>
          <a:p>
            <a:pPr algn="l" indent="0" marL="0">
              <a:buNone/>
            </a:pPr>
            <a:r>
              <a:rPr lang="en-US" sz="900" b="1" dirty="0">
                <a:solidFill>
                  <a:srgbClr val="8A5200"/>
                </a:solidFill>
                <a:latin typeface="Calibri" pitchFamily="34" charset="0"/>
                <a:ea typeface="Calibri" pitchFamily="34" charset="-122"/>
                <a:cs typeface="Calibri" pitchFamily="34" charset="-120"/>
              </a:rPr>
              <a:t>Error 2 — Synthetic Captions (Data Integrity)</a:t>
            </a:r>
            <a:endParaRPr lang="en-US" sz="900" dirty="0"/>
          </a:p>
        </p:txBody>
      </p:sp>
      <p:sp>
        <p:nvSpPr>
          <p:cNvPr id="36" name="Text 34"/>
          <p:cNvSpPr/>
          <p:nvPr/>
        </p:nvSpPr>
        <p:spPr>
          <a:xfrm>
            <a:off x="292608" y="3639312"/>
            <a:ext cx="11484864" cy="969264"/>
          </a:xfrm>
          <a:prstGeom prst="rect">
            <a:avLst/>
          </a:prstGeom>
          <a:noFill/>
          <a:ln/>
        </p:spPr>
        <p:txBody>
          <a:bodyPr wrap="square" lIns="38100" tIns="38100" rIns="38100" bIns="38100" rtlCol="0" anchor="t"/>
          <a:lstStyle/>
          <a:p>
            <a:pPr algn="l" indent="0" marL="0">
              <a:buNone/>
            </a:pPr>
            <a:r>
              <a:rPr lang="en-US" sz="750" dirty="0">
                <a:solidFill>
                  <a:srgbClr val="1A1A1A"/>
                </a:solidFill>
                <a:latin typeface="Calibri" pitchFamily="34" charset="0"/>
                <a:ea typeface="Calibri" pitchFamily="34" charset="-122"/>
                <a:cs typeface="Calibri" pitchFamily="34" charset="-120"/>
              </a:rPr>
              <a:t>Fabricated captions ('A person expressing happy emotion') were created for each RAVDESS clip to force a text-audio pairing. These captions have no genuine acoustic correspondence — the word 'happy' does not encode the prosodic features, pitch patterns, or voice quality that actually distinguish happy from other emotions. SupCon in Month 3 was trying to learn from a signal that had no real content. The model had almost nothing meaningful to optimise against.</a:t>
            </a:r>
            <a:endParaRPr lang="en-US" sz="750" dirty="0"/>
          </a:p>
        </p:txBody>
      </p:sp>
      <p:sp>
        <p:nvSpPr>
          <p:cNvPr id="37" name="Shape 35"/>
          <p:cNvSpPr/>
          <p:nvPr/>
        </p:nvSpPr>
        <p:spPr>
          <a:xfrm>
            <a:off x="182880" y="4700016"/>
            <a:ext cx="11795760" cy="1243584"/>
          </a:xfrm>
          <a:prstGeom prst="rect">
            <a:avLst/>
          </a:prstGeom>
          <a:solidFill>
            <a:srgbClr val="EAE0F8"/>
          </a:solidFill>
          <a:ln w="12700">
            <a:solidFill>
              <a:srgbClr val="5B2D8E"/>
            </a:solidFill>
            <a:prstDash val="solid"/>
          </a:ln>
          <a:effectLst>
            <a:outerShdw sx="100000" sy="100000" kx="0" ky="0" algn="bl" rotWithShape="0" blurRad="38100" dist="25400" dir="8100000">
              <a:srgbClr val="000000">
                <a:alpha val="9000"/>
              </a:srgbClr>
            </a:outerShdw>
          </a:effectLst>
        </p:spPr>
      </p:sp>
      <p:sp>
        <p:nvSpPr>
          <p:cNvPr id="38" name="Shape 36"/>
          <p:cNvSpPr/>
          <p:nvPr/>
        </p:nvSpPr>
        <p:spPr>
          <a:xfrm>
            <a:off x="182880" y="4700016"/>
            <a:ext cx="50292" cy="1243584"/>
          </a:xfrm>
          <a:prstGeom prst="rect">
            <a:avLst/>
          </a:prstGeom>
          <a:solidFill>
            <a:srgbClr val="5B2D8E"/>
          </a:solidFill>
          <a:ln w="12700">
            <a:solidFill>
              <a:srgbClr val="5B2D8E"/>
            </a:solidFill>
            <a:prstDash val="solid"/>
          </a:ln>
        </p:spPr>
      </p:sp>
      <p:sp>
        <p:nvSpPr>
          <p:cNvPr id="39" name="Text 37"/>
          <p:cNvSpPr/>
          <p:nvPr/>
        </p:nvSpPr>
        <p:spPr>
          <a:xfrm>
            <a:off x="292608" y="4700016"/>
            <a:ext cx="11484864" cy="256032"/>
          </a:xfrm>
          <a:prstGeom prst="rect">
            <a:avLst/>
          </a:prstGeom>
          <a:noFill/>
          <a:ln/>
        </p:spPr>
        <p:txBody>
          <a:bodyPr wrap="square" lIns="38100" tIns="38100" rIns="38100" bIns="38100" rtlCol="0" anchor="ctr"/>
          <a:lstStyle/>
          <a:p>
            <a:pPr algn="l" indent="0" marL="0">
              <a:buNone/>
            </a:pPr>
            <a:r>
              <a:rPr lang="en-US" sz="900" b="1" dirty="0">
                <a:solidFill>
                  <a:srgbClr val="5B2D8E"/>
                </a:solidFill>
                <a:latin typeface="Calibri" pitchFamily="34" charset="0"/>
                <a:ea typeface="Calibri" pitchFamily="34" charset="-122"/>
                <a:cs typeface="Calibri" pitchFamily="34" charset="-120"/>
              </a:rPr>
              <a:t>Error 3 — wav2vec_dim=512 Bug (Implementation)</a:t>
            </a:r>
            <a:endParaRPr lang="en-US" sz="900" dirty="0"/>
          </a:p>
        </p:txBody>
      </p:sp>
      <p:sp>
        <p:nvSpPr>
          <p:cNvPr id="40" name="Text 38"/>
          <p:cNvSpPr/>
          <p:nvPr/>
        </p:nvSpPr>
        <p:spPr>
          <a:xfrm>
            <a:off x="292608" y="4937760"/>
            <a:ext cx="11484864" cy="969264"/>
          </a:xfrm>
          <a:prstGeom prst="rect">
            <a:avLst/>
          </a:prstGeom>
          <a:noFill/>
          <a:ln/>
        </p:spPr>
        <p:txBody>
          <a:bodyPr wrap="square" lIns="38100" tIns="38100" rIns="38100" bIns="38100" rtlCol="0" anchor="t"/>
          <a:lstStyle/>
          <a:p>
            <a:pPr algn="l" indent="0" marL="0">
              <a:buNone/>
            </a:pPr>
            <a:r>
              <a:rPr lang="en-US" sz="750" dirty="0">
                <a:solidFill>
                  <a:srgbClr val="1A1A1A"/>
                </a:solidFill>
                <a:latin typeface="Calibri" pitchFamily="34" charset="0"/>
                <a:ea typeface="Calibri" pitchFamily="34" charset="-122"/>
                <a:cs typeface="Calibri" pitchFamily="34" charset="-120"/>
              </a:rPr>
              <a:t>Wav2Vec 2.0 base outputs 768-dimensional hidden states. The RAVDESS embedding cache stored these at 512d — likely due to an accidental slice or wrong config. AudioProjection was initialised as AudioProjection(wav2vec_dim=512), making it a near-identity 512→512 map with almost zero learning capacity. The pre-training mean inter-sample cosine similarity was 0.9729, indicating near-total representation collapse. SupCon in Month 3 then applied strong gradients to this near-collapsed space, overwriting the COCO geometry: accuracy fell from 5/8 → 2/8 emotions.</a:t>
            </a:r>
            <a:endParaRPr lang="en-US" sz="750" dirty="0"/>
          </a:p>
        </p:txBody>
      </p:sp>
      <p:sp>
        <p:nvSpPr>
          <p:cNvPr id="41" name="Shape 39"/>
          <p:cNvSpPr/>
          <p:nvPr/>
        </p:nvSpPr>
        <p:spPr>
          <a:xfrm>
            <a:off x="182880" y="6016752"/>
            <a:ext cx="36576" cy="237744"/>
          </a:xfrm>
          <a:prstGeom prst="rect">
            <a:avLst/>
          </a:prstGeom>
          <a:solidFill>
            <a:srgbClr val="1A6B30"/>
          </a:solidFill>
          <a:ln w="12700">
            <a:solidFill>
              <a:srgbClr val="1A6B30"/>
            </a:solidFill>
            <a:prstDash val="solid"/>
          </a:ln>
        </p:spPr>
      </p:sp>
      <p:sp>
        <p:nvSpPr>
          <p:cNvPr id="42" name="Text 40"/>
          <p:cNvSpPr/>
          <p:nvPr/>
        </p:nvSpPr>
        <p:spPr>
          <a:xfrm>
            <a:off x="256032" y="6016752"/>
            <a:ext cx="5486400" cy="237744"/>
          </a:xfrm>
          <a:prstGeom prst="rect">
            <a:avLst/>
          </a:prstGeom>
          <a:noFill/>
          <a:ln/>
        </p:spPr>
        <p:txBody>
          <a:bodyPr wrap="square" lIns="38100" tIns="38100" rIns="38100" bIns="38100" rtlCol="0" anchor="ctr"/>
          <a:lstStyle/>
          <a:p>
            <a:pPr algn="l" indent="0" marL="0">
              <a:buNone/>
            </a:pPr>
            <a:r>
              <a:rPr lang="en-US" sz="800" b="1" dirty="0">
                <a:solidFill>
                  <a:srgbClr val="1A6B30"/>
                </a:solidFill>
                <a:latin typeface="Calibri" pitchFamily="34" charset="0"/>
                <a:ea typeface="Calibri" pitchFamily="34" charset="-122"/>
                <a:cs typeface="Calibri" pitchFamily="34" charset="-120"/>
              </a:rPr>
              <a:t>Pipeline C Solution — Three Targeted Fixes</a:t>
            </a:r>
            <a:endParaRPr lang="en-US" sz="800" dirty="0"/>
          </a:p>
        </p:txBody>
      </p:sp>
      <p:sp>
        <p:nvSpPr>
          <p:cNvPr id="43" name="Shape 41"/>
          <p:cNvSpPr/>
          <p:nvPr/>
        </p:nvSpPr>
        <p:spPr>
          <a:xfrm>
            <a:off x="182880" y="6217920"/>
            <a:ext cx="3913632" cy="713232"/>
          </a:xfrm>
          <a:prstGeom prst="rect">
            <a:avLst/>
          </a:prstGeom>
          <a:solidFill>
            <a:srgbClr val="D8F2DF"/>
          </a:solidFill>
          <a:ln w="12700">
            <a:solidFill>
              <a:srgbClr val="1A6B30"/>
            </a:solidFill>
            <a:prstDash val="solid"/>
          </a:ln>
        </p:spPr>
      </p:sp>
      <p:sp>
        <p:nvSpPr>
          <p:cNvPr id="44" name="Shape 42"/>
          <p:cNvSpPr/>
          <p:nvPr/>
        </p:nvSpPr>
        <p:spPr>
          <a:xfrm>
            <a:off x="182880" y="6217920"/>
            <a:ext cx="50292" cy="713232"/>
          </a:xfrm>
          <a:prstGeom prst="rect">
            <a:avLst/>
          </a:prstGeom>
          <a:solidFill>
            <a:srgbClr val="1A6B30"/>
          </a:solidFill>
          <a:ln w="12700">
            <a:solidFill>
              <a:srgbClr val="1A6B30"/>
            </a:solidFill>
            <a:prstDash val="solid"/>
          </a:ln>
        </p:spPr>
      </p:sp>
      <p:sp>
        <p:nvSpPr>
          <p:cNvPr id="45" name="Text 43"/>
          <p:cNvSpPr/>
          <p:nvPr/>
        </p:nvSpPr>
        <p:spPr>
          <a:xfrm>
            <a:off x="292608" y="6217920"/>
            <a:ext cx="3749040" cy="256032"/>
          </a:xfrm>
          <a:prstGeom prst="rect">
            <a:avLst/>
          </a:prstGeom>
          <a:noFill/>
          <a:ln/>
        </p:spPr>
        <p:txBody>
          <a:bodyPr wrap="square" lIns="38100" tIns="38100" rIns="38100" bIns="38100" rtlCol="0" anchor="ctr"/>
          <a:lstStyle/>
          <a:p>
            <a:pPr algn="l" indent="0" marL="0">
              <a:buNone/>
            </a:pPr>
            <a:r>
              <a:rPr lang="en-US" sz="850" b="1" dirty="0">
                <a:solidFill>
                  <a:srgbClr val="1A6B30"/>
                </a:solidFill>
                <a:latin typeface="Calibri" pitchFamily="34" charset="0"/>
                <a:ea typeface="Calibri" pitchFamily="34" charset="-122"/>
                <a:cs typeface="Calibri" pitchFamily="34" charset="-120"/>
              </a:rPr>
              <a:t>Fix 1 — Isolated training</a:t>
            </a:r>
            <a:endParaRPr lang="en-US" sz="850" dirty="0"/>
          </a:p>
        </p:txBody>
      </p:sp>
      <p:sp>
        <p:nvSpPr>
          <p:cNvPr id="46" name="Text 44"/>
          <p:cNvSpPr/>
          <p:nvPr/>
        </p:nvSpPr>
        <p:spPr>
          <a:xfrm>
            <a:off x="292608" y="6455664"/>
            <a:ext cx="3749040" cy="457200"/>
          </a:xfrm>
          <a:prstGeom prst="rect">
            <a:avLst/>
          </a:prstGeom>
          <a:noFill/>
          <a:ln/>
        </p:spPr>
        <p:txBody>
          <a:bodyPr wrap="square" lIns="38100" tIns="38100" rIns="38100" bIns="38100" rtlCol="0" anchor="t"/>
          <a:lstStyle/>
          <a:p>
            <a:pPr algn="l" indent="0" marL="0">
              <a:buNone/>
            </a:pPr>
            <a:r>
              <a:rPr lang="en-US" sz="750" dirty="0">
                <a:solidFill>
                  <a:srgbClr val="1A1A1A"/>
                </a:solidFill>
                <a:latin typeface="Calibri" pitchFamily="34" charset="0"/>
                <a:ea typeface="Calibri" pitchFamily="34" charset="-122"/>
                <a:cs typeface="Calibri" pitchFamily="34" charset="-120"/>
              </a:rPr>
              <a:t>RAVDESS trained ALONE. No COCO. No synthetic captions. Signal comes only from emotion labels 0–7.</a:t>
            </a:r>
            <a:endParaRPr lang="en-US" sz="750" dirty="0"/>
          </a:p>
        </p:txBody>
      </p:sp>
      <p:sp>
        <p:nvSpPr>
          <p:cNvPr id="47" name="Shape 45"/>
          <p:cNvSpPr/>
          <p:nvPr/>
        </p:nvSpPr>
        <p:spPr>
          <a:xfrm>
            <a:off x="4178808" y="6217920"/>
            <a:ext cx="3913632" cy="713232"/>
          </a:xfrm>
          <a:prstGeom prst="rect">
            <a:avLst/>
          </a:prstGeom>
          <a:solidFill>
            <a:srgbClr val="D1F0E6"/>
          </a:solidFill>
          <a:ln w="12700">
            <a:solidFill>
              <a:srgbClr val="0D7C5F"/>
            </a:solidFill>
            <a:prstDash val="solid"/>
          </a:ln>
        </p:spPr>
      </p:sp>
      <p:sp>
        <p:nvSpPr>
          <p:cNvPr id="48" name="Shape 46"/>
          <p:cNvSpPr/>
          <p:nvPr/>
        </p:nvSpPr>
        <p:spPr>
          <a:xfrm>
            <a:off x="4178808" y="6217920"/>
            <a:ext cx="50292" cy="713232"/>
          </a:xfrm>
          <a:prstGeom prst="rect">
            <a:avLst/>
          </a:prstGeom>
          <a:solidFill>
            <a:srgbClr val="0D7C5F"/>
          </a:solidFill>
          <a:ln w="12700">
            <a:solidFill>
              <a:srgbClr val="0D7C5F"/>
            </a:solidFill>
            <a:prstDash val="solid"/>
          </a:ln>
        </p:spPr>
      </p:sp>
      <p:sp>
        <p:nvSpPr>
          <p:cNvPr id="49" name="Text 47"/>
          <p:cNvSpPr/>
          <p:nvPr/>
        </p:nvSpPr>
        <p:spPr>
          <a:xfrm>
            <a:off x="4288536" y="6217920"/>
            <a:ext cx="3749040" cy="256032"/>
          </a:xfrm>
          <a:prstGeom prst="rect">
            <a:avLst/>
          </a:prstGeom>
          <a:noFill/>
          <a:ln/>
        </p:spPr>
        <p:txBody>
          <a:bodyPr wrap="square" lIns="38100" tIns="38100" rIns="38100" bIns="38100" rtlCol="0" anchor="ctr"/>
          <a:lstStyle/>
          <a:p>
            <a:pPr algn="l" indent="0" marL="0">
              <a:buNone/>
            </a:pPr>
            <a:r>
              <a:rPr lang="en-US" sz="850" b="1" dirty="0">
                <a:solidFill>
                  <a:srgbClr val="0D7C5F"/>
                </a:solidFill>
                <a:latin typeface="Calibri" pitchFamily="34" charset="0"/>
                <a:ea typeface="Calibri" pitchFamily="34" charset="-122"/>
                <a:cs typeface="Calibri" pitchFamily="34" charset="-120"/>
              </a:rPr>
              <a:t>Fix 2 — wav2vec_dim=768</a:t>
            </a:r>
            <a:endParaRPr lang="en-US" sz="850" dirty="0"/>
          </a:p>
        </p:txBody>
      </p:sp>
      <p:sp>
        <p:nvSpPr>
          <p:cNvPr id="50" name="Text 48"/>
          <p:cNvSpPr/>
          <p:nvPr/>
        </p:nvSpPr>
        <p:spPr>
          <a:xfrm>
            <a:off x="4288536" y="6455664"/>
            <a:ext cx="3749040" cy="457200"/>
          </a:xfrm>
          <a:prstGeom prst="rect">
            <a:avLst/>
          </a:prstGeom>
          <a:noFill/>
          <a:ln/>
        </p:spPr>
        <p:txBody>
          <a:bodyPr wrap="square" lIns="38100" tIns="38100" rIns="38100" bIns="38100" rtlCol="0" anchor="t"/>
          <a:lstStyle/>
          <a:p>
            <a:pPr algn="l" indent="0" marL="0">
              <a:buNone/>
            </a:pPr>
            <a:r>
              <a:rPr lang="en-US" sz="750" dirty="0">
                <a:solidFill>
                  <a:srgbClr val="1A1A1A"/>
                </a:solidFill>
                <a:latin typeface="Calibri" pitchFamily="34" charset="0"/>
                <a:ea typeface="Calibri" pitchFamily="34" charset="-122"/>
                <a:cs typeface="Calibri" pitchFamily="34" charset="-120"/>
              </a:rPr>
              <a:t>Re-extract all 1,440 clips at correct 768d. AudioProjection(768→512) has ~987K trainable params with real learning capacity.</a:t>
            </a:r>
            <a:endParaRPr lang="en-US" sz="750" dirty="0"/>
          </a:p>
        </p:txBody>
      </p:sp>
      <p:sp>
        <p:nvSpPr>
          <p:cNvPr id="51" name="Shape 49"/>
          <p:cNvSpPr/>
          <p:nvPr/>
        </p:nvSpPr>
        <p:spPr>
          <a:xfrm>
            <a:off x="8174736" y="6217920"/>
            <a:ext cx="3913632" cy="713232"/>
          </a:xfrm>
          <a:prstGeom prst="rect">
            <a:avLst/>
          </a:prstGeom>
          <a:solidFill>
            <a:srgbClr val="FFF0CC"/>
          </a:solidFill>
          <a:ln w="12700">
            <a:solidFill>
              <a:srgbClr val="8A5200"/>
            </a:solidFill>
            <a:prstDash val="solid"/>
          </a:ln>
        </p:spPr>
      </p:sp>
      <p:sp>
        <p:nvSpPr>
          <p:cNvPr id="52" name="Shape 50"/>
          <p:cNvSpPr/>
          <p:nvPr/>
        </p:nvSpPr>
        <p:spPr>
          <a:xfrm>
            <a:off x="8174736" y="6217920"/>
            <a:ext cx="50292" cy="713232"/>
          </a:xfrm>
          <a:prstGeom prst="rect">
            <a:avLst/>
          </a:prstGeom>
          <a:solidFill>
            <a:srgbClr val="8A5200"/>
          </a:solidFill>
          <a:ln w="12700">
            <a:solidFill>
              <a:srgbClr val="8A5200"/>
            </a:solidFill>
            <a:prstDash val="solid"/>
          </a:ln>
        </p:spPr>
      </p:sp>
      <p:sp>
        <p:nvSpPr>
          <p:cNvPr id="53" name="Text 51"/>
          <p:cNvSpPr/>
          <p:nvPr/>
        </p:nvSpPr>
        <p:spPr>
          <a:xfrm>
            <a:off x="8284464" y="6217920"/>
            <a:ext cx="3749040" cy="256032"/>
          </a:xfrm>
          <a:prstGeom prst="rect">
            <a:avLst/>
          </a:prstGeom>
          <a:noFill/>
          <a:ln/>
        </p:spPr>
        <p:txBody>
          <a:bodyPr wrap="square" lIns="38100" tIns="38100" rIns="38100" bIns="38100" rtlCol="0" anchor="ctr"/>
          <a:lstStyle/>
          <a:p>
            <a:pPr algn="l" indent="0" marL="0">
              <a:buNone/>
            </a:pPr>
            <a:r>
              <a:rPr lang="en-US" sz="850" b="1" dirty="0">
                <a:solidFill>
                  <a:srgbClr val="8A5200"/>
                </a:solidFill>
                <a:latin typeface="Calibri" pitchFamily="34" charset="0"/>
                <a:ea typeface="Calibri" pitchFamily="34" charset="-122"/>
                <a:cs typeface="Calibri" pitchFamily="34" charset="-120"/>
              </a:rPr>
              <a:t>Fix 3 — SupCon loss + 30 epochs</a:t>
            </a:r>
            <a:endParaRPr lang="en-US" sz="850" dirty="0"/>
          </a:p>
        </p:txBody>
      </p:sp>
      <p:sp>
        <p:nvSpPr>
          <p:cNvPr id="54" name="Text 52"/>
          <p:cNvSpPr/>
          <p:nvPr/>
        </p:nvSpPr>
        <p:spPr>
          <a:xfrm>
            <a:off x="8284464" y="6455664"/>
            <a:ext cx="3749040" cy="457200"/>
          </a:xfrm>
          <a:prstGeom prst="rect">
            <a:avLst/>
          </a:prstGeom>
          <a:noFill/>
          <a:ln/>
        </p:spPr>
        <p:txBody>
          <a:bodyPr wrap="square" lIns="38100" tIns="38100" rIns="38100" bIns="38100" rtlCol="0" anchor="t"/>
          <a:lstStyle/>
          <a:p>
            <a:pPr algn="l" indent="0" marL="0">
              <a:buNone/>
            </a:pPr>
            <a:r>
              <a:rPr lang="en-US" sz="750" dirty="0">
                <a:solidFill>
                  <a:srgbClr val="1A1A1A"/>
                </a:solidFill>
                <a:latin typeface="Calibri" pitchFamily="34" charset="0"/>
                <a:ea typeface="Calibri" pitchFamily="34" charset="-122"/>
                <a:cs typeface="Calibri" pitchFamily="34" charset="-120"/>
              </a:rPr>
              <a:t>SupCon replaces InfoNCE — no cross-modal pairs needed. 30 epochs vs 15: 1,440 samples needs more passes than 25K COCO.</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61520" cy="502920"/>
          </a:xfrm>
          <a:prstGeom prst="rect">
            <a:avLst/>
          </a:prstGeom>
          <a:solidFill>
            <a:srgbClr val="0F3460"/>
          </a:solidFill>
          <a:ln w="12700">
            <a:solidFill>
              <a:srgbClr val="0F3460"/>
            </a:solidFill>
            <a:prstDash val="solid"/>
          </a:ln>
        </p:spPr>
      </p:sp>
      <p:sp>
        <p:nvSpPr>
          <p:cNvPr id="3" name="Text 1"/>
          <p:cNvSpPr/>
          <p:nvPr/>
        </p:nvSpPr>
        <p:spPr>
          <a:xfrm>
            <a:off x="228600" y="0"/>
            <a:ext cx="10515600" cy="502920"/>
          </a:xfrm>
          <a:prstGeom prst="rect">
            <a:avLst/>
          </a:prstGeom>
          <a:noFill/>
          <a:ln/>
        </p:spPr>
        <p:txBody>
          <a:bodyPr wrap="square" lIns="38100" tIns="38100" rIns="38100" bIns="3810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Pipeline C — RAVDESS Dataset: Structure, Encoding &amp; Distribution</a:t>
            </a:r>
            <a:endParaRPr lang="en-US" sz="1400" dirty="0"/>
          </a:p>
        </p:txBody>
      </p:sp>
      <p:sp>
        <p:nvSpPr>
          <p:cNvPr id="4" name="Text 2"/>
          <p:cNvSpPr/>
          <p:nvPr/>
        </p:nvSpPr>
        <p:spPr>
          <a:xfrm>
            <a:off x="10789920" y="0"/>
            <a:ext cx="1188720" cy="502920"/>
          </a:xfrm>
          <a:prstGeom prst="rect">
            <a:avLst/>
          </a:prstGeom>
          <a:noFill/>
          <a:ln/>
        </p:spPr>
        <p:txBody>
          <a:bodyPr wrap="square" lIns="38100" tIns="38100" rIns="38100" bIns="38100" rtlCol="0" anchor="ctr"/>
          <a:lstStyle/>
          <a:p>
            <a:pPr algn="r" indent="0" marL="0">
              <a:buNone/>
            </a:pPr>
            <a:r>
              <a:rPr lang="en-US" sz="1100" b="1" dirty="0">
                <a:solidFill>
                  <a:srgbClr val="9EC8FF"/>
                </a:solidFill>
                <a:latin typeface="Calibri" pitchFamily="34" charset="0"/>
                <a:ea typeface="Calibri" pitchFamily="34" charset="-122"/>
                <a:cs typeface="Calibri" pitchFamily="34" charset="-120"/>
              </a:rPr>
              <a:t>2/9</a:t>
            </a:r>
            <a:endParaRPr lang="en-US" sz="1100" dirty="0"/>
          </a:p>
        </p:txBody>
      </p:sp>
      <p:sp>
        <p:nvSpPr>
          <p:cNvPr id="5" name="Text 3"/>
          <p:cNvSpPr/>
          <p:nvPr/>
        </p:nvSpPr>
        <p:spPr>
          <a:xfrm>
            <a:off x="228600" y="274320"/>
            <a:ext cx="11704320" cy="237744"/>
          </a:xfrm>
          <a:prstGeom prst="rect">
            <a:avLst/>
          </a:prstGeom>
          <a:noFill/>
          <a:ln/>
        </p:spPr>
        <p:txBody>
          <a:bodyPr wrap="square" lIns="38100" tIns="38100" rIns="38100" bIns="38100" rtlCol="0" anchor="ctr"/>
          <a:lstStyle/>
          <a:p>
            <a:pPr algn="l" indent="0" marL="0">
              <a:buNone/>
            </a:pPr>
            <a:r>
              <a:rPr lang="en-US" sz="750" dirty="0">
                <a:solidFill>
                  <a:srgbClr val="9EC8FF"/>
                </a:solidFill>
                <a:latin typeface="Calibri" pitchFamily="34" charset="0"/>
                <a:ea typeface="Calibri" pitchFamily="34" charset="-122"/>
                <a:cs typeface="Calibri" pitchFamily="34" charset="-120"/>
              </a:rPr>
              <a:t>24 actors  |  1,440 clips  |  8 emotions  |  16 kHz mono  |  Filename: 7-field hyphen encoding</a:t>
            </a:r>
            <a:endParaRPr lang="en-US" sz="750" dirty="0"/>
          </a:p>
        </p:txBody>
      </p:sp>
      <p:sp>
        <p:nvSpPr>
          <p:cNvPr id="6" name="Shape 4"/>
          <p:cNvSpPr/>
          <p:nvPr/>
        </p:nvSpPr>
        <p:spPr>
          <a:xfrm>
            <a:off x="0" y="6583680"/>
            <a:ext cx="12161520" cy="274320"/>
          </a:xfrm>
          <a:prstGeom prst="rect">
            <a:avLst/>
          </a:prstGeom>
          <a:solidFill>
            <a:srgbClr val="0F3460"/>
          </a:solidFill>
          <a:ln w="12700">
            <a:solidFill>
              <a:srgbClr val="0F3460"/>
            </a:solidFill>
            <a:prstDash val="solid"/>
          </a:ln>
        </p:spPr>
      </p:sp>
      <p:sp>
        <p:nvSpPr>
          <p:cNvPr id="7" name="Text 5"/>
          <p:cNvSpPr/>
          <p:nvPr/>
        </p:nvSpPr>
        <p:spPr>
          <a:xfrm>
            <a:off x="228600" y="6583680"/>
            <a:ext cx="11704320" cy="274320"/>
          </a:xfrm>
          <a:prstGeom prst="rect">
            <a:avLst/>
          </a:prstGeom>
          <a:noFill/>
          <a:ln/>
        </p:spPr>
        <p:txBody>
          <a:bodyPr wrap="square" lIns="38100" tIns="38100" rIns="38100" bIns="38100" rtlCol="0" anchor="ctr"/>
          <a:lstStyle/>
          <a:p>
            <a:pPr algn="l" indent="0" marL="0">
              <a:buNone/>
            </a:pPr>
            <a:r>
              <a:rPr lang="en-US" sz="600" dirty="0">
                <a:solidFill>
                  <a:srgbClr val="9EC8FF"/>
                </a:solidFill>
                <a:latin typeface="Calibri" pitchFamily="34" charset="0"/>
                <a:ea typeface="Calibri" pitchFamily="34" charset="-122"/>
                <a:cs typeface="Calibri" pitchFamily="34" charset="-120"/>
              </a:rPr>
              <a:t>MIVA-KNIGHT  |  IT 581 Capstone  |  Concordia University of Edmonton  |  Pipeline C — RAVDESS Standalone Audio Emotion Training</a:t>
            </a:r>
            <a:endParaRPr lang="en-US" sz="600" dirty="0"/>
          </a:p>
        </p:txBody>
      </p:sp>
      <p:sp>
        <p:nvSpPr>
          <p:cNvPr id="8" name="Shape 6"/>
          <p:cNvSpPr/>
          <p:nvPr/>
        </p:nvSpPr>
        <p:spPr>
          <a:xfrm>
            <a:off x="182880" y="621792"/>
            <a:ext cx="36576" cy="237744"/>
          </a:xfrm>
          <a:prstGeom prst="rect">
            <a:avLst/>
          </a:prstGeom>
          <a:solidFill>
            <a:srgbClr val="14407A"/>
          </a:solidFill>
          <a:ln w="12700">
            <a:solidFill>
              <a:srgbClr val="14407A"/>
            </a:solidFill>
            <a:prstDash val="solid"/>
          </a:ln>
        </p:spPr>
      </p:sp>
      <p:sp>
        <p:nvSpPr>
          <p:cNvPr id="9" name="Text 7"/>
          <p:cNvSpPr/>
          <p:nvPr/>
        </p:nvSpPr>
        <p:spPr>
          <a:xfrm>
            <a:off x="256032" y="621792"/>
            <a:ext cx="5486400" cy="237744"/>
          </a:xfrm>
          <a:prstGeom prst="rect">
            <a:avLst/>
          </a:prstGeom>
          <a:noFill/>
          <a:ln/>
        </p:spPr>
        <p:txBody>
          <a:bodyPr wrap="square" lIns="38100" tIns="38100" rIns="38100" bIns="38100" rtlCol="0" anchor="ctr"/>
          <a:lstStyle/>
          <a:p>
            <a:pPr algn="l" indent="0" marL="0">
              <a:buNone/>
            </a:pPr>
            <a:r>
              <a:rPr lang="en-US" sz="800" b="1" dirty="0">
                <a:solidFill>
                  <a:srgbClr val="14407A"/>
                </a:solidFill>
                <a:latin typeface="Calibri" pitchFamily="34" charset="0"/>
                <a:ea typeface="Calibri" pitchFamily="34" charset="-122"/>
                <a:cs typeface="Calibri" pitchFamily="34" charset="-120"/>
              </a:rPr>
              <a:t>RAVDESS — Ryerson Audio-Visual Database of Emotional Speech</a:t>
            </a:r>
            <a:endParaRPr lang="en-US" sz="800" dirty="0"/>
          </a:p>
        </p:txBody>
      </p:sp>
      <p:sp>
        <p:nvSpPr>
          <p:cNvPr id="10" name="Shape 8"/>
          <p:cNvSpPr/>
          <p:nvPr/>
        </p:nvSpPr>
        <p:spPr>
          <a:xfrm>
            <a:off x="182880" y="859536"/>
            <a:ext cx="5760720" cy="2286000"/>
          </a:xfrm>
          <a:prstGeom prst="rect">
            <a:avLst/>
          </a:prstGeom>
          <a:solidFill>
            <a:srgbClr val="D7E4F5"/>
          </a:solidFill>
          <a:ln w="12700">
            <a:solidFill>
              <a:srgbClr val="14407A"/>
            </a:solidFill>
            <a:prstDash val="solid"/>
          </a:ln>
          <a:effectLst>
            <a:outerShdw sx="100000" sy="100000" kx="0" ky="0" algn="bl" rotWithShape="0" blurRad="38100" dist="25400" dir="8100000">
              <a:srgbClr val="000000">
                <a:alpha val="9000"/>
              </a:srgbClr>
            </a:outerShdw>
          </a:effectLst>
        </p:spPr>
      </p:sp>
      <p:sp>
        <p:nvSpPr>
          <p:cNvPr id="11" name="Shape 9"/>
          <p:cNvSpPr/>
          <p:nvPr/>
        </p:nvSpPr>
        <p:spPr>
          <a:xfrm>
            <a:off x="219456" y="1078992"/>
            <a:ext cx="5687568" cy="237744"/>
          </a:xfrm>
          <a:prstGeom prst="rect">
            <a:avLst/>
          </a:prstGeom>
          <a:solidFill>
            <a:srgbClr val="D7E4F5"/>
          </a:solidFill>
          <a:ln w="3810">
            <a:solidFill>
              <a:srgbClr val="AAAAAA"/>
            </a:solidFill>
            <a:prstDash val="solid"/>
          </a:ln>
        </p:spPr>
      </p:sp>
      <p:sp>
        <p:nvSpPr>
          <p:cNvPr id="12" name="Text 10"/>
          <p:cNvSpPr/>
          <p:nvPr/>
        </p:nvSpPr>
        <p:spPr>
          <a:xfrm>
            <a:off x="274320" y="1078992"/>
            <a:ext cx="1554480" cy="237744"/>
          </a:xfrm>
          <a:prstGeom prst="rect">
            <a:avLst/>
          </a:prstGeom>
          <a:noFill/>
          <a:ln/>
        </p:spPr>
        <p:txBody>
          <a:bodyPr wrap="square" lIns="38100" tIns="38100" rIns="38100" bIns="38100" rtlCol="0" anchor="ctr"/>
          <a:lstStyle/>
          <a:p>
            <a:pPr algn="l" indent="0" marL="0">
              <a:buNone/>
            </a:pPr>
            <a:r>
              <a:rPr lang="en-US" sz="750" b="1" dirty="0">
                <a:solidFill>
                  <a:srgbClr val="14407A"/>
                </a:solidFill>
                <a:latin typeface="Calibri" pitchFamily="34" charset="0"/>
                <a:ea typeface="Calibri" pitchFamily="34" charset="-122"/>
                <a:cs typeface="Calibri" pitchFamily="34" charset="-120"/>
              </a:rPr>
              <a:t>Total clips</a:t>
            </a:r>
            <a:endParaRPr lang="en-US" sz="750" dirty="0"/>
          </a:p>
        </p:txBody>
      </p:sp>
      <p:sp>
        <p:nvSpPr>
          <p:cNvPr id="13" name="Text 11"/>
          <p:cNvSpPr/>
          <p:nvPr/>
        </p:nvSpPr>
        <p:spPr>
          <a:xfrm>
            <a:off x="1847088" y="1078992"/>
            <a:ext cx="4023360" cy="237744"/>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1,440 .wav audio-only files</a:t>
            </a:r>
            <a:endParaRPr lang="en-US" sz="750" dirty="0"/>
          </a:p>
        </p:txBody>
      </p:sp>
      <p:sp>
        <p:nvSpPr>
          <p:cNvPr id="14" name="Shape 12"/>
          <p:cNvSpPr/>
          <p:nvPr/>
        </p:nvSpPr>
        <p:spPr>
          <a:xfrm>
            <a:off x="219456" y="1316736"/>
            <a:ext cx="5687568" cy="237744"/>
          </a:xfrm>
          <a:prstGeom prst="rect">
            <a:avLst/>
          </a:prstGeom>
          <a:solidFill>
            <a:srgbClr val="FFFFFF"/>
          </a:solidFill>
          <a:ln w="3810">
            <a:solidFill>
              <a:srgbClr val="AAAAAA"/>
            </a:solidFill>
            <a:prstDash val="solid"/>
          </a:ln>
        </p:spPr>
      </p:sp>
      <p:sp>
        <p:nvSpPr>
          <p:cNvPr id="15" name="Text 13"/>
          <p:cNvSpPr/>
          <p:nvPr/>
        </p:nvSpPr>
        <p:spPr>
          <a:xfrm>
            <a:off x="274320" y="1316736"/>
            <a:ext cx="1554480" cy="237744"/>
          </a:xfrm>
          <a:prstGeom prst="rect">
            <a:avLst/>
          </a:prstGeom>
          <a:noFill/>
          <a:ln/>
        </p:spPr>
        <p:txBody>
          <a:bodyPr wrap="square" lIns="38100" tIns="38100" rIns="38100" bIns="38100" rtlCol="0" anchor="ctr"/>
          <a:lstStyle/>
          <a:p>
            <a:pPr algn="l" indent="0" marL="0">
              <a:buNone/>
            </a:pPr>
            <a:r>
              <a:rPr lang="en-US" sz="750" b="1" dirty="0">
                <a:solidFill>
                  <a:srgbClr val="14407A"/>
                </a:solidFill>
                <a:latin typeface="Calibri" pitchFamily="34" charset="0"/>
                <a:ea typeface="Calibri" pitchFamily="34" charset="-122"/>
                <a:cs typeface="Calibri" pitchFamily="34" charset="-120"/>
              </a:rPr>
              <a:t>Actors</a:t>
            </a:r>
            <a:endParaRPr lang="en-US" sz="750" dirty="0"/>
          </a:p>
        </p:txBody>
      </p:sp>
      <p:sp>
        <p:nvSpPr>
          <p:cNvPr id="16" name="Text 14"/>
          <p:cNvSpPr/>
          <p:nvPr/>
        </p:nvSpPr>
        <p:spPr>
          <a:xfrm>
            <a:off x="1847088" y="1316736"/>
            <a:ext cx="4023360" cy="237744"/>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24 professional actors — 12 male, 12 female</a:t>
            </a:r>
            <a:endParaRPr lang="en-US" sz="750" dirty="0"/>
          </a:p>
        </p:txBody>
      </p:sp>
      <p:sp>
        <p:nvSpPr>
          <p:cNvPr id="17" name="Shape 15"/>
          <p:cNvSpPr/>
          <p:nvPr/>
        </p:nvSpPr>
        <p:spPr>
          <a:xfrm>
            <a:off x="219456" y="1554480"/>
            <a:ext cx="5687568" cy="237744"/>
          </a:xfrm>
          <a:prstGeom prst="rect">
            <a:avLst/>
          </a:prstGeom>
          <a:solidFill>
            <a:srgbClr val="D7E4F5"/>
          </a:solidFill>
          <a:ln w="3810">
            <a:solidFill>
              <a:srgbClr val="AAAAAA"/>
            </a:solidFill>
            <a:prstDash val="solid"/>
          </a:ln>
        </p:spPr>
      </p:sp>
      <p:sp>
        <p:nvSpPr>
          <p:cNvPr id="18" name="Text 16"/>
          <p:cNvSpPr/>
          <p:nvPr/>
        </p:nvSpPr>
        <p:spPr>
          <a:xfrm>
            <a:off x="274320" y="1554480"/>
            <a:ext cx="1554480" cy="237744"/>
          </a:xfrm>
          <a:prstGeom prst="rect">
            <a:avLst/>
          </a:prstGeom>
          <a:noFill/>
          <a:ln/>
        </p:spPr>
        <p:txBody>
          <a:bodyPr wrap="square" lIns="38100" tIns="38100" rIns="38100" bIns="38100" rtlCol="0" anchor="ctr"/>
          <a:lstStyle/>
          <a:p>
            <a:pPr algn="l" indent="0" marL="0">
              <a:buNone/>
            </a:pPr>
            <a:r>
              <a:rPr lang="en-US" sz="750" b="1" dirty="0">
                <a:solidFill>
                  <a:srgbClr val="14407A"/>
                </a:solidFill>
                <a:latin typeface="Calibri" pitchFamily="34" charset="0"/>
                <a:ea typeface="Calibri" pitchFamily="34" charset="-122"/>
                <a:cs typeface="Calibri" pitchFamily="34" charset="-120"/>
              </a:rPr>
              <a:t>Emotions</a:t>
            </a:r>
            <a:endParaRPr lang="en-US" sz="750" dirty="0"/>
          </a:p>
        </p:txBody>
      </p:sp>
      <p:sp>
        <p:nvSpPr>
          <p:cNvPr id="19" name="Text 17"/>
          <p:cNvSpPr/>
          <p:nvPr/>
        </p:nvSpPr>
        <p:spPr>
          <a:xfrm>
            <a:off x="1847088" y="1554480"/>
            <a:ext cx="4023360" cy="237744"/>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8: neutral, calm, happy, sad, angry, fearful, disgust, surprised</a:t>
            </a:r>
            <a:endParaRPr lang="en-US" sz="750" dirty="0"/>
          </a:p>
        </p:txBody>
      </p:sp>
      <p:sp>
        <p:nvSpPr>
          <p:cNvPr id="20" name="Shape 18"/>
          <p:cNvSpPr/>
          <p:nvPr/>
        </p:nvSpPr>
        <p:spPr>
          <a:xfrm>
            <a:off x="219456" y="1792224"/>
            <a:ext cx="5687568" cy="237744"/>
          </a:xfrm>
          <a:prstGeom prst="rect">
            <a:avLst/>
          </a:prstGeom>
          <a:solidFill>
            <a:srgbClr val="FFFFFF"/>
          </a:solidFill>
          <a:ln w="3810">
            <a:solidFill>
              <a:srgbClr val="AAAAAA"/>
            </a:solidFill>
            <a:prstDash val="solid"/>
          </a:ln>
        </p:spPr>
      </p:sp>
      <p:sp>
        <p:nvSpPr>
          <p:cNvPr id="21" name="Text 19"/>
          <p:cNvSpPr/>
          <p:nvPr/>
        </p:nvSpPr>
        <p:spPr>
          <a:xfrm>
            <a:off x="274320" y="1792224"/>
            <a:ext cx="1554480" cy="237744"/>
          </a:xfrm>
          <a:prstGeom prst="rect">
            <a:avLst/>
          </a:prstGeom>
          <a:noFill/>
          <a:ln/>
        </p:spPr>
        <p:txBody>
          <a:bodyPr wrap="square" lIns="38100" tIns="38100" rIns="38100" bIns="38100" rtlCol="0" anchor="ctr"/>
          <a:lstStyle/>
          <a:p>
            <a:pPr algn="l" indent="0" marL="0">
              <a:buNone/>
            </a:pPr>
            <a:r>
              <a:rPr lang="en-US" sz="750" b="1" dirty="0">
                <a:solidFill>
                  <a:srgbClr val="14407A"/>
                </a:solidFill>
                <a:latin typeface="Calibri" pitchFamily="34" charset="0"/>
                <a:ea typeface="Calibri" pitchFamily="34" charset="-122"/>
                <a:cs typeface="Calibri" pitchFamily="34" charset="-120"/>
              </a:rPr>
              <a:t>Clips per actor</a:t>
            </a:r>
            <a:endParaRPr lang="en-US" sz="750" dirty="0"/>
          </a:p>
        </p:txBody>
      </p:sp>
      <p:sp>
        <p:nvSpPr>
          <p:cNvPr id="22" name="Text 20"/>
          <p:cNvSpPr/>
          <p:nvPr/>
        </p:nvSpPr>
        <p:spPr>
          <a:xfrm>
            <a:off x="1847088" y="1792224"/>
            <a:ext cx="4023360" cy="237744"/>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~60 (≈7.5 per emotion per actor)</a:t>
            </a:r>
            <a:endParaRPr lang="en-US" sz="750" dirty="0"/>
          </a:p>
        </p:txBody>
      </p:sp>
      <p:sp>
        <p:nvSpPr>
          <p:cNvPr id="23" name="Shape 21"/>
          <p:cNvSpPr/>
          <p:nvPr/>
        </p:nvSpPr>
        <p:spPr>
          <a:xfrm>
            <a:off x="219456" y="2029968"/>
            <a:ext cx="5687568" cy="237744"/>
          </a:xfrm>
          <a:prstGeom prst="rect">
            <a:avLst/>
          </a:prstGeom>
          <a:solidFill>
            <a:srgbClr val="D7E4F5"/>
          </a:solidFill>
          <a:ln w="3810">
            <a:solidFill>
              <a:srgbClr val="AAAAAA"/>
            </a:solidFill>
            <a:prstDash val="solid"/>
          </a:ln>
        </p:spPr>
      </p:sp>
      <p:sp>
        <p:nvSpPr>
          <p:cNvPr id="24" name="Text 22"/>
          <p:cNvSpPr/>
          <p:nvPr/>
        </p:nvSpPr>
        <p:spPr>
          <a:xfrm>
            <a:off x="274320" y="2029968"/>
            <a:ext cx="1554480" cy="237744"/>
          </a:xfrm>
          <a:prstGeom prst="rect">
            <a:avLst/>
          </a:prstGeom>
          <a:noFill/>
          <a:ln/>
        </p:spPr>
        <p:txBody>
          <a:bodyPr wrap="square" lIns="38100" tIns="38100" rIns="38100" bIns="38100" rtlCol="0" anchor="ctr"/>
          <a:lstStyle/>
          <a:p>
            <a:pPr algn="l" indent="0" marL="0">
              <a:buNone/>
            </a:pPr>
            <a:r>
              <a:rPr lang="en-US" sz="750" b="1" dirty="0">
                <a:solidFill>
                  <a:srgbClr val="14407A"/>
                </a:solidFill>
                <a:latin typeface="Calibri" pitchFamily="34" charset="0"/>
                <a:ea typeface="Calibri" pitchFamily="34" charset="-122"/>
                <a:cs typeface="Calibri" pitchFamily="34" charset="-120"/>
              </a:rPr>
              <a:t>Per emotion</a:t>
            </a:r>
            <a:endParaRPr lang="en-US" sz="750" dirty="0"/>
          </a:p>
        </p:txBody>
      </p:sp>
      <p:sp>
        <p:nvSpPr>
          <p:cNvPr id="25" name="Text 23"/>
          <p:cNvSpPr/>
          <p:nvPr/>
        </p:nvSpPr>
        <p:spPr>
          <a:xfrm>
            <a:off x="1847088" y="2029968"/>
            <a:ext cx="4023360" cy="237744"/>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~180 clips (24 actors × 7.5 clips — balanced classes)</a:t>
            </a:r>
            <a:endParaRPr lang="en-US" sz="750" dirty="0"/>
          </a:p>
        </p:txBody>
      </p:sp>
      <p:sp>
        <p:nvSpPr>
          <p:cNvPr id="26" name="Shape 24"/>
          <p:cNvSpPr/>
          <p:nvPr/>
        </p:nvSpPr>
        <p:spPr>
          <a:xfrm>
            <a:off x="219456" y="2267712"/>
            <a:ext cx="5687568" cy="237744"/>
          </a:xfrm>
          <a:prstGeom prst="rect">
            <a:avLst/>
          </a:prstGeom>
          <a:solidFill>
            <a:srgbClr val="FFFFFF"/>
          </a:solidFill>
          <a:ln w="3810">
            <a:solidFill>
              <a:srgbClr val="AAAAAA"/>
            </a:solidFill>
            <a:prstDash val="solid"/>
          </a:ln>
        </p:spPr>
      </p:sp>
      <p:sp>
        <p:nvSpPr>
          <p:cNvPr id="27" name="Text 25"/>
          <p:cNvSpPr/>
          <p:nvPr/>
        </p:nvSpPr>
        <p:spPr>
          <a:xfrm>
            <a:off x="274320" y="2267712"/>
            <a:ext cx="1554480" cy="237744"/>
          </a:xfrm>
          <a:prstGeom prst="rect">
            <a:avLst/>
          </a:prstGeom>
          <a:noFill/>
          <a:ln/>
        </p:spPr>
        <p:txBody>
          <a:bodyPr wrap="square" lIns="38100" tIns="38100" rIns="38100" bIns="38100" rtlCol="0" anchor="ctr"/>
          <a:lstStyle/>
          <a:p>
            <a:pPr algn="l" indent="0" marL="0">
              <a:buNone/>
            </a:pPr>
            <a:r>
              <a:rPr lang="en-US" sz="750" b="1" dirty="0">
                <a:solidFill>
                  <a:srgbClr val="14407A"/>
                </a:solidFill>
                <a:latin typeface="Calibri" pitchFamily="34" charset="0"/>
                <a:ea typeface="Calibri" pitchFamily="34" charset="-122"/>
                <a:cs typeface="Calibri" pitchFamily="34" charset="-120"/>
              </a:rPr>
              <a:t>Sample rate</a:t>
            </a:r>
            <a:endParaRPr lang="en-US" sz="750" dirty="0"/>
          </a:p>
        </p:txBody>
      </p:sp>
      <p:sp>
        <p:nvSpPr>
          <p:cNvPr id="28" name="Text 26"/>
          <p:cNvSpPr/>
          <p:nvPr/>
        </p:nvSpPr>
        <p:spPr>
          <a:xfrm>
            <a:off x="1847088" y="2267712"/>
            <a:ext cx="4023360" cy="237744"/>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Already 16 kHz mono — no resampling required</a:t>
            </a:r>
            <a:endParaRPr lang="en-US" sz="750" dirty="0"/>
          </a:p>
        </p:txBody>
      </p:sp>
      <p:sp>
        <p:nvSpPr>
          <p:cNvPr id="29" name="Shape 27"/>
          <p:cNvSpPr/>
          <p:nvPr/>
        </p:nvSpPr>
        <p:spPr>
          <a:xfrm>
            <a:off x="219456" y="2505456"/>
            <a:ext cx="5687568" cy="237744"/>
          </a:xfrm>
          <a:prstGeom prst="rect">
            <a:avLst/>
          </a:prstGeom>
          <a:solidFill>
            <a:srgbClr val="D7E4F5"/>
          </a:solidFill>
          <a:ln w="3810">
            <a:solidFill>
              <a:srgbClr val="AAAAAA"/>
            </a:solidFill>
            <a:prstDash val="solid"/>
          </a:ln>
        </p:spPr>
      </p:sp>
      <p:sp>
        <p:nvSpPr>
          <p:cNvPr id="30" name="Text 28"/>
          <p:cNvSpPr/>
          <p:nvPr/>
        </p:nvSpPr>
        <p:spPr>
          <a:xfrm>
            <a:off x="274320" y="2505456"/>
            <a:ext cx="1554480" cy="237744"/>
          </a:xfrm>
          <a:prstGeom prst="rect">
            <a:avLst/>
          </a:prstGeom>
          <a:noFill/>
          <a:ln/>
        </p:spPr>
        <p:txBody>
          <a:bodyPr wrap="square" lIns="38100" tIns="38100" rIns="38100" bIns="38100" rtlCol="0" anchor="ctr"/>
          <a:lstStyle/>
          <a:p>
            <a:pPr algn="l" indent="0" marL="0">
              <a:buNone/>
            </a:pPr>
            <a:r>
              <a:rPr lang="en-US" sz="750" b="1" dirty="0">
                <a:solidFill>
                  <a:srgbClr val="14407A"/>
                </a:solidFill>
                <a:latin typeface="Calibri" pitchFamily="34" charset="0"/>
                <a:ea typeface="Calibri" pitchFamily="34" charset="-122"/>
                <a:cs typeface="Calibri" pitchFamily="34" charset="-120"/>
              </a:rPr>
              <a:t>Intensity</a:t>
            </a:r>
            <a:endParaRPr lang="en-US" sz="750" dirty="0"/>
          </a:p>
        </p:txBody>
      </p:sp>
      <p:sp>
        <p:nvSpPr>
          <p:cNvPr id="31" name="Text 29"/>
          <p:cNvSpPr/>
          <p:nvPr/>
        </p:nvSpPr>
        <p:spPr>
          <a:xfrm>
            <a:off x="1847088" y="2505456"/>
            <a:ext cx="4023360" cy="237744"/>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Two levels per clip: normal (01) and strong (02)</a:t>
            </a:r>
            <a:endParaRPr lang="en-US" sz="750" dirty="0"/>
          </a:p>
        </p:txBody>
      </p:sp>
      <p:sp>
        <p:nvSpPr>
          <p:cNvPr id="32" name="Shape 30"/>
          <p:cNvSpPr/>
          <p:nvPr/>
        </p:nvSpPr>
        <p:spPr>
          <a:xfrm>
            <a:off x="219456" y="2743200"/>
            <a:ext cx="5687568" cy="237744"/>
          </a:xfrm>
          <a:prstGeom prst="rect">
            <a:avLst/>
          </a:prstGeom>
          <a:solidFill>
            <a:srgbClr val="FFFFFF"/>
          </a:solidFill>
          <a:ln w="3810">
            <a:solidFill>
              <a:srgbClr val="AAAAAA"/>
            </a:solidFill>
            <a:prstDash val="solid"/>
          </a:ln>
        </p:spPr>
      </p:sp>
      <p:sp>
        <p:nvSpPr>
          <p:cNvPr id="33" name="Text 31"/>
          <p:cNvSpPr/>
          <p:nvPr/>
        </p:nvSpPr>
        <p:spPr>
          <a:xfrm>
            <a:off x="274320" y="2743200"/>
            <a:ext cx="1554480" cy="237744"/>
          </a:xfrm>
          <a:prstGeom prst="rect">
            <a:avLst/>
          </a:prstGeom>
          <a:noFill/>
          <a:ln/>
        </p:spPr>
        <p:txBody>
          <a:bodyPr wrap="square" lIns="38100" tIns="38100" rIns="38100" bIns="38100" rtlCol="0" anchor="ctr"/>
          <a:lstStyle/>
          <a:p>
            <a:pPr algn="l" indent="0" marL="0">
              <a:buNone/>
            </a:pPr>
            <a:r>
              <a:rPr lang="en-US" sz="750" b="1" dirty="0">
                <a:solidFill>
                  <a:srgbClr val="14407A"/>
                </a:solidFill>
                <a:latin typeface="Calibri" pitchFamily="34" charset="0"/>
                <a:ea typeface="Calibri" pitchFamily="34" charset="-122"/>
                <a:cs typeface="Calibri" pitchFamily="34" charset="-120"/>
              </a:rPr>
              <a:t>Modality used</a:t>
            </a:r>
            <a:endParaRPr lang="en-US" sz="750" dirty="0"/>
          </a:p>
        </p:txBody>
      </p:sp>
      <p:sp>
        <p:nvSpPr>
          <p:cNvPr id="34" name="Text 32"/>
          <p:cNvSpPr/>
          <p:nvPr/>
        </p:nvSpPr>
        <p:spPr>
          <a:xfrm>
            <a:off x="1847088" y="2743200"/>
            <a:ext cx="4023360" cy="237744"/>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Modality=03 (audio-only speech) — Channel=01 (speech, not song)</a:t>
            </a:r>
            <a:endParaRPr lang="en-US" sz="750" dirty="0"/>
          </a:p>
        </p:txBody>
      </p:sp>
      <p:sp>
        <p:nvSpPr>
          <p:cNvPr id="35" name="Shape 33"/>
          <p:cNvSpPr/>
          <p:nvPr/>
        </p:nvSpPr>
        <p:spPr>
          <a:xfrm>
            <a:off x="219456" y="2980944"/>
            <a:ext cx="5687568" cy="237744"/>
          </a:xfrm>
          <a:prstGeom prst="rect">
            <a:avLst/>
          </a:prstGeom>
          <a:solidFill>
            <a:srgbClr val="D7E4F5"/>
          </a:solidFill>
          <a:ln w="3810">
            <a:solidFill>
              <a:srgbClr val="AAAAAA"/>
            </a:solidFill>
            <a:prstDash val="solid"/>
          </a:ln>
        </p:spPr>
      </p:sp>
      <p:sp>
        <p:nvSpPr>
          <p:cNvPr id="36" name="Text 34"/>
          <p:cNvSpPr/>
          <p:nvPr/>
        </p:nvSpPr>
        <p:spPr>
          <a:xfrm>
            <a:off x="274320" y="2980944"/>
            <a:ext cx="1554480" cy="237744"/>
          </a:xfrm>
          <a:prstGeom prst="rect">
            <a:avLst/>
          </a:prstGeom>
          <a:noFill/>
          <a:ln/>
        </p:spPr>
        <p:txBody>
          <a:bodyPr wrap="square" lIns="38100" tIns="38100" rIns="38100" bIns="38100" rtlCol="0" anchor="ctr"/>
          <a:lstStyle/>
          <a:p>
            <a:pPr algn="l" indent="0" marL="0">
              <a:buNone/>
            </a:pPr>
            <a:r>
              <a:rPr lang="en-US" sz="750" b="1" dirty="0">
                <a:solidFill>
                  <a:srgbClr val="14407A"/>
                </a:solidFill>
                <a:latin typeface="Calibri" pitchFamily="34" charset="0"/>
                <a:ea typeface="Calibri" pitchFamily="34" charset="-122"/>
                <a:cs typeface="Calibri" pitchFamily="34" charset="-120"/>
              </a:rPr>
              <a:t>Why audio-only?</a:t>
            </a:r>
            <a:endParaRPr lang="en-US" sz="750" dirty="0"/>
          </a:p>
        </p:txBody>
      </p:sp>
      <p:sp>
        <p:nvSpPr>
          <p:cNvPr id="37" name="Text 35"/>
          <p:cNvSpPr/>
          <p:nvPr/>
        </p:nvSpPr>
        <p:spPr>
          <a:xfrm>
            <a:off x="1847088" y="2980944"/>
            <a:ext cx="4023360" cy="237744"/>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Pipeline C trains AudioProjection — no video frames, no text, no images</a:t>
            </a:r>
            <a:endParaRPr lang="en-US" sz="750" dirty="0"/>
          </a:p>
        </p:txBody>
      </p:sp>
      <p:sp>
        <p:nvSpPr>
          <p:cNvPr id="38" name="Shape 36"/>
          <p:cNvSpPr/>
          <p:nvPr/>
        </p:nvSpPr>
        <p:spPr>
          <a:xfrm>
            <a:off x="6108192" y="621792"/>
            <a:ext cx="36576" cy="237744"/>
          </a:xfrm>
          <a:prstGeom prst="rect">
            <a:avLst/>
          </a:prstGeom>
          <a:solidFill>
            <a:srgbClr val="7B1FA2"/>
          </a:solidFill>
          <a:ln w="12700">
            <a:solidFill>
              <a:srgbClr val="7B1FA2"/>
            </a:solidFill>
            <a:prstDash val="solid"/>
          </a:ln>
        </p:spPr>
      </p:sp>
      <p:sp>
        <p:nvSpPr>
          <p:cNvPr id="39" name="Text 37"/>
          <p:cNvSpPr/>
          <p:nvPr/>
        </p:nvSpPr>
        <p:spPr>
          <a:xfrm>
            <a:off x="6181344" y="621792"/>
            <a:ext cx="5486400" cy="237744"/>
          </a:xfrm>
          <a:prstGeom prst="rect">
            <a:avLst/>
          </a:prstGeom>
          <a:noFill/>
          <a:ln/>
        </p:spPr>
        <p:txBody>
          <a:bodyPr wrap="square" lIns="38100" tIns="38100" rIns="38100" bIns="38100" rtlCol="0" anchor="ctr"/>
          <a:lstStyle/>
          <a:p>
            <a:pPr algn="l" indent="0" marL="0">
              <a:buNone/>
            </a:pPr>
            <a:r>
              <a:rPr lang="en-US" sz="800" b="1" dirty="0">
                <a:solidFill>
                  <a:srgbClr val="7B1FA2"/>
                </a:solidFill>
                <a:latin typeface="Calibri" pitchFamily="34" charset="0"/>
                <a:ea typeface="Calibri" pitchFamily="34" charset="-122"/>
                <a:cs typeface="Calibri" pitchFamily="34" charset="-120"/>
              </a:rPr>
              <a:t>Expected Emotion Distribution (~180 clips per class)</a:t>
            </a:r>
            <a:endParaRPr lang="en-US" sz="800" dirty="0"/>
          </a:p>
        </p:txBody>
      </p:sp>
      <p:sp>
        <p:nvSpPr>
          <p:cNvPr id="40" name="Shape 38"/>
          <p:cNvSpPr/>
          <p:nvPr/>
        </p:nvSpPr>
        <p:spPr>
          <a:xfrm>
            <a:off x="6108192" y="859536"/>
            <a:ext cx="1444752" cy="457200"/>
          </a:xfrm>
          <a:prstGeom prst="rect">
            <a:avLst/>
          </a:prstGeom>
          <a:solidFill>
            <a:srgbClr val="F3E5F5"/>
          </a:solidFill>
          <a:ln w="10160">
            <a:solidFill>
              <a:srgbClr val="7B1FA2"/>
            </a:solidFill>
            <a:prstDash val="solid"/>
          </a:ln>
          <a:effectLst>
            <a:outerShdw sx="100000" sy="100000" kx="0" ky="0" algn="bl" rotWithShape="0" blurRad="38100" dist="25400" dir="8100000">
              <a:srgbClr val="000000">
                <a:alpha val="9000"/>
              </a:srgbClr>
            </a:outerShdw>
          </a:effectLst>
        </p:spPr>
      </p:sp>
      <p:sp>
        <p:nvSpPr>
          <p:cNvPr id="41" name="Text 39"/>
          <p:cNvSpPr/>
          <p:nvPr/>
        </p:nvSpPr>
        <p:spPr>
          <a:xfrm>
            <a:off x="6181344" y="859536"/>
            <a:ext cx="1298448" cy="237744"/>
          </a:xfrm>
          <a:prstGeom prst="rect">
            <a:avLst/>
          </a:prstGeom>
          <a:noFill/>
          <a:ln/>
        </p:spPr>
        <p:txBody>
          <a:bodyPr wrap="square" lIns="38100" tIns="38100" rIns="38100" bIns="38100" rtlCol="0" anchor="ctr"/>
          <a:lstStyle/>
          <a:p>
            <a:pPr algn="l" indent="0" marL="0">
              <a:buNone/>
            </a:pPr>
            <a:r>
              <a:rPr lang="en-US" sz="800" b="1" dirty="0">
                <a:solidFill>
                  <a:srgbClr val="7B1FA2"/>
                </a:solidFill>
                <a:latin typeface="Calibri" pitchFamily="34" charset="0"/>
                <a:ea typeface="Calibri" pitchFamily="34" charset="-122"/>
                <a:cs typeface="Calibri" pitchFamily="34" charset="-120"/>
              </a:rPr>
              <a:t>neutral</a:t>
            </a:r>
            <a:endParaRPr lang="en-US" sz="800" dirty="0"/>
          </a:p>
        </p:txBody>
      </p:sp>
      <p:sp>
        <p:nvSpPr>
          <p:cNvPr id="42" name="Text 40"/>
          <p:cNvSpPr/>
          <p:nvPr/>
        </p:nvSpPr>
        <p:spPr>
          <a:xfrm>
            <a:off x="6181344" y="1078992"/>
            <a:ext cx="1298448" cy="219456"/>
          </a:xfrm>
          <a:prstGeom prst="rect">
            <a:avLst/>
          </a:prstGeom>
          <a:noFill/>
          <a:ln/>
        </p:spPr>
        <p:txBody>
          <a:bodyPr wrap="square" lIns="38100" tIns="38100" rIns="38100" bIns="38100" rtlCol="0" anchor="ctr"/>
          <a:lstStyle/>
          <a:p>
            <a:pPr algn="l" indent="0" marL="0">
              <a:buNone/>
            </a:pPr>
            <a:r>
              <a:rPr lang="en-US" sz="650" dirty="0">
                <a:solidFill>
                  <a:srgbClr val="444444"/>
                </a:solidFill>
                <a:latin typeface="Calibri" pitchFamily="34" charset="0"/>
                <a:ea typeface="Calibri" pitchFamily="34" charset="-122"/>
                <a:cs typeface="Calibri" pitchFamily="34" charset="-120"/>
              </a:rPr>
              <a:t>code 01  |  ~180 clips</a:t>
            </a:r>
            <a:endParaRPr lang="en-US" sz="650" dirty="0"/>
          </a:p>
        </p:txBody>
      </p:sp>
      <p:sp>
        <p:nvSpPr>
          <p:cNvPr id="43" name="Shape 41"/>
          <p:cNvSpPr/>
          <p:nvPr/>
        </p:nvSpPr>
        <p:spPr>
          <a:xfrm>
            <a:off x="7616952" y="859536"/>
            <a:ext cx="1444752" cy="457200"/>
          </a:xfrm>
          <a:prstGeom prst="rect">
            <a:avLst/>
          </a:prstGeom>
          <a:solidFill>
            <a:srgbClr val="F3E5F5"/>
          </a:solidFill>
          <a:ln w="10160">
            <a:solidFill>
              <a:srgbClr val="7B1FA2"/>
            </a:solidFill>
            <a:prstDash val="solid"/>
          </a:ln>
          <a:effectLst>
            <a:outerShdw sx="100000" sy="100000" kx="0" ky="0" algn="bl" rotWithShape="0" blurRad="38100" dist="25400" dir="8100000">
              <a:srgbClr val="000000">
                <a:alpha val="9000"/>
              </a:srgbClr>
            </a:outerShdw>
          </a:effectLst>
        </p:spPr>
      </p:sp>
      <p:sp>
        <p:nvSpPr>
          <p:cNvPr id="44" name="Text 42"/>
          <p:cNvSpPr/>
          <p:nvPr/>
        </p:nvSpPr>
        <p:spPr>
          <a:xfrm>
            <a:off x="7690104" y="859536"/>
            <a:ext cx="1298448" cy="237744"/>
          </a:xfrm>
          <a:prstGeom prst="rect">
            <a:avLst/>
          </a:prstGeom>
          <a:noFill/>
          <a:ln/>
        </p:spPr>
        <p:txBody>
          <a:bodyPr wrap="square" lIns="38100" tIns="38100" rIns="38100" bIns="38100" rtlCol="0" anchor="ctr"/>
          <a:lstStyle/>
          <a:p>
            <a:pPr algn="l" indent="0" marL="0">
              <a:buNone/>
            </a:pPr>
            <a:r>
              <a:rPr lang="en-US" sz="800" b="1" dirty="0">
                <a:solidFill>
                  <a:srgbClr val="7B1FA2"/>
                </a:solidFill>
                <a:latin typeface="Calibri" pitchFamily="34" charset="0"/>
                <a:ea typeface="Calibri" pitchFamily="34" charset="-122"/>
                <a:cs typeface="Calibri" pitchFamily="34" charset="-120"/>
              </a:rPr>
              <a:t>calm</a:t>
            </a:r>
            <a:endParaRPr lang="en-US" sz="800" dirty="0"/>
          </a:p>
        </p:txBody>
      </p:sp>
      <p:sp>
        <p:nvSpPr>
          <p:cNvPr id="45" name="Text 43"/>
          <p:cNvSpPr/>
          <p:nvPr/>
        </p:nvSpPr>
        <p:spPr>
          <a:xfrm>
            <a:off x="7690104" y="1078992"/>
            <a:ext cx="1298448" cy="219456"/>
          </a:xfrm>
          <a:prstGeom prst="rect">
            <a:avLst/>
          </a:prstGeom>
          <a:noFill/>
          <a:ln/>
        </p:spPr>
        <p:txBody>
          <a:bodyPr wrap="square" lIns="38100" tIns="38100" rIns="38100" bIns="38100" rtlCol="0" anchor="ctr"/>
          <a:lstStyle/>
          <a:p>
            <a:pPr algn="l" indent="0" marL="0">
              <a:buNone/>
            </a:pPr>
            <a:r>
              <a:rPr lang="en-US" sz="650" dirty="0">
                <a:solidFill>
                  <a:srgbClr val="444444"/>
                </a:solidFill>
                <a:latin typeface="Calibri" pitchFamily="34" charset="0"/>
                <a:ea typeface="Calibri" pitchFamily="34" charset="-122"/>
                <a:cs typeface="Calibri" pitchFamily="34" charset="-120"/>
              </a:rPr>
              <a:t>code 02  |  ~180 clips</a:t>
            </a:r>
            <a:endParaRPr lang="en-US" sz="650" dirty="0"/>
          </a:p>
        </p:txBody>
      </p:sp>
      <p:sp>
        <p:nvSpPr>
          <p:cNvPr id="46" name="Shape 44"/>
          <p:cNvSpPr/>
          <p:nvPr/>
        </p:nvSpPr>
        <p:spPr>
          <a:xfrm>
            <a:off x="9125712" y="859536"/>
            <a:ext cx="1444752" cy="457200"/>
          </a:xfrm>
          <a:prstGeom prst="rect">
            <a:avLst/>
          </a:prstGeom>
          <a:solidFill>
            <a:srgbClr val="F3E5F5"/>
          </a:solidFill>
          <a:ln w="10160">
            <a:solidFill>
              <a:srgbClr val="7B1FA2"/>
            </a:solidFill>
            <a:prstDash val="solid"/>
          </a:ln>
          <a:effectLst>
            <a:outerShdw sx="100000" sy="100000" kx="0" ky="0" algn="bl" rotWithShape="0" blurRad="38100" dist="25400" dir="8100000">
              <a:srgbClr val="000000">
                <a:alpha val="9000"/>
              </a:srgbClr>
            </a:outerShdw>
          </a:effectLst>
        </p:spPr>
      </p:sp>
      <p:sp>
        <p:nvSpPr>
          <p:cNvPr id="47" name="Text 45"/>
          <p:cNvSpPr/>
          <p:nvPr/>
        </p:nvSpPr>
        <p:spPr>
          <a:xfrm>
            <a:off x="9198864" y="859536"/>
            <a:ext cx="1298448" cy="237744"/>
          </a:xfrm>
          <a:prstGeom prst="rect">
            <a:avLst/>
          </a:prstGeom>
          <a:noFill/>
          <a:ln/>
        </p:spPr>
        <p:txBody>
          <a:bodyPr wrap="square" lIns="38100" tIns="38100" rIns="38100" bIns="38100" rtlCol="0" anchor="ctr"/>
          <a:lstStyle/>
          <a:p>
            <a:pPr algn="l" indent="0" marL="0">
              <a:buNone/>
            </a:pPr>
            <a:r>
              <a:rPr lang="en-US" sz="800" b="1" dirty="0">
                <a:solidFill>
                  <a:srgbClr val="7B1FA2"/>
                </a:solidFill>
                <a:latin typeface="Calibri" pitchFamily="34" charset="0"/>
                <a:ea typeface="Calibri" pitchFamily="34" charset="-122"/>
                <a:cs typeface="Calibri" pitchFamily="34" charset="-120"/>
              </a:rPr>
              <a:t>happy</a:t>
            </a:r>
            <a:endParaRPr lang="en-US" sz="800" dirty="0"/>
          </a:p>
        </p:txBody>
      </p:sp>
      <p:sp>
        <p:nvSpPr>
          <p:cNvPr id="48" name="Text 46"/>
          <p:cNvSpPr/>
          <p:nvPr/>
        </p:nvSpPr>
        <p:spPr>
          <a:xfrm>
            <a:off x="9198864" y="1078992"/>
            <a:ext cx="1298448" cy="219456"/>
          </a:xfrm>
          <a:prstGeom prst="rect">
            <a:avLst/>
          </a:prstGeom>
          <a:noFill/>
          <a:ln/>
        </p:spPr>
        <p:txBody>
          <a:bodyPr wrap="square" lIns="38100" tIns="38100" rIns="38100" bIns="38100" rtlCol="0" anchor="ctr"/>
          <a:lstStyle/>
          <a:p>
            <a:pPr algn="l" indent="0" marL="0">
              <a:buNone/>
            </a:pPr>
            <a:r>
              <a:rPr lang="en-US" sz="650" dirty="0">
                <a:solidFill>
                  <a:srgbClr val="444444"/>
                </a:solidFill>
                <a:latin typeface="Calibri" pitchFamily="34" charset="0"/>
                <a:ea typeface="Calibri" pitchFamily="34" charset="-122"/>
                <a:cs typeface="Calibri" pitchFamily="34" charset="-120"/>
              </a:rPr>
              <a:t>code 03  |  ~180 clips</a:t>
            </a:r>
            <a:endParaRPr lang="en-US" sz="650" dirty="0"/>
          </a:p>
        </p:txBody>
      </p:sp>
      <p:sp>
        <p:nvSpPr>
          <p:cNvPr id="49" name="Shape 47"/>
          <p:cNvSpPr/>
          <p:nvPr/>
        </p:nvSpPr>
        <p:spPr>
          <a:xfrm>
            <a:off x="10634472" y="859536"/>
            <a:ext cx="1444752" cy="457200"/>
          </a:xfrm>
          <a:prstGeom prst="rect">
            <a:avLst/>
          </a:prstGeom>
          <a:solidFill>
            <a:srgbClr val="F3E5F5"/>
          </a:solidFill>
          <a:ln w="10160">
            <a:solidFill>
              <a:srgbClr val="7B1FA2"/>
            </a:solidFill>
            <a:prstDash val="solid"/>
          </a:ln>
          <a:effectLst>
            <a:outerShdw sx="100000" sy="100000" kx="0" ky="0" algn="bl" rotWithShape="0" blurRad="38100" dist="25400" dir="8100000">
              <a:srgbClr val="000000">
                <a:alpha val="9000"/>
              </a:srgbClr>
            </a:outerShdw>
          </a:effectLst>
        </p:spPr>
      </p:sp>
      <p:sp>
        <p:nvSpPr>
          <p:cNvPr id="50" name="Text 48"/>
          <p:cNvSpPr/>
          <p:nvPr/>
        </p:nvSpPr>
        <p:spPr>
          <a:xfrm>
            <a:off x="10707624" y="859536"/>
            <a:ext cx="1298448" cy="237744"/>
          </a:xfrm>
          <a:prstGeom prst="rect">
            <a:avLst/>
          </a:prstGeom>
          <a:noFill/>
          <a:ln/>
        </p:spPr>
        <p:txBody>
          <a:bodyPr wrap="square" lIns="38100" tIns="38100" rIns="38100" bIns="38100" rtlCol="0" anchor="ctr"/>
          <a:lstStyle/>
          <a:p>
            <a:pPr algn="l" indent="0" marL="0">
              <a:buNone/>
            </a:pPr>
            <a:r>
              <a:rPr lang="en-US" sz="800" b="1" dirty="0">
                <a:solidFill>
                  <a:srgbClr val="7B1FA2"/>
                </a:solidFill>
                <a:latin typeface="Calibri" pitchFamily="34" charset="0"/>
                <a:ea typeface="Calibri" pitchFamily="34" charset="-122"/>
                <a:cs typeface="Calibri" pitchFamily="34" charset="-120"/>
              </a:rPr>
              <a:t>sad</a:t>
            </a:r>
            <a:endParaRPr lang="en-US" sz="800" dirty="0"/>
          </a:p>
        </p:txBody>
      </p:sp>
      <p:sp>
        <p:nvSpPr>
          <p:cNvPr id="51" name="Text 49"/>
          <p:cNvSpPr/>
          <p:nvPr/>
        </p:nvSpPr>
        <p:spPr>
          <a:xfrm>
            <a:off x="10707624" y="1078992"/>
            <a:ext cx="1298448" cy="219456"/>
          </a:xfrm>
          <a:prstGeom prst="rect">
            <a:avLst/>
          </a:prstGeom>
          <a:noFill/>
          <a:ln/>
        </p:spPr>
        <p:txBody>
          <a:bodyPr wrap="square" lIns="38100" tIns="38100" rIns="38100" bIns="38100" rtlCol="0" anchor="ctr"/>
          <a:lstStyle/>
          <a:p>
            <a:pPr algn="l" indent="0" marL="0">
              <a:buNone/>
            </a:pPr>
            <a:r>
              <a:rPr lang="en-US" sz="650" dirty="0">
                <a:solidFill>
                  <a:srgbClr val="444444"/>
                </a:solidFill>
                <a:latin typeface="Calibri" pitchFamily="34" charset="0"/>
                <a:ea typeface="Calibri" pitchFamily="34" charset="-122"/>
                <a:cs typeface="Calibri" pitchFamily="34" charset="-120"/>
              </a:rPr>
              <a:t>code 04  |  ~180 clips</a:t>
            </a:r>
            <a:endParaRPr lang="en-US" sz="650" dirty="0"/>
          </a:p>
        </p:txBody>
      </p:sp>
      <p:sp>
        <p:nvSpPr>
          <p:cNvPr id="52" name="Shape 50"/>
          <p:cNvSpPr/>
          <p:nvPr/>
        </p:nvSpPr>
        <p:spPr>
          <a:xfrm>
            <a:off x="6108192" y="1371600"/>
            <a:ext cx="1444752" cy="457200"/>
          </a:xfrm>
          <a:prstGeom prst="rect">
            <a:avLst/>
          </a:prstGeom>
          <a:solidFill>
            <a:srgbClr val="F3E5F5"/>
          </a:solidFill>
          <a:ln w="10160">
            <a:solidFill>
              <a:srgbClr val="7B1FA2"/>
            </a:solidFill>
            <a:prstDash val="solid"/>
          </a:ln>
          <a:effectLst>
            <a:outerShdw sx="100000" sy="100000" kx="0" ky="0" algn="bl" rotWithShape="0" blurRad="38100" dist="25400" dir="8100000">
              <a:srgbClr val="000000">
                <a:alpha val="9000"/>
              </a:srgbClr>
            </a:outerShdw>
          </a:effectLst>
        </p:spPr>
      </p:sp>
      <p:sp>
        <p:nvSpPr>
          <p:cNvPr id="53" name="Text 51"/>
          <p:cNvSpPr/>
          <p:nvPr/>
        </p:nvSpPr>
        <p:spPr>
          <a:xfrm>
            <a:off x="6181344" y="1371600"/>
            <a:ext cx="1298448" cy="237744"/>
          </a:xfrm>
          <a:prstGeom prst="rect">
            <a:avLst/>
          </a:prstGeom>
          <a:noFill/>
          <a:ln/>
        </p:spPr>
        <p:txBody>
          <a:bodyPr wrap="square" lIns="38100" tIns="38100" rIns="38100" bIns="38100" rtlCol="0" anchor="ctr"/>
          <a:lstStyle/>
          <a:p>
            <a:pPr algn="l" indent="0" marL="0">
              <a:buNone/>
            </a:pPr>
            <a:r>
              <a:rPr lang="en-US" sz="800" b="1" dirty="0">
                <a:solidFill>
                  <a:srgbClr val="7B1FA2"/>
                </a:solidFill>
                <a:latin typeface="Calibri" pitchFamily="34" charset="0"/>
                <a:ea typeface="Calibri" pitchFamily="34" charset="-122"/>
                <a:cs typeface="Calibri" pitchFamily="34" charset="-120"/>
              </a:rPr>
              <a:t>angry</a:t>
            </a:r>
            <a:endParaRPr lang="en-US" sz="800" dirty="0"/>
          </a:p>
        </p:txBody>
      </p:sp>
      <p:sp>
        <p:nvSpPr>
          <p:cNvPr id="54" name="Text 52"/>
          <p:cNvSpPr/>
          <p:nvPr/>
        </p:nvSpPr>
        <p:spPr>
          <a:xfrm>
            <a:off x="6181344" y="1591056"/>
            <a:ext cx="1298448" cy="219456"/>
          </a:xfrm>
          <a:prstGeom prst="rect">
            <a:avLst/>
          </a:prstGeom>
          <a:noFill/>
          <a:ln/>
        </p:spPr>
        <p:txBody>
          <a:bodyPr wrap="square" lIns="38100" tIns="38100" rIns="38100" bIns="38100" rtlCol="0" anchor="ctr"/>
          <a:lstStyle/>
          <a:p>
            <a:pPr algn="l" indent="0" marL="0">
              <a:buNone/>
            </a:pPr>
            <a:r>
              <a:rPr lang="en-US" sz="650" dirty="0">
                <a:solidFill>
                  <a:srgbClr val="444444"/>
                </a:solidFill>
                <a:latin typeface="Calibri" pitchFamily="34" charset="0"/>
                <a:ea typeface="Calibri" pitchFamily="34" charset="-122"/>
                <a:cs typeface="Calibri" pitchFamily="34" charset="-120"/>
              </a:rPr>
              <a:t>code 05  |  ~180 clips</a:t>
            </a:r>
            <a:endParaRPr lang="en-US" sz="650" dirty="0"/>
          </a:p>
        </p:txBody>
      </p:sp>
      <p:sp>
        <p:nvSpPr>
          <p:cNvPr id="55" name="Shape 53"/>
          <p:cNvSpPr/>
          <p:nvPr/>
        </p:nvSpPr>
        <p:spPr>
          <a:xfrm>
            <a:off x="7616952" y="1371600"/>
            <a:ext cx="1444752" cy="457200"/>
          </a:xfrm>
          <a:prstGeom prst="rect">
            <a:avLst/>
          </a:prstGeom>
          <a:solidFill>
            <a:srgbClr val="F3E5F5"/>
          </a:solidFill>
          <a:ln w="10160">
            <a:solidFill>
              <a:srgbClr val="7B1FA2"/>
            </a:solidFill>
            <a:prstDash val="solid"/>
          </a:ln>
          <a:effectLst>
            <a:outerShdw sx="100000" sy="100000" kx="0" ky="0" algn="bl" rotWithShape="0" blurRad="38100" dist="25400" dir="8100000">
              <a:srgbClr val="000000">
                <a:alpha val="9000"/>
              </a:srgbClr>
            </a:outerShdw>
          </a:effectLst>
        </p:spPr>
      </p:sp>
      <p:sp>
        <p:nvSpPr>
          <p:cNvPr id="56" name="Text 54"/>
          <p:cNvSpPr/>
          <p:nvPr/>
        </p:nvSpPr>
        <p:spPr>
          <a:xfrm>
            <a:off x="7690104" y="1371600"/>
            <a:ext cx="1298448" cy="237744"/>
          </a:xfrm>
          <a:prstGeom prst="rect">
            <a:avLst/>
          </a:prstGeom>
          <a:noFill/>
          <a:ln/>
        </p:spPr>
        <p:txBody>
          <a:bodyPr wrap="square" lIns="38100" tIns="38100" rIns="38100" bIns="38100" rtlCol="0" anchor="ctr"/>
          <a:lstStyle/>
          <a:p>
            <a:pPr algn="l" indent="0" marL="0">
              <a:buNone/>
            </a:pPr>
            <a:r>
              <a:rPr lang="en-US" sz="800" b="1" dirty="0">
                <a:solidFill>
                  <a:srgbClr val="7B1FA2"/>
                </a:solidFill>
                <a:latin typeface="Calibri" pitchFamily="34" charset="0"/>
                <a:ea typeface="Calibri" pitchFamily="34" charset="-122"/>
                <a:cs typeface="Calibri" pitchFamily="34" charset="-120"/>
              </a:rPr>
              <a:t>fearful</a:t>
            </a:r>
            <a:endParaRPr lang="en-US" sz="800" dirty="0"/>
          </a:p>
        </p:txBody>
      </p:sp>
      <p:sp>
        <p:nvSpPr>
          <p:cNvPr id="57" name="Text 55"/>
          <p:cNvSpPr/>
          <p:nvPr/>
        </p:nvSpPr>
        <p:spPr>
          <a:xfrm>
            <a:off x="7690104" y="1591056"/>
            <a:ext cx="1298448" cy="219456"/>
          </a:xfrm>
          <a:prstGeom prst="rect">
            <a:avLst/>
          </a:prstGeom>
          <a:noFill/>
          <a:ln/>
        </p:spPr>
        <p:txBody>
          <a:bodyPr wrap="square" lIns="38100" tIns="38100" rIns="38100" bIns="38100" rtlCol="0" anchor="ctr"/>
          <a:lstStyle/>
          <a:p>
            <a:pPr algn="l" indent="0" marL="0">
              <a:buNone/>
            </a:pPr>
            <a:r>
              <a:rPr lang="en-US" sz="650" dirty="0">
                <a:solidFill>
                  <a:srgbClr val="444444"/>
                </a:solidFill>
                <a:latin typeface="Calibri" pitchFamily="34" charset="0"/>
                <a:ea typeface="Calibri" pitchFamily="34" charset="-122"/>
                <a:cs typeface="Calibri" pitchFamily="34" charset="-120"/>
              </a:rPr>
              <a:t>code 06  |  ~180 clips</a:t>
            </a:r>
            <a:endParaRPr lang="en-US" sz="650" dirty="0"/>
          </a:p>
        </p:txBody>
      </p:sp>
      <p:sp>
        <p:nvSpPr>
          <p:cNvPr id="58" name="Shape 56"/>
          <p:cNvSpPr/>
          <p:nvPr/>
        </p:nvSpPr>
        <p:spPr>
          <a:xfrm>
            <a:off x="9125712" y="1371600"/>
            <a:ext cx="1444752" cy="457200"/>
          </a:xfrm>
          <a:prstGeom prst="rect">
            <a:avLst/>
          </a:prstGeom>
          <a:solidFill>
            <a:srgbClr val="F3E5F5"/>
          </a:solidFill>
          <a:ln w="10160">
            <a:solidFill>
              <a:srgbClr val="7B1FA2"/>
            </a:solidFill>
            <a:prstDash val="solid"/>
          </a:ln>
          <a:effectLst>
            <a:outerShdw sx="100000" sy="100000" kx="0" ky="0" algn="bl" rotWithShape="0" blurRad="38100" dist="25400" dir="8100000">
              <a:srgbClr val="000000">
                <a:alpha val="9000"/>
              </a:srgbClr>
            </a:outerShdw>
          </a:effectLst>
        </p:spPr>
      </p:sp>
      <p:sp>
        <p:nvSpPr>
          <p:cNvPr id="59" name="Text 57"/>
          <p:cNvSpPr/>
          <p:nvPr/>
        </p:nvSpPr>
        <p:spPr>
          <a:xfrm>
            <a:off x="9198864" y="1371600"/>
            <a:ext cx="1298448" cy="237744"/>
          </a:xfrm>
          <a:prstGeom prst="rect">
            <a:avLst/>
          </a:prstGeom>
          <a:noFill/>
          <a:ln/>
        </p:spPr>
        <p:txBody>
          <a:bodyPr wrap="square" lIns="38100" tIns="38100" rIns="38100" bIns="38100" rtlCol="0" anchor="ctr"/>
          <a:lstStyle/>
          <a:p>
            <a:pPr algn="l" indent="0" marL="0">
              <a:buNone/>
            </a:pPr>
            <a:r>
              <a:rPr lang="en-US" sz="800" b="1" dirty="0">
                <a:solidFill>
                  <a:srgbClr val="7B1FA2"/>
                </a:solidFill>
                <a:latin typeface="Calibri" pitchFamily="34" charset="0"/>
                <a:ea typeface="Calibri" pitchFamily="34" charset="-122"/>
                <a:cs typeface="Calibri" pitchFamily="34" charset="-120"/>
              </a:rPr>
              <a:t>disgust</a:t>
            </a:r>
            <a:endParaRPr lang="en-US" sz="800" dirty="0"/>
          </a:p>
        </p:txBody>
      </p:sp>
      <p:sp>
        <p:nvSpPr>
          <p:cNvPr id="60" name="Text 58"/>
          <p:cNvSpPr/>
          <p:nvPr/>
        </p:nvSpPr>
        <p:spPr>
          <a:xfrm>
            <a:off x="9198864" y="1591056"/>
            <a:ext cx="1298448" cy="219456"/>
          </a:xfrm>
          <a:prstGeom prst="rect">
            <a:avLst/>
          </a:prstGeom>
          <a:noFill/>
          <a:ln/>
        </p:spPr>
        <p:txBody>
          <a:bodyPr wrap="square" lIns="38100" tIns="38100" rIns="38100" bIns="38100" rtlCol="0" anchor="ctr"/>
          <a:lstStyle/>
          <a:p>
            <a:pPr algn="l" indent="0" marL="0">
              <a:buNone/>
            </a:pPr>
            <a:r>
              <a:rPr lang="en-US" sz="650" dirty="0">
                <a:solidFill>
                  <a:srgbClr val="444444"/>
                </a:solidFill>
                <a:latin typeface="Calibri" pitchFamily="34" charset="0"/>
                <a:ea typeface="Calibri" pitchFamily="34" charset="-122"/>
                <a:cs typeface="Calibri" pitchFamily="34" charset="-120"/>
              </a:rPr>
              <a:t>code 07  |  ~180 clips</a:t>
            </a:r>
            <a:endParaRPr lang="en-US" sz="650" dirty="0"/>
          </a:p>
        </p:txBody>
      </p:sp>
      <p:sp>
        <p:nvSpPr>
          <p:cNvPr id="61" name="Shape 59"/>
          <p:cNvSpPr/>
          <p:nvPr/>
        </p:nvSpPr>
        <p:spPr>
          <a:xfrm>
            <a:off x="10634472" y="1371600"/>
            <a:ext cx="1444752" cy="457200"/>
          </a:xfrm>
          <a:prstGeom prst="rect">
            <a:avLst/>
          </a:prstGeom>
          <a:solidFill>
            <a:srgbClr val="F3E5F5"/>
          </a:solidFill>
          <a:ln w="10160">
            <a:solidFill>
              <a:srgbClr val="7B1FA2"/>
            </a:solidFill>
            <a:prstDash val="solid"/>
          </a:ln>
          <a:effectLst>
            <a:outerShdw sx="100000" sy="100000" kx="0" ky="0" algn="bl" rotWithShape="0" blurRad="38100" dist="25400" dir="8100000">
              <a:srgbClr val="000000">
                <a:alpha val="9000"/>
              </a:srgbClr>
            </a:outerShdw>
          </a:effectLst>
        </p:spPr>
      </p:sp>
      <p:sp>
        <p:nvSpPr>
          <p:cNvPr id="62" name="Text 60"/>
          <p:cNvSpPr/>
          <p:nvPr/>
        </p:nvSpPr>
        <p:spPr>
          <a:xfrm>
            <a:off x="10707624" y="1371600"/>
            <a:ext cx="1298448" cy="237744"/>
          </a:xfrm>
          <a:prstGeom prst="rect">
            <a:avLst/>
          </a:prstGeom>
          <a:noFill/>
          <a:ln/>
        </p:spPr>
        <p:txBody>
          <a:bodyPr wrap="square" lIns="38100" tIns="38100" rIns="38100" bIns="38100" rtlCol="0" anchor="ctr"/>
          <a:lstStyle/>
          <a:p>
            <a:pPr algn="l" indent="0" marL="0">
              <a:buNone/>
            </a:pPr>
            <a:r>
              <a:rPr lang="en-US" sz="800" b="1" dirty="0">
                <a:solidFill>
                  <a:srgbClr val="7B1FA2"/>
                </a:solidFill>
                <a:latin typeface="Calibri" pitchFamily="34" charset="0"/>
                <a:ea typeface="Calibri" pitchFamily="34" charset="-122"/>
                <a:cs typeface="Calibri" pitchFamily="34" charset="-120"/>
              </a:rPr>
              <a:t>surprised</a:t>
            </a:r>
            <a:endParaRPr lang="en-US" sz="800" dirty="0"/>
          </a:p>
        </p:txBody>
      </p:sp>
      <p:sp>
        <p:nvSpPr>
          <p:cNvPr id="63" name="Text 61"/>
          <p:cNvSpPr/>
          <p:nvPr/>
        </p:nvSpPr>
        <p:spPr>
          <a:xfrm>
            <a:off x="10707624" y="1591056"/>
            <a:ext cx="1298448" cy="219456"/>
          </a:xfrm>
          <a:prstGeom prst="rect">
            <a:avLst/>
          </a:prstGeom>
          <a:noFill/>
          <a:ln/>
        </p:spPr>
        <p:txBody>
          <a:bodyPr wrap="square" lIns="38100" tIns="38100" rIns="38100" bIns="38100" rtlCol="0" anchor="ctr"/>
          <a:lstStyle/>
          <a:p>
            <a:pPr algn="l" indent="0" marL="0">
              <a:buNone/>
            </a:pPr>
            <a:r>
              <a:rPr lang="en-US" sz="650" dirty="0">
                <a:solidFill>
                  <a:srgbClr val="444444"/>
                </a:solidFill>
                <a:latin typeface="Calibri" pitchFamily="34" charset="0"/>
                <a:ea typeface="Calibri" pitchFamily="34" charset="-122"/>
                <a:cs typeface="Calibri" pitchFamily="34" charset="-120"/>
              </a:rPr>
              <a:t>code 08  |  ~180 clips</a:t>
            </a:r>
            <a:endParaRPr lang="en-US" sz="650" dirty="0"/>
          </a:p>
        </p:txBody>
      </p:sp>
      <p:sp>
        <p:nvSpPr>
          <p:cNvPr id="64" name="Text 62"/>
          <p:cNvSpPr/>
          <p:nvPr/>
        </p:nvSpPr>
        <p:spPr>
          <a:xfrm>
            <a:off x="6108192" y="1920240"/>
            <a:ext cx="5870448" cy="347472"/>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Balanced classes: each of 8 emotions ≈ 180 clips. With B=16 and drop_last=True: E[n_c] ≈ 2 clips per emotion per batch → 16 positive pairs guaranteed in expectation (required for SupCon).</a:t>
            </a:r>
            <a:endParaRPr lang="en-US" sz="750" dirty="0"/>
          </a:p>
        </p:txBody>
      </p:sp>
      <p:sp>
        <p:nvSpPr>
          <p:cNvPr id="65" name="Shape 63"/>
          <p:cNvSpPr/>
          <p:nvPr/>
        </p:nvSpPr>
        <p:spPr>
          <a:xfrm>
            <a:off x="182880" y="3236976"/>
            <a:ext cx="36576" cy="237744"/>
          </a:xfrm>
          <a:prstGeom prst="rect">
            <a:avLst/>
          </a:prstGeom>
          <a:solidFill>
            <a:srgbClr val="8A5200"/>
          </a:solidFill>
          <a:ln w="12700">
            <a:solidFill>
              <a:srgbClr val="8A5200"/>
            </a:solidFill>
            <a:prstDash val="solid"/>
          </a:ln>
        </p:spPr>
      </p:sp>
      <p:sp>
        <p:nvSpPr>
          <p:cNvPr id="66" name="Text 64"/>
          <p:cNvSpPr/>
          <p:nvPr/>
        </p:nvSpPr>
        <p:spPr>
          <a:xfrm>
            <a:off x="256032" y="3236976"/>
            <a:ext cx="5486400" cy="237744"/>
          </a:xfrm>
          <a:prstGeom prst="rect">
            <a:avLst/>
          </a:prstGeom>
          <a:noFill/>
          <a:ln/>
        </p:spPr>
        <p:txBody>
          <a:bodyPr wrap="square" lIns="38100" tIns="38100" rIns="38100" bIns="38100" rtlCol="0" anchor="ctr"/>
          <a:lstStyle/>
          <a:p>
            <a:pPr algn="l" indent="0" marL="0">
              <a:buNone/>
            </a:pPr>
            <a:r>
              <a:rPr lang="en-US" sz="800" b="1" dirty="0">
                <a:solidFill>
                  <a:srgbClr val="8A5200"/>
                </a:solidFill>
                <a:latin typeface="Calibri" pitchFamily="34" charset="0"/>
                <a:ea typeface="Calibri" pitchFamily="34" charset="-122"/>
                <a:cs typeface="Calibri" pitchFamily="34" charset="-120"/>
              </a:rPr>
              <a:t>RAVDESS Filename — 7-Field Encoding</a:t>
            </a:r>
            <a:endParaRPr lang="en-US" sz="800" dirty="0"/>
          </a:p>
        </p:txBody>
      </p:sp>
      <p:sp>
        <p:nvSpPr>
          <p:cNvPr id="67" name="Shape 65"/>
          <p:cNvSpPr/>
          <p:nvPr/>
        </p:nvSpPr>
        <p:spPr>
          <a:xfrm>
            <a:off x="182880" y="3456432"/>
            <a:ext cx="11795760" cy="1901952"/>
          </a:xfrm>
          <a:prstGeom prst="rect">
            <a:avLst/>
          </a:prstGeom>
          <a:solidFill>
            <a:srgbClr val="1E1E2E"/>
          </a:solidFill>
          <a:ln w="10160">
            <a:solidFill>
              <a:srgbClr val="AAAAAA"/>
            </a:solidFill>
            <a:prstDash val="solid"/>
          </a:ln>
        </p:spPr>
      </p:sp>
      <p:sp>
        <p:nvSpPr>
          <p:cNvPr id="68" name="Text 66"/>
          <p:cNvSpPr/>
          <p:nvPr/>
        </p:nvSpPr>
        <p:spPr>
          <a:xfrm>
            <a:off x="320040" y="3493008"/>
            <a:ext cx="11612880" cy="162763"/>
          </a:xfrm>
          <a:prstGeom prst="rect">
            <a:avLst/>
          </a:prstGeom>
          <a:noFill/>
          <a:ln/>
        </p:spPr>
        <p:txBody>
          <a:bodyPr wrap="square" lIns="38100" tIns="38100" rIns="38100" bIns="38100" rtlCol="0" anchor="ctr"/>
          <a:lstStyle/>
          <a:p>
            <a:pPr algn="l" indent="0" marL="0">
              <a:buNone/>
            </a:pPr>
            <a:r>
              <a:rPr lang="en-US" sz="700" dirty="0">
                <a:solidFill>
                  <a:srgbClr val="A78BFA"/>
                </a:solidFill>
                <a:latin typeface="Consolas" pitchFamily="34" charset="0"/>
                <a:ea typeface="Consolas" pitchFamily="34" charset="-122"/>
                <a:cs typeface="Consolas" pitchFamily="34" charset="-120"/>
              </a:rPr>
              <a:t>RAVDESS filename format: 7 fields, hyphen-separated, each 2 digits</a:t>
            </a:r>
            <a:endParaRPr lang="en-US" sz="700" dirty="0"/>
          </a:p>
        </p:txBody>
      </p:sp>
      <p:sp>
        <p:nvSpPr>
          <p:cNvPr id="69" name="Text 67"/>
          <p:cNvSpPr/>
          <p:nvPr/>
        </p:nvSpPr>
        <p:spPr>
          <a:xfrm>
            <a:off x="320040" y="3662172"/>
            <a:ext cx="11612880" cy="162763"/>
          </a:xfrm>
          <a:prstGeom prst="rect">
            <a:avLst/>
          </a:prstGeom>
          <a:noFill/>
          <a:ln/>
        </p:spPr>
        <p:txBody>
          <a:bodyPr wrap="square" lIns="38100" tIns="38100" rIns="38100" bIns="38100" rtlCol="0" anchor="ctr"/>
          <a:lstStyle/>
          <a:p>
            <a:pPr algn="l" indent="0" marL="0">
              <a:buNone/>
            </a:pPr>
            <a:r>
              <a:rPr lang="en-US" sz="700" dirty="0">
                <a:solidFill>
                  <a:srgbClr val="9EC8FF"/>
                </a:solidFill>
                <a:latin typeface="Consolas" pitchFamily="34" charset="0"/>
                <a:ea typeface="Consolas" pitchFamily="34" charset="-122"/>
                <a:cs typeface="Consolas" pitchFamily="34" charset="-120"/>
              </a:rPr>
              <a:t>Example:   03  -  01  -  05  -  01  -  02  -  01  -  12  .wav</a:t>
            </a:r>
            <a:endParaRPr lang="en-US" sz="700" dirty="0"/>
          </a:p>
        </p:txBody>
      </p:sp>
      <p:sp>
        <p:nvSpPr>
          <p:cNvPr id="70" name="Text 68"/>
          <p:cNvSpPr/>
          <p:nvPr/>
        </p:nvSpPr>
        <p:spPr>
          <a:xfrm>
            <a:off x="320040" y="3831336"/>
            <a:ext cx="11612880" cy="162763"/>
          </a:xfrm>
          <a:prstGeom prst="rect">
            <a:avLst/>
          </a:prstGeom>
          <a:noFill/>
          <a:ln/>
        </p:spPr>
        <p:txBody>
          <a:bodyPr wrap="square" lIns="38100" tIns="38100" rIns="38100" bIns="38100" rtlCol="0" anchor="ctr"/>
          <a:lstStyle/>
          <a:p>
            <a:pPr algn="l" indent="0" marL="0">
              <a:buNone/>
            </a:pPr>
            <a:r>
              <a:rPr lang="en-US" sz="700" dirty="0">
                <a:solidFill>
                  <a:srgbClr val="94A3B8"/>
                </a:solidFill>
                <a:latin typeface="Consolas" pitchFamily="34" charset="0"/>
                <a:ea typeface="Consolas" pitchFamily="34" charset="-122"/>
                <a:cs typeface="Consolas" pitchFamily="34" charset="-120"/>
              </a:rPr>
              <a:t>           │       │       │       │       │       │       └── Actor ID (01–24)</a:t>
            </a:r>
            <a:endParaRPr lang="en-US" sz="700" dirty="0"/>
          </a:p>
        </p:txBody>
      </p:sp>
      <p:sp>
        <p:nvSpPr>
          <p:cNvPr id="71" name="Text 69"/>
          <p:cNvSpPr/>
          <p:nvPr/>
        </p:nvSpPr>
        <p:spPr>
          <a:xfrm>
            <a:off x="320040" y="4000500"/>
            <a:ext cx="11612880" cy="162763"/>
          </a:xfrm>
          <a:prstGeom prst="rect">
            <a:avLst/>
          </a:prstGeom>
          <a:noFill/>
          <a:ln/>
        </p:spPr>
        <p:txBody>
          <a:bodyPr wrap="square" lIns="38100" tIns="38100" rIns="38100" bIns="38100" rtlCol="0" anchor="ctr"/>
          <a:lstStyle/>
          <a:p>
            <a:pPr algn="l" indent="0" marL="0">
              <a:buNone/>
            </a:pPr>
            <a:r>
              <a:rPr lang="en-US" sz="700" dirty="0">
                <a:solidFill>
                  <a:srgbClr val="94A3B8"/>
                </a:solidFill>
                <a:latin typeface="Consolas" pitchFamily="34" charset="0"/>
                <a:ea typeface="Consolas" pitchFamily="34" charset="-122"/>
                <a:cs typeface="Consolas" pitchFamily="34" charset="-120"/>
              </a:rPr>
              <a:t>           │       │       │       │       │       └────────── Repetition (01=1st, 02=2nd)</a:t>
            </a:r>
            <a:endParaRPr lang="en-US" sz="700" dirty="0"/>
          </a:p>
        </p:txBody>
      </p:sp>
      <p:sp>
        <p:nvSpPr>
          <p:cNvPr id="72" name="Text 70"/>
          <p:cNvSpPr/>
          <p:nvPr/>
        </p:nvSpPr>
        <p:spPr>
          <a:xfrm>
            <a:off x="320040" y="4169664"/>
            <a:ext cx="11612880" cy="162763"/>
          </a:xfrm>
          <a:prstGeom prst="rect">
            <a:avLst/>
          </a:prstGeom>
          <a:noFill/>
          <a:ln/>
        </p:spPr>
        <p:txBody>
          <a:bodyPr wrap="square" lIns="38100" tIns="38100" rIns="38100" bIns="38100" rtlCol="0" anchor="ctr"/>
          <a:lstStyle/>
          <a:p>
            <a:pPr algn="l" indent="0" marL="0">
              <a:buNone/>
            </a:pPr>
            <a:r>
              <a:rPr lang="en-US" sz="700" dirty="0">
                <a:solidFill>
                  <a:srgbClr val="94A3B8"/>
                </a:solidFill>
                <a:latin typeface="Consolas" pitchFamily="34" charset="0"/>
                <a:ea typeface="Consolas" pitchFamily="34" charset="-122"/>
                <a:cs typeface="Consolas" pitchFamily="34" charset="-120"/>
              </a:rPr>
              <a:t>           │       │       │       │       └────────────────── Statement (01 or 02 — two sentences)</a:t>
            </a:r>
            <a:endParaRPr lang="en-US" sz="700" dirty="0"/>
          </a:p>
        </p:txBody>
      </p:sp>
      <p:sp>
        <p:nvSpPr>
          <p:cNvPr id="73" name="Text 71"/>
          <p:cNvSpPr/>
          <p:nvPr/>
        </p:nvSpPr>
        <p:spPr>
          <a:xfrm>
            <a:off x="320040" y="4338828"/>
            <a:ext cx="11612880" cy="162763"/>
          </a:xfrm>
          <a:prstGeom prst="rect">
            <a:avLst/>
          </a:prstGeom>
          <a:noFill/>
          <a:ln/>
        </p:spPr>
        <p:txBody>
          <a:bodyPr wrap="square" lIns="38100" tIns="38100" rIns="38100" bIns="38100" rtlCol="0" anchor="ctr"/>
          <a:lstStyle/>
          <a:p>
            <a:pPr algn="l" indent="0" marL="0">
              <a:buNone/>
            </a:pPr>
            <a:r>
              <a:rPr lang="en-US" sz="700" dirty="0">
                <a:solidFill>
                  <a:srgbClr val="94A3B8"/>
                </a:solidFill>
                <a:latin typeface="Consolas" pitchFamily="34" charset="0"/>
                <a:ea typeface="Consolas" pitchFamily="34" charset="-122"/>
                <a:cs typeface="Consolas" pitchFamily="34" charset="-120"/>
              </a:rPr>
              <a:t>           │       │       │       └────────────────────────── Intensity (01=normal, 02=strong)</a:t>
            </a:r>
            <a:endParaRPr lang="en-US" sz="700" dirty="0"/>
          </a:p>
        </p:txBody>
      </p:sp>
      <p:sp>
        <p:nvSpPr>
          <p:cNvPr id="74" name="Text 72"/>
          <p:cNvSpPr/>
          <p:nvPr/>
        </p:nvSpPr>
        <p:spPr>
          <a:xfrm>
            <a:off x="320040" y="4507992"/>
            <a:ext cx="11612880" cy="162763"/>
          </a:xfrm>
          <a:prstGeom prst="rect">
            <a:avLst/>
          </a:prstGeom>
          <a:noFill/>
          <a:ln/>
        </p:spPr>
        <p:txBody>
          <a:bodyPr wrap="square" lIns="38100" tIns="38100" rIns="38100" bIns="38100" rtlCol="0" anchor="ctr"/>
          <a:lstStyle/>
          <a:p>
            <a:pPr algn="l" indent="0" marL="0">
              <a:buNone/>
            </a:pPr>
            <a:r>
              <a:rPr lang="en-US" sz="700" dirty="0">
                <a:solidFill>
                  <a:srgbClr val="34D399"/>
                </a:solidFill>
                <a:latin typeface="Consolas" pitchFamily="34" charset="0"/>
                <a:ea typeface="Consolas" pitchFamily="34" charset="-122"/>
                <a:cs typeface="Consolas" pitchFamily="34" charset="-120"/>
              </a:rPr>
              <a:t>           │       │       └────────────────────────────────── Emotion code (01–08)  ← KEY FIELD</a:t>
            </a:r>
            <a:endParaRPr lang="en-US" sz="700" dirty="0"/>
          </a:p>
        </p:txBody>
      </p:sp>
      <p:sp>
        <p:nvSpPr>
          <p:cNvPr id="75" name="Text 73"/>
          <p:cNvSpPr/>
          <p:nvPr/>
        </p:nvSpPr>
        <p:spPr>
          <a:xfrm>
            <a:off x="320040" y="4677156"/>
            <a:ext cx="11612880" cy="162763"/>
          </a:xfrm>
          <a:prstGeom prst="rect">
            <a:avLst/>
          </a:prstGeom>
          <a:noFill/>
          <a:ln/>
        </p:spPr>
        <p:txBody>
          <a:bodyPr wrap="square" lIns="38100" tIns="38100" rIns="38100" bIns="38100" rtlCol="0" anchor="ctr"/>
          <a:lstStyle/>
          <a:p>
            <a:pPr algn="l" indent="0" marL="0">
              <a:buNone/>
            </a:pPr>
            <a:r>
              <a:rPr lang="en-US" sz="700" dirty="0">
                <a:solidFill>
                  <a:srgbClr val="94A3B8"/>
                </a:solidFill>
                <a:latin typeface="Consolas" pitchFamily="34" charset="0"/>
                <a:ea typeface="Consolas" pitchFamily="34" charset="-122"/>
                <a:cs typeface="Consolas" pitchFamily="34" charset="-120"/>
              </a:rPr>
              <a:t>           │       └────────────────────────────────────────── Vocal channel (01=speech, 02=song)</a:t>
            </a:r>
            <a:endParaRPr lang="en-US" sz="700" dirty="0"/>
          </a:p>
        </p:txBody>
      </p:sp>
      <p:sp>
        <p:nvSpPr>
          <p:cNvPr id="76" name="Text 74"/>
          <p:cNvSpPr/>
          <p:nvPr/>
        </p:nvSpPr>
        <p:spPr>
          <a:xfrm>
            <a:off x="320040" y="4846320"/>
            <a:ext cx="11612880" cy="162763"/>
          </a:xfrm>
          <a:prstGeom prst="rect">
            <a:avLst/>
          </a:prstGeom>
          <a:noFill/>
          <a:ln/>
        </p:spPr>
        <p:txBody>
          <a:bodyPr wrap="square" lIns="38100" tIns="38100" rIns="38100" bIns="38100" rtlCol="0" anchor="ctr"/>
          <a:lstStyle/>
          <a:p>
            <a:pPr algn="l" indent="0" marL="0">
              <a:buNone/>
            </a:pPr>
            <a:r>
              <a:rPr lang="en-US" sz="700" dirty="0">
                <a:solidFill>
                  <a:srgbClr val="94A3B8"/>
                </a:solidFill>
                <a:latin typeface="Consolas" pitchFamily="34" charset="0"/>
                <a:ea typeface="Consolas" pitchFamily="34" charset="-122"/>
                <a:cs typeface="Consolas" pitchFamily="34" charset="-120"/>
              </a:rPr>
              <a:t>           └────────────────────────────────────────────────── Modality (01=AV, 02=video, 03=audio-only)</a:t>
            </a:r>
            <a:endParaRPr lang="en-US" sz="700" dirty="0"/>
          </a:p>
        </p:txBody>
      </p:sp>
      <p:sp>
        <p:nvSpPr>
          <p:cNvPr id="77" name="Text 75"/>
          <p:cNvSpPr/>
          <p:nvPr/>
        </p:nvSpPr>
        <p:spPr>
          <a:xfrm>
            <a:off x="320040" y="5015484"/>
            <a:ext cx="11612880" cy="162763"/>
          </a:xfrm>
          <a:prstGeom prst="rect">
            <a:avLst/>
          </a:prstGeom>
          <a:noFill/>
          <a:ln/>
        </p:spPr>
        <p:txBody>
          <a:bodyPr wrap="square" lIns="38100" tIns="38100" rIns="38100" bIns="38100" rtlCol="0" anchor="ctr"/>
          <a:lstStyle/>
          <a:p>
            <a:pPr algn="l" indent="0" marL="0">
              <a:buNone/>
            </a:pPr>
            <a:r>
              <a:rPr lang="en-US" sz="700" dirty="0">
                <a:solidFill>
                  <a:srgbClr val="34D399"/>
                </a:solidFill>
                <a:latin typeface="Consolas" pitchFamily="34" charset="0"/>
                <a:ea typeface="Consolas" pitchFamily="34" charset="-122"/>
                <a:cs typeface="Consolas" pitchFamily="34" charset="-120"/>
              </a:rPr>
              <a:t>Filter: modality==3 (audio-only) AND channel==1 (speech)  →  1,440 valid files</a:t>
            </a:r>
            <a:endParaRPr lang="en-US" sz="700" dirty="0"/>
          </a:p>
        </p:txBody>
      </p:sp>
      <p:sp>
        <p:nvSpPr>
          <p:cNvPr id="78" name="Text 76"/>
          <p:cNvSpPr/>
          <p:nvPr/>
        </p:nvSpPr>
        <p:spPr>
          <a:xfrm>
            <a:off x="320040" y="5184648"/>
            <a:ext cx="11612880" cy="162763"/>
          </a:xfrm>
          <a:prstGeom prst="rect">
            <a:avLst/>
          </a:prstGeom>
          <a:noFill/>
          <a:ln/>
        </p:spPr>
        <p:txBody>
          <a:bodyPr wrap="square" lIns="38100" tIns="38100" rIns="38100" bIns="38100" rtlCol="0" anchor="ctr"/>
          <a:lstStyle/>
          <a:p>
            <a:pPr algn="l" indent="0" marL="0">
              <a:buNone/>
            </a:pPr>
            <a:r>
              <a:rPr lang="en-US" sz="700" dirty="0">
                <a:solidFill>
                  <a:srgbClr val="E2E8F0"/>
                </a:solidFill>
                <a:latin typeface="Consolas" pitchFamily="34" charset="0"/>
                <a:ea typeface="Consolas" pitchFamily="34" charset="-122"/>
                <a:cs typeface="Consolas" pitchFamily="34" charset="-120"/>
              </a:rPr>
              <a:t>EMOTION_MAP: {1:'neutral', 2:'calm', 3:'happy', 4:'sad', 5:'angry', 6:'fearful', 7:'disgust', 8:'surprised'}</a:t>
            </a:r>
            <a:endParaRPr lang="en-US" sz="700" dirty="0"/>
          </a:p>
        </p:txBody>
      </p:sp>
      <p:sp>
        <p:nvSpPr>
          <p:cNvPr id="79" name="Shape 77"/>
          <p:cNvSpPr/>
          <p:nvPr/>
        </p:nvSpPr>
        <p:spPr>
          <a:xfrm>
            <a:off x="182880" y="5449824"/>
            <a:ext cx="36576" cy="237744"/>
          </a:xfrm>
          <a:prstGeom prst="rect">
            <a:avLst/>
          </a:prstGeom>
          <a:solidFill>
            <a:srgbClr val="7B1FA2"/>
          </a:solidFill>
          <a:ln w="12700">
            <a:solidFill>
              <a:srgbClr val="7B1FA2"/>
            </a:solidFill>
            <a:prstDash val="solid"/>
          </a:ln>
        </p:spPr>
      </p:sp>
      <p:sp>
        <p:nvSpPr>
          <p:cNvPr id="80" name="Text 78"/>
          <p:cNvSpPr/>
          <p:nvPr/>
        </p:nvSpPr>
        <p:spPr>
          <a:xfrm>
            <a:off x="256032" y="5449824"/>
            <a:ext cx="5486400" cy="237744"/>
          </a:xfrm>
          <a:prstGeom prst="rect">
            <a:avLst/>
          </a:prstGeom>
          <a:noFill/>
          <a:ln/>
        </p:spPr>
        <p:txBody>
          <a:bodyPr wrap="square" lIns="38100" tIns="38100" rIns="38100" bIns="38100" rtlCol="0" anchor="ctr"/>
          <a:lstStyle/>
          <a:p>
            <a:pPr algn="l" indent="0" marL="0">
              <a:buNone/>
            </a:pPr>
            <a:r>
              <a:rPr lang="en-US" sz="800" b="1" dirty="0">
                <a:solidFill>
                  <a:srgbClr val="7B1FA2"/>
                </a:solidFill>
                <a:latin typeface="Calibri" pitchFamily="34" charset="0"/>
                <a:ea typeface="Calibri" pitchFamily="34" charset="-122"/>
                <a:cs typeface="Calibri" pitchFamily="34" charset="-120"/>
              </a:rPr>
              <a:t>Integer Label Mapping  (EMOTION_TO_LABEL)</a:t>
            </a:r>
            <a:endParaRPr lang="en-US" sz="800" dirty="0"/>
          </a:p>
        </p:txBody>
      </p:sp>
      <p:sp>
        <p:nvSpPr>
          <p:cNvPr id="81" name="Shape 79"/>
          <p:cNvSpPr/>
          <p:nvPr/>
        </p:nvSpPr>
        <p:spPr>
          <a:xfrm>
            <a:off x="182880" y="5669280"/>
            <a:ext cx="1426464" cy="256032"/>
          </a:xfrm>
          <a:prstGeom prst="rect">
            <a:avLst/>
          </a:prstGeom>
          <a:solidFill>
            <a:srgbClr val="7B1FA2"/>
          </a:solidFill>
          <a:ln w="12700">
            <a:solidFill>
              <a:srgbClr val="7B1FA2"/>
            </a:solidFill>
            <a:prstDash val="solid"/>
          </a:ln>
        </p:spPr>
      </p:sp>
      <p:sp>
        <p:nvSpPr>
          <p:cNvPr id="82" name="Text 80"/>
          <p:cNvSpPr/>
          <p:nvPr/>
        </p:nvSpPr>
        <p:spPr>
          <a:xfrm>
            <a:off x="237744" y="5669280"/>
            <a:ext cx="256032" cy="256032"/>
          </a:xfrm>
          <a:prstGeom prst="rect">
            <a:avLst/>
          </a:prstGeom>
          <a:noFill/>
          <a:ln/>
        </p:spPr>
        <p:txBody>
          <a:bodyPr wrap="square" lIns="38100" tIns="38100" rIns="38100" bIns="3810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a:t>
            </a:r>
            <a:endParaRPr lang="en-US" sz="900" dirty="0"/>
          </a:p>
        </p:txBody>
      </p:sp>
      <p:sp>
        <p:nvSpPr>
          <p:cNvPr id="83" name="Text 81"/>
          <p:cNvSpPr/>
          <p:nvPr/>
        </p:nvSpPr>
        <p:spPr>
          <a:xfrm>
            <a:off x="512064" y="5669280"/>
            <a:ext cx="1060704" cy="256032"/>
          </a:xfrm>
          <a:prstGeom prst="rect">
            <a:avLst/>
          </a:prstGeom>
          <a:noFill/>
          <a:ln/>
        </p:spPr>
        <p:txBody>
          <a:bodyPr wrap="square" lIns="38100" tIns="38100" rIns="38100" bIns="38100" rtlCol="0" anchor="ctr"/>
          <a:lstStyle/>
          <a:p>
            <a:pPr algn="l" indent="0" marL="0">
              <a:buNone/>
            </a:pPr>
            <a:r>
              <a:rPr lang="en-US" sz="750" dirty="0">
                <a:solidFill>
                  <a:srgbClr val="FFFFFF"/>
                </a:solidFill>
                <a:latin typeface="Calibri" pitchFamily="34" charset="0"/>
                <a:ea typeface="Calibri" pitchFamily="34" charset="-122"/>
                <a:cs typeface="Calibri" pitchFamily="34" charset="-120"/>
              </a:rPr>
              <a:t>neutral</a:t>
            </a:r>
            <a:endParaRPr lang="en-US" sz="750" dirty="0"/>
          </a:p>
        </p:txBody>
      </p:sp>
      <p:sp>
        <p:nvSpPr>
          <p:cNvPr id="84" name="Shape 82"/>
          <p:cNvSpPr/>
          <p:nvPr/>
        </p:nvSpPr>
        <p:spPr>
          <a:xfrm>
            <a:off x="1673352" y="5669280"/>
            <a:ext cx="1426464" cy="256032"/>
          </a:xfrm>
          <a:prstGeom prst="rect">
            <a:avLst/>
          </a:prstGeom>
          <a:solidFill>
            <a:srgbClr val="7B1FA2"/>
          </a:solidFill>
          <a:ln w="12700">
            <a:solidFill>
              <a:srgbClr val="7B1FA2"/>
            </a:solidFill>
            <a:prstDash val="solid"/>
          </a:ln>
        </p:spPr>
      </p:sp>
      <p:sp>
        <p:nvSpPr>
          <p:cNvPr id="85" name="Text 83"/>
          <p:cNvSpPr/>
          <p:nvPr/>
        </p:nvSpPr>
        <p:spPr>
          <a:xfrm>
            <a:off x="1728216" y="5669280"/>
            <a:ext cx="256032" cy="256032"/>
          </a:xfrm>
          <a:prstGeom prst="rect">
            <a:avLst/>
          </a:prstGeom>
          <a:noFill/>
          <a:ln/>
        </p:spPr>
        <p:txBody>
          <a:bodyPr wrap="square" lIns="38100" tIns="38100" rIns="38100" bIns="3810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86" name="Text 84"/>
          <p:cNvSpPr/>
          <p:nvPr/>
        </p:nvSpPr>
        <p:spPr>
          <a:xfrm>
            <a:off x="2002536" y="5669280"/>
            <a:ext cx="1060704" cy="256032"/>
          </a:xfrm>
          <a:prstGeom prst="rect">
            <a:avLst/>
          </a:prstGeom>
          <a:noFill/>
          <a:ln/>
        </p:spPr>
        <p:txBody>
          <a:bodyPr wrap="square" lIns="38100" tIns="38100" rIns="38100" bIns="38100" rtlCol="0" anchor="ctr"/>
          <a:lstStyle/>
          <a:p>
            <a:pPr algn="l" indent="0" marL="0">
              <a:buNone/>
            </a:pPr>
            <a:r>
              <a:rPr lang="en-US" sz="750" dirty="0">
                <a:solidFill>
                  <a:srgbClr val="FFFFFF"/>
                </a:solidFill>
                <a:latin typeface="Calibri" pitchFamily="34" charset="0"/>
                <a:ea typeface="Calibri" pitchFamily="34" charset="-122"/>
                <a:cs typeface="Calibri" pitchFamily="34" charset="-120"/>
              </a:rPr>
              <a:t>calm</a:t>
            </a:r>
            <a:endParaRPr lang="en-US" sz="750" dirty="0"/>
          </a:p>
        </p:txBody>
      </p:sp>
      <p:sp>
        <p:nvSpPr>
          <p:cNvPr id="87" name="Shape 85"/>
          <p:cNvSpPr/>
          <p:nvPr/>
        </p:nvSpPr>
        <p:spPr>
          <a:xfrm>
            <a:off x="3163824" y="5669280"/>
            <a:ext cx="1426464" cy="256032"/>
          </a:xfrm>
          <a:prstGeom prst="rect">
            <a:avLst/>
          </a:prstGeom>
          <a:solidFill>
            <a:srgbClr val="7B1FA2"/>
          </a:solidFill>
          <a:ln w="12700">
            <a:solidFill>
              <a:srgbClr val="7B1FA2"/>
            </a:solidFill>
            <a:prstDash val="solid"/>
          </a:ln>
        </p:spPr>
      </p:sp>
      <p:sp>
        <p:nvSpPr>
          <p:cNvPr id="88" name="Text 86"/>
          <p:cNvSpPr/>
          <p:nvPr/>
        </p:nvSpPr>
        <p:spPr>
          <a:xfrm>
            <a:off x="3218688" y="5669280"/>
            <a:ext cx="256032" cy="256032"/>
          </a:xfrm>
          <a:prstGeom prst="rect">
            <a:avLst/>
          </a:prstGeom>
          <a:noFill/>
          <a:ln/>
        </p:spPr>
        <p:txBody>
          <a:bodyPr wrap="square" lIns="38100" tIns="38100" rIns="38100" bIns="3810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89" name="Text 87"/>
          <p:cNvSpPr/>
          <p:nvPr/>
        </p:nvSpPr>
        <p:spPr>
          <a:xfrm>
            <a:off x="3493008" y="5669280"/>
            <a:ext cx="1060704" cy="256032"/>
          </a:xfrm>
          <a:prstGeom prst="rect">
            <a:avLst/>
          </a:prstGeom>
          <a:noFill/>
          <a:ln/>
        </p:spPr>
        <p:txBody>
          <a:bodyPr wrap="square" lIns="38100" tIns="38100" rIns="38100" bIns="38100" rtlCol="0" anchor="ctr"/>
          <a:lstStyle/>
          <a:p>
            <a:pPr algn="l" indent="0" marL="0">
              <a:buNone/>
            </a:pPr>
            <a:r>
              <a:rPr lang="en-US" sz="750" dirty="0">
                <a:solidFill>
                  <a:srgbClr val="FFFFFF"/>
                </a:solidFill>
                <a:latin typeface="Calibri" pitchFamily="34" charset="0"/>
                <a:ea typeface="Calibri" pitchFamily="34" charset="-122"/>
                <a:cs typeface="Calibri" pitchFamily="34" charset="-120"/>
              </a:rPr>
              <a:t>happy</a:t>
            </a:r>
            <a:endParaRPr lang="en-US" sz="750" dirty="0"/>
          </a:p>
        </p:txBody>
      </p:sp>
      <p:sp>
        <p:nvSpPr>
          <p:cNvPr id="90" name="Shape 88"/>
          <p:cNvSpPr/>
          <p:nvPr/>
        </p:nvSpPr>
        <p:spPr>
          <a:xfrm>
            <a:off x="4654296" y="5669280"/>
            <a:ext cx="1426464" cy="256032"/>
          </a:xfrm>
          <a:prstGeom prst="rect">
            <a:avLst/>
          </a:prstGeom>
          <a:solidFill>
            <a:srgbClr val="7B1FA2"/>
          </a:solidFill>
          <a:ln w="12700">
            <a:solidFill>
              <a:srgbClr val="7B1FA2"/>
            </a:solidFill>
            <a:prstDash val="solid"/>
          </a:ln>
        </p:spPr>
      </p:sp>
      <p:sp>
        <p:nvSpPr>
          <p:cNvPr id="91" name="Text 89"/>
          <p:cNvSpPr/>
          <p:nvPr/>
        </p:nvSpPr>
        <p:spPr>
          <a:xfrm>
            <a:off x="4709160" y="5669280"/>
            <a:ext cx="256032" cy="256032"/>
          </a:xfrm>
          <a:prstGeom prst="rect">
            <a:avLst/>
          </a:prstGeom>
          <a:noFill/>
          <a:ln/>
        </p:spPr>
        <p:txBody>
          <a:bodyPr wrap="square" lIns="38100" tIns="38100" rIns="38100" bIns="3810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92" name="Text 90"/>
          <p:cNvSpPr/>
          <p:nvPr/>
        </p:nvSpPr>
        <p:spPr>
          <a:xfrm>
            <a:off x="4983480" y="5669280"/>
            <a:ext cx="1060704" cy="256032"/>
          </a:xfrm>
          <a:prstGeom prst="rect">
            <a:avLst/>
          </a:prstGeom>
          <a:noFill/>
          <a:ln/>
        </p:spPr>
        <p:txBody>
          <a:bodyPr wrap="square" lIns="38100" tIns="38100" rIns="38100" bIns="38100" rtlCol="0" anchor="ctr"/>
          <a:lstStyle/>
          <a:p>
            <a:pPr algn="l" indent="0" marL="0">
              <a:buNone/>
            </a:pPr>
            <a:r>
              <a:rPr lang="en-US" sz="750" dirty="0">
                <a:solidFill>
                  <a:srgbClr val="FFFFFF"/>
                </a:solidFill>
                <a:latin typeface="Calibri" pitchFamily="34" charset="0"/>
                <a:ea typeface="Calibri" pitchFamily="34" charset="-122"/>
                <a:cs typeface="Calibri" pitchFamily="34" charset="-120"/>
              </a:rPr>
              <a:t>sad</a:t>
            </a:r>
            <a:endParaRPr lang="en-US" sz="750" dirty="0"/>
          </a:p>
        </p:txBody>
      </p:sp>
      <p:sp>
        <p:nvSpPr>
          <p:cNvPr id="93" name="Shape 91"/>
          <p:cNvSpPr/>
          <p:nvPr/>
        </p:nvSpPr>
        <p:spPr>
          <a:xfrm>
            <a:off x="6144768" y="5669280"/>
            <a:ext cx="1426464" cy="256032"/>
          </a:xfrm>
          <a:prstGeom prst="rect">
            <a:avLst/>
          </a:prstGeom>
          <a:solidFill>
            <a:srgbClr val="7B1FA2"/>
          </a:solidFill>
          <a:ln w="12700">
            <a:solidFill>
              <a:srgbClr val="7B1FA2"/>
            </a:solidFill>
            <a:prstDash val="solid"/>
          </a:ln>
        </p:spPr>
      </p:sp>
      <p:sp>
        <p:nvSpPr>
          <p:cNvPr id="94" name="Text 92"/>
          <p:cNvSpPr/>
          <p:nvPr/>
        </p:nvSpPr>
        <p:spPr>
          <a:xfrm>
            <a:off x="6199632" y="5669280"/>
            <a:ext cx="256032" cy="256032"/>
          </a:xfrm>
          <a:prstGeom prst="rect">
            <a:avLst/>
          </a:prstGeom>
          <a:noFill/>
          <a:ln/>
        </p:spPr>
        <p:txBody>
          <a:bodyPr wrap="square" lIns="38100" tIns="38100" rIns="38100" bIns="3810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95" name="Text 93"/>
          <p:cNvSpPr/>
          <p:nvPr/>
        </p:nvSpPr>
        <p:spPr>
          <a:xfrm>
            <a:off x="6473952" y="5669280"/>
            <a:ext cx="1060704" cy="256032"/>
          </a:xfrm>
          <a:prstGeom prst="rect">
            <a:avLst/>
          </a:prstGeom>
          <a:noFill/>
          <a:ln/>
        </p:spPr>
        <p:txBody>
          <a:bodyPr wrap="square" lIns="38100" tIns="38100" rIns="38100" bIns="38100" rtlCol="0" anchor="ctr"/>
          <a:lstStyle/>
          <a:p>
            <a:pPr algn="l" indent="0" marL="0">
              <a:buNone/>
            </a:pPr>
            <a:r>
              <a:rPr lang="en-US" sz="750" dirty="0">
                <a:solidFill>
                  <a:srgbClr val="FFFFFF"/>
                </a:solidFill>
                <a:latin typeface="Calibri" pitchFamily="34" charset="0"/>
                <a:ea typeface="Calibri" pitchFamily="34" charset="-122"/>
                <a:cs typeface="Calibri" pitchFamily="34" charset="-120"/>
              </a:rPr>
              <a:t>angry</a:t>
            </a:r>
            <a:endParaRPr lang="en-US" sz="750" dirty="0"/>
          </a:p>
        </p:txBody>
      </p:sp>
      <p:sp>
        <p:nvSpPr>
          <p:cNvPr id="96" name="Shape 94"/>
          <p:cNvSpPr/>
          <p:nvPr/>
        </p:nvSpPr>
        <p:spPr>
          <a:xfrm>
            <a:off x="7635240" y="5669280"/>
            <a:ext cx="1426464" cy="256032"/>
          </a:xfrm>
          <a:prstGeom prst="rect">
            <a:avLst/>
          </a:prstGeom>
          <a:solidFill>
            <a:srgbClr val="7B1FA2"/>
          </a:solidFill>
          <a:ln w="12700">
            <a:solidFill>
              <a:srgbClr val="7B1FA2"/>
            </a:solidFill>
            <a:prstDash val="solid"/>
          </a:ln>
        </p:spPr>
      </p:sp>
      <p:sp>
        <p:nvSpPr>
          <p:cNvPr id="97" name="Text 95"/>
          <p:cNvSpPr/>
          <p:nvPr/>
        </p:nvSpPr>
        <p:spPr>
          <a:xfrm>
            <a:off x="7690104" y="5669280"/>
            <a:ext cx="256032" cy="256032"/>
          </a:xfrm>
          <a:prstGeom prst="rect">
            <a:avLst/>
          </a:prstGeom>
          <a:noFill/>
          <a:ln/>
        </p:spPr>
        <p:txBody>
          <a:bodyPr wrap="square" lIns="38100" tIns="38100" rIns="38100" bIns="3810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98" name="Text 96"/>
          <p:cNvSpPr/>
          <p:nvPr/>
        </p:nvSpPr>
        <p:spPr>
          <a:xfrm>
            <a:off x="7964424" y="5669280"/>
            <a:ext cx="1060704" cy="256032"/>
          </a:xfrm>
          <a:prstGeom prst="rect">
            <a:avLst/>
          </a:prstGeom>
          <a:noFill/>
          <a:ln/>
        </p:spPr>
        <p:txBody>
          <a:bodyPr wrap="square" lIns="38100" tIns="38100" rIns="38100" bIns="38100" rtlCol="0" anchor="ctr"/>
          <a:lstStyle/>
          <a:p>
            <a:pPr algn="l" indent="0" marL="0">
              <a:buNone/>
            </a:pPr>
            <a:r>
              <a:rPr lang="en-US" sz="750" dirty="0">
                <a:solidFill>
                  <a:srgbClr val="FFFFFF"/>
                </a:solidFill>
                <a:latin typeface="Calibri" pitchFamily="34" charset="0"/>
                <a:ea typeface="Calibri" pitchFamily="34" charset="-122"/>
                <a:cs typeface="Calibri" pitchFamily="34" charset="-120"/>
              </a:rPr>
              <a:t>fearful</a:t>
            </a:r>
            <a:endParaRPr lang="en-US" sz="750" dirty="0"/>
          </a:p>
        </p:txBody>
      </p:sp>
      <p:sp>
        <p:nvSpPr>
          <p:cNvPr id="99" name="Shape 97"/>
          <p:cNvSpPr/>
          <p:nvPr/>
        </p:nvSpPr>
        <p:spPr>
          <a:xfrm>
            <a:off x="9125712" y="5669280"/>
            <a:ext cx="1426464" cy="256032"/>
          </a:xfrm>
          <a:prstGeom prst="rect">
            <a:avLst/>
          </a:prstGeom>
          <a:solidFill>
            <a:srgbClr val="7B1FA2"/>
          </a:solidFill>
          <a:ln w="12700">
            <a:solidFill>
              <a:srgbClr val="7B1FA2"/>
            </a:solidFill>
            <a:prstDash val="solid"/>
          </a:ln>
        </p:spPr>
      </p:sp>
      <p:sp>
        <p:nvSpPr>
          <p:cNvPr id="100" name="Text 98"/>
          <p:cNvSpPr/>
          <p:nvPr/>
        </p:nvSpPr>
        <p:spPr>
          <a:xfrm>
            <a:off x="9180576" y="5669280"/>
            <a:ext cx="256032" cy="256032"/>
          </a:xfrm>
          <a:prstGeom prst="rect">
            <a:avLst/>
          </a:prstGeom>
          <a:noFill/>
          <a:ln/>
        </p:spPr>
        <p:txBody>
          <a:bodyPr wrap="square" lIns="38100" tIns="38100" rIns="38100" bIns="3810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101" name="Text 99"/>
          <p:cNvSpPr/>
          <p:nvPr/>
        </p:nvSpPr>
        <p:spPr>
          <a:xfrm>
            <a:off x="9454896" y="5669280"/>
            <a:ext cx="1060704" cy="256032"/>
          </a:xfrm>
          <a:prstGeom prst="rect">
            <a:avLst/>
          </a:prstGeom>
          <a:noFill/>
          <a:ln/>
        </p:spPr>
        <p:txBody>
          <a:bodyPr wrap="square" lIns="38100" tIns="38100" rIns="38100" bIns="38100" rtlCol="0" anchor="ctr"/>
          <a:lstStyle/>
          <a:p>
            <a:pPr algn="l" indent="0" marL="0">
              <a:buNone/>
            </a:pPr>
            <a:r>
              <a:rPr lang="en-US" sz="750" dirty="0">
                <a:solidFill>
                  <a:srgbClr val="FFFFFF"/>
                </a:solidFill>
                <a:latin typeface="Calibri" pitchFamily="34" charset="0"/>
                <a:ea typeface="Calibri" pitchFamily="34" charset="-122"/>
                <a:cs typeface="Calibri" pitchFamily="34" charset="-120"/>
              </a:rPr>
              <a:t>disgust</a:t>
            </a:r>
            <a:endParaRPr lang="en-US" sz="750" dirty="0"/>
          </a:p>
        </p:txBody>
      </p:sp>
      <p:sp>
        <p:nvSpPr>
          <p:cNvPr id="102" name="Shape 100"/>
          <p:cNvSpPr/>
          <p:nvPr/>
        </p:nvSpPr>
        <p:spPr>
          <a:xfrm>
            <a:off x="10616184" y="5669280"/>
            <a:ext cx="1426464" cy="256032"/>
          </a:xfrm>
          <a:prstGeom prst="rect">
            <a:avLst/>
          </a:prstGeom>
          <a:solidFill>
            <a:srgbClr val="7B1FA2"/>
          </a:solidFill>
          <a:ln w="12700">
            <a:solidFill>
              <a:srgbClr val="7B1FA2"/>
            </a:solidFill>
            <a:prstDash val="solid"/>
          </a:ln>
        </p:spPr>
      </p:sp>
      <p:sp>
        <p:nvSpPr>
          <p:cNvPr id="103" name="Text 101"/>
          <p:cNvSpPr/>
          <p:nvPr/>
        </p:nvSpPr>
        <p:spPr>
          <a:xfrm>
            <a:off x="10671048" y="5669280"/>
            <a:ext cx="256032" cy="256032"/>
          </a:xfrm>
          <a:prstGeom prst="rect">
            <a:avLst/>
          </a:prstGeom>
          <a:noFill/>
          <a:ln/>
        </p:spPr>
        <p:txBody>
          <a:bodyPr wrap="square" lIns="38100" tIns="38100" rIns="38100" bIns="3810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7</a:t>
            </a:r>
            <a:endParaRPr lang="en-US" sz="900" dirty="0"/>
          </a:p>
        </p:txBody>
      </p:sp>
      <p:sp>
        <p:nvSpPr>
          <p:cNvPr id="104" name="Text 102"/>
          <p:cNvSpPr/>
          <p:nvPr/>
        </p:nvSpPr>
        <p:spPr>
          <a:xfrm>
            <a:off x="10945368" y="5669280"/>
            <a:ext cx="1060704" cy="256032"/>
          </a:xfrm>
          <a:prstGeom prst="rect">
            <a:avLst/>
          </a:prstGeom>
          <a:noFill/>
          <a:ln/>
        </p:spPr>
        <p:txBody>
          <a:bodyPr wrap="square" lIns="38100" tIns="38100" rIns="38100" bIns="38100" rtlCol="0" anchor="ctr"/>
          <a:lstStyle/>
          <a:p>
            <a:pPr algn="l" indent="0" marL="0">
              <a:buNone/>
            </a:pPr>
            <a:r>
              <a:rPr lang="en-US" sz="750" dirty="0">
                <a:solidFill>
                  <a:srgbClr val="FFFFFF"/>
                </a:solidFill>
                <a:latin typeface="Calibri" pitchFamily="34" charset="0"/>
                <a:ea typeface="Calibri" pitchFamily="34" charset="-122"/>
                <a:cs typeface="Calibri" pitchFamily="34" charset="-120"/>
              </a:rPr>
              <a:t>surprised</a:t>
            </a:r>
            <a:endParaRPr lang="en-US" sz="750" dirty="0"/>
          </a:p>
        </p:txBody>
      </p:sp>
      <p:sp>
        <p:nvSpPr>
          <p:cNvPr id="105" name="Shape 103"/>
          <p:cNvSpPr/>
          <p:nvPr/>
        </p:nvSpPr>
        <p:spPr>
          <a:xfrm>
            <a:off x="182880" y="5998464"/>
            <a:ext cx="11795760" cy="548640"/>
          </a:xfrm>
          <a:prstGeom prst="rect">
            <a:avLst/>
          </a:prstGeom>
          <a:solidFill>
            <a:srgbClr val="F5F5F5"/>
          </a:solidFill>
          <a:ln w="8890">
            <a:solidFill>
              <a:srgbClr val="AAAAAA"/>
            </a:solidFill>
            <a:prstDash val="solid"/>
          </a:ln>
        </p:spPr>
      </p:sp>
      <p:sp>
        <p:nvSpPr>
          <p:cNvPr id="106" name="Text 104"/>
          <p:cNvSpPr/>
          <p:nvPr/>
        </p:nvSpPr>
        <p:spPr>
          <a:xfrm>
            <a:off x="274320" y="5998464"/>
            <a:ext cx="3200400" cy="237744"/>
          </a:xfrm>
          <a:prstGeom prst="rect">
            <a:avLst/>
          </a:prstGeom>
          <a:noFill/>
          <a:ln/>
        </p:spPr>
        <p:txBody>
          <a:bodyPr wrap="square" lIns="38100" tIns="38100" rIns="38100" bIns="38100" rtlCol="0" anchor="ctr"/>
          <a:lstStyle/>
          <a:p>
            <a:pPr algn="l" indent="0" marL="0">
              <a:buNone/>
            </a:pPr>
            <a:r>
              <a:rPr lang="en-US" sz="800" b="1" dirty="0">
                <a:solidFill>
                  <a:srgbClr val="1A1A1A"/>
                </a:solidFill>
                <a:latin typeface="Calibri" pitchFamily="34" charset="0"/>
                <a:ea typeface="Calibri" pitchFamily="34" charset="-122"/>
                <a:cs typeface="Calibri" pitchFamily="34" charset="-120"/>
              </a:rPr>
              <a:t>Russell Emotion Circumplex — expected confusion pairs:</a:t>
            </a:r>
            <a:endParaRPr lang="en-US" sz="800" dirty="0"/>
          </a:p>
        </p:txBody>
      </p:sp>
      <p:sp>
        <p:nvSpPr>
          <p:cNvPr id="107" name="Text 105"/>
          <p:cNvSpPr/>
          <p:nvPr/>
        </p:nvSpPr>
        <p:spPr>
          <a:xfrm>
            <a:off x="274320" y="6217920"/>
            <a:ext cx="11521440" cy="310896"/>
          </a:xfrm>
          <a:prstGeom prst="rect">
            <a:avLst/>
          </a:prstGeom>
          <a:noFill/>
          <a:ln/>
        </p:spPr>
        <p:txBody>
          <a:bodyPr wrap="square" lIns="38100" tIns="38100" rIns="38100" bIns="38100" rtlCol="0" anchor="t"/>
          <a:lstStyle/>
          <a:p>
            <a:pPr algn="l" indent="0" marL="0">
              <a:buNone/>
            </a:pPr>
            <a:r>
              <a:rPr lang="en-US" sz="750" dirty="0">
                <a:solidFill>
                  <a:srgbClr val="1A1A1A"/>
                </a:solidFill>
                <a:latin typeface="Calibri" pitchFamily="34" charset="0"/>
                <a:ea typeface="Calibri" pitchFamily="34" charset="-122"/>
                <a:cs typeface="Calibri" pitchFamily="34" charset="-120"/>
              </a:rPr>
              <a:t>HIGH AROUSAL: angry ↔ fearful (both high arousal, negative valence)  |  happy ↔ surprised (both positive, moderate arousal)</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LOW AROUSAL:  neutral ↔ calm (both low arousal — hardest to separate)  |  sad ↔ neutral (both low arousal, negative valence)</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Far apart: angry vs calm (opposite quadrants → near-perfect separation expected)</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61520" cy="502920"/>
          </a:xfrm>
          <a:prstGeom prst="rect">
            <a:avLst/>
          </a:prstGeom>
          <a:solidFill>
            <a:srgbClr val="0F3460"/>
          </a:solidFill>
          <a:ln w="12700">
            <a:solidFill>
              <a:srgbClr val="0F3460"/>
            </a:solidFill>
            <a:prstDash val="solid"/>
          </a:ln>
        </p:spPr>
      </p:sp>
      <p:sp>
        <p:nvSpPr>
          <p:cNvPr id="3" name="Text 1"/>
          <p:cNvSpPr/>
          <p:nvPr/>
        </p:nvSpPr>
        <p:spPr>
          <a:xfrm>
            <a:off x="228600" y="0"/>
            <a:ext cx="10515600" cy="502920"/>
          </a:xfrm>
          <a:prstGeom prst="rect">
            <a:avLst/>
          </a:prstGeom>
          <a:noFill/>
          <a:ln/>
        </p:spPr>
        <p:txBody>
          <a:bodyPr wrap="square" lIns="38100" tIns="38100" rIns="38100" bIns="3810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Pipeline C — Wav2Vec 2.0 Frozen Backbone &amp; Embedding Extraction</a:t>
            </a:r>
            <a:endParaRPr lang="en-US" sz="1400" dirty="0"/>
          </a:p>
        </p:txBody>
      </p:sp>
      <p:sp>
        <p:nvSpPr>
          <p:cNvPr id="4" name="Text 2"/>
          <p:cNvSpPr/>
          <p:nvPr/>
        </p:nvSpPr>
        <p:spPr>
          <a:xfrm>
            <a:off x="10789920" y="0"/>
            <a:ext cx="1188720" cy="502920"/>
          </a:xfrm>
          <a:prstGeom prst="rect">
            <a:avLst/>
          </a:prstGeom>
          <a:noFill/>
          <a:ln/>
        </p:spPr>
        <p:txBody>
          <a:bodyPr wrap="square" lIns="38100" tIns="38100" rIns="38100" bIns="38100" rtlCol="0" anchor="ctr"/>
          <a:lstStyle/>
          <a:p>
            <a:pPr algn="r" indent="0" marL="0">
              <a:buNone/>
            </a:pPr>
            <a:r>
              <a:rPr lang="en-US" sz="1100" b="1" dirty="0">
                <a:solidFill>
                  <a:srgbClr val="9EC8FF"/>
                </a:solidFill>
                <a:latin typeface="Calibri" pitchFamily="34" charset="0"/>
                <a:ea typeface="Calibri" pitchFamily="34" charset="-122"/>
                <a:cs typeface="Calibri" pitchFamily="34" charset="-120"/>
              </a:rPr>
              <a:t>3/9</a:t>
            </a:r>
            <a:endParaRPr lang="en-US" sz="1100" dirty="0"/>
          </a:p>
        </p:txBody>
      </p:sp>
      <p:sp>
        <p:nvSpPr>
          <p:cNvPr id="5" name="Text 3"/>
          <p:cNvSpPr/>
          <p:nvPr/>
        </p:nvSpPr>
        <p:spPr>
          <a:xfrm>
            <a:off x="228600" y="274320"/>
            <a:ext cx="11704320" cy="237744"/>
          </a:xfrm>
          <a:prstGeom prst="rect">
            <a:avLst/>
          </a:prstGeom>
          <a:noFill/>
          <a:ln/>
        </p:spPr>
        <p:txBody>
          <a:bodyPr wrap="square" lIns="38100" tIns="38100" rIns="38100" bIns="38100" rtlCol="0" anchor="ctr"/>
          <a:lstStyle/>
          <a:p>
            <a:pPr algn="l" indent="0" marL="0">
              <a:buNone/>
            </a:pPr>
            <a:r>
              <a:rPr lang="en-US" sz="750" dirty="0">
                <a:solidFill>
                  <a:srgbClr val="9EC8FF"/>
                </a:solidFill>
                <a:latin typeface="Calibri" pitchFamily="34" charset="0"/>
                <a:ea typeface="Calibri" pitchFamily="34" charset="-122"/>
                <a:cs typeface="Calibri" pitchFamily="34" charset="-120"/>
              </a:rPr>
              <a:t>facebook/wav2vec2-base-960h  |  94M params frozen  |  768d mean-pooled output  |  One-time cache → 100× speed-up</a:t>
            </a:r>
            <a:endParaRPr lang="en-US" sz="750" dirty="0"/>
          </a:p>
        </p:txBody>
      </p:sp>
      <p:sp>
        <p:nvSpPr>
          <p:cNvPr id="6" name="Shape 4"/>
          <p:cNvSpPr/>
          <p:nvPr/>
        </p:nvSpPr>
        <p:spPr>
          <a:xfrm>
            <a:off x="0" y="6583680"/>
            <a:ext cx="12161520" cy="274320"/>
          </a:xfrm>
          <a:prstGeom prst="rect">
            <a:avLst/>
          </a:prstGeom>
          <a:solidFill>
            <a:srgbClr val="0F3460"/>
          </a:solidFill>
          <a:ln w="12700">
            <a:solidFill>
              <a:srgbClr val="0F3460"/>
            </a:solidFill>
            <a:prstDash val="solid"/>
          </a:ln>
        </p:spPr>
      </p:sp>
      <p:sp>
        <p:nvSpPr>
          <p:cNvPr id="7" name="Text 5"/>
          <p:cNvSpPr/>
          <p:nvPr/>
        </p:nvSpPr>
        <p:spPr>
          <a:xfrm>
            <a:off x="228600" y="6583680"/>
            <a:ext cx="11704320" cy="274320"/>
          </a:xfrm>
          <a:prstGeom prst="rect">
            <a:avLst/>
          </a:prstGeom>
          <a:noFill/>
          <a:ln/>
        </p:spPr>
        <p:txBody>
          <a:bodyPr wrap="square" lIns="38100" tIns="38100" rIns="38100" bIns="38100" rtlCol="0" anchor="ctr"/>
          <a:lstStyle/>
          <a:p>
            <a:pPr algn="l" indent="0" marL="0">
              <a:buNone/>
            </a:pPr>
            <a:r>
              <a:rPr lang="en-US" sz="600" dirty="0">
                <a:solidFill>
                  <a:srgbClr val="9EC8FF"/>
                </a:solidFill>
                <a:latin typeface="Calibri" pitchFamily="34" charset="0"/>
                <a:ea typeface="Calibri" pitchFamily="34" charset="-122"/>
                <a:cs typeface="Calibri" pitchFamily="34" charset="-120"/>
              </a:rPr>
              <a:t>MIVA-KNIGHT  |  IT 581 Capstone  |  Concordia University of Edmonton  |  Pipeline C — RAVDESS Standalone Audio Emotion Training</a:t>
            </a:r>
            <a:endParaRPr lang="en-US" sz="600" dirty="0"/>
          </a:p>
        </p:txBody>
      </p:sp>
      <p:sp>
        <p:nvSpPr>
          <p:cNvPr id="8" name="Shape 6"/>
          <p:cNvSpPr/>
          <p:nvPr/>
        </p:nvSpPr>
        <p:spPr>
          <a:xfrm>
            <a:off x="182880" y="621792"/>
            <a:ext cx="36576" cy="237744"/>
          </a:xfrm>
          <a:prstGeom prst="rect">
            <a:avLst/>
          </a:prstGeom>
          <a:solidFill>
            <a:srgbClr val="14407A"/>
          </a:solidFill>
          <a:ln w="12700">
            <a:solidFill>
              <a:srgbClr val="14407A"/>
            </a:solidFill>
            <a:prstDash val="solid"/>
          </a:ln>
        </p:spPr>
      </p:sp>
      <p:sp>
        <p:nvSpPr>
          <p:cNvPr id="9" name="Text 7"/>
          <p:cNvSpPr/>
          <p:nvPr/>
        </p:nvSpPr>
        <p:spPr>
          <a:xfrm>
            <a:off x="256032" y="621792"/>
            <a:ext cx="5486400" cy="237744"/>
          </a:xfrm>
          <a:prstGeom prst="rect">
            <a:avLst/>
          </a:prstGeom>
          <a:noFill/>
          <a:ln/>
        </p:spPr>
        <p:txBody>
          <a:bodyPr wrap="square" lIns="38100" tIns="38100" rIns="38100" bIns="38100" rtlCol="0" anchor="ctr"/>
          <a:lstStyle/>
          <a:p>
            <a:pPr algn="l" indent="0" marL="0">
              <a:buNone/>
            </a:pPr>
            <a:r>
              <a:rPr lang="en-US" sz="800" b="1" dirty="0">
                <a:solidFill>
                  <a:srgbClr val="14407A"/>
                </a:solidFill>
                <a:latin typeface="Calibri" pitchFamily="34" charset="0"/>
                <a:ea typeface="Calibri" pitchFamily="34" charset="-122"/>
                <a:cs typeface="Calibri" pitchFamily="34" charset="-120"/>
              </a:rPr>
              <a:t>Wav2Vec 2.0 — Internal Architecture (Frozen)</a:t>
            </a:r>
            <a:endParaRPr lang="en-US" sz="800" dirty="0"/>
          </a:p>
        </p:txBody>
      </p:sp>
      <p:sp>
        <p:nvSpPr>
          <p:cNvPr id="10" name="Shape 8"/>
          <p:cNvSpPr/>
          <p:nvPr/>
        </p:nvSpPr>
        <p:spPr>
          <a:xfrm>
            <a:off x="182880" y="859536"/>
            <a:ext cx="2212848" cy="1005840"/>
          </a:xfrm>
          <a:prstGeom prst="rect">
            <a:avLst/>
          </a:prstGeom>
          <a:solidFill>
            <a:srgbClr val="D7E4F5"/>
          </a:solidFill>
          <a:ln w="12700">
            <a:solidFill>
              <a:srgbClr val="14407A"/>
            </a:solidFill>
            <a:prstDash val="solid"/>
          </a:ln>
          <a:effectLst>
            <a:outerShdw sx="100000" sy="100000" kx="0" ky="0" algn="bl" rotWithShape="0" blurRad="38100" dist="25400" dir="8100000">
              <a:srgbClr val="000000">
                <a:alpha val="9000"/>
              </a:srgbClr>
            </a:outerShdw>
          </a:effectLst>
        </p:spPr>
      </p:sp>
      <p:sp>
        <p:nvSpPr>
          <p:cNvPr id="11" name="Text 9"/>
          <p:cNvSpPr/>
          <p:nvPr/>
        </p:nvSpPr>
        <p:spPr>
          <a:xfrm>
            <a:off x="274320" y="859536"/>
            <a:ext cx="2048256" cy="347472"/>
          </a:xfrm>
          <a:prstGeom prst="rect">
            <a:avLst/>
          </a:prstGeom>
          <a:noFill/>
          <a:ln/>
        </p:spPr>
        <p:txBody>
          <a:bodyPr wrap="square" lIns="38100" tIns="38100" rIns="38100" bIns="38100" rtlCol="0" anchor="ctr"/>
          <a:lstStyle/>
          <a:p>
            <a:pPr algn="ctr" indent="0" marL="0">
              <a:buNone/>
            </a:pPr>
            <a:r>
              <a:rPr lang="en-US" sz="900" b="1" dirty="0">
                <a:solidFill>
                  <a:srgbClr val="14407A"/>
                </a:solidFill>
                <a:latin typeface="Calibri" pitchFamily="34" charset="0"/>
                <a:ea typeface="Calibri" pitchFamily="34" charset="-122"/>
                <a:cs typeface="Calibri" pitchFamily="34" charset="-120"/>
              </a:rPr>
              <a:t>Raw waveform</a:t>
            </a:r>
            <a:endParaRPr lang="en-US" sz="900" dirty="0"/>
          </a:p>
          <a:p>
            <a:pPr algn="ctr" indent="0" marL="0">
              <a:buNone/>
            </a:pPr>
            <a:r>
              <a:rPr lang="en-US" sz="900" b="1" dirty="0">
                <a:solidFill>
                  <a:srgbClr val="14407A"/>
                </a:solidFill>
                <a:latin typeface="Calibri" pitchFamily="34" charset="0"/>
                <a:ea typeface="Calibri" pitchFamily="34" charset="-122"/>
                <a:cs typeface="Calibri" pitchFamily="34" charset="-120"/>
              </a:rPr>
              <a:t>[1, T]</a:t>
            </a:r>
            <a:endParaRPr lang="en-US" sz="900" dirty="0"/>
          </a:p>
        </p:txBody>
      </p:sp>
      <p:sp>
        <p:nvSpPr>
          <p:cNvPr id="12" name="Text 10"/>
          <p:cNvSpPr/>
          <p:nvPr/>
        </p:nvSpPr>
        <p:spPr>
          <a:xfrm>
            <a:off x="274320" y="1188720"/>
            <a:ext cx="2048256" cy="640080"/>
          </a:xfrm>
          <a:prstGeom prst="rect">
            <a:avLst/>
          </a:prstGeom>
          <a:noFill/>
          <a:ln/>
        </p:spPr>
        <p:txBody>
          <a:bodyPr wrap="square" lIns="38100" tIns="38100" rIns="38100" bIns="38100" rtlCol="0" anchor="t"/>
          <a:lstStyle/>
          <a:p>
            <a:pPr algn="ctr" indent="0" marL="0">
              <a:buNone/>
            </a:pPr>
            <a:r>
              <a:rPr lang="en-US" sz="750" dirty="0">
                <a:solidFill>
                  <a:srgbClr val="1A1A1A"/>
                </a:solidFill>
                <a:latin typeface="Calibri" pitchFamily="34" charset="0"/>
                <a:ea typeface="Calibri" pitchFamily="34" charset="-122"/>
                <a:cs typeface="Calibri" pitchFamily="34" charset="-120"/>
              </a:rPr>
              <a:t>T samples @ 16kHz</a:t>
            </a:r>
            <a:endParaRPr lang="en-US" sz="750" dirty="0"/>
          </a:p>
          <a:p>
            <a:pPr algn="ctr" indent="0" marL="0">
              <a:buNone/>
            </a:pPr>
            <a:r>
              <a:rPr lang="en-US" sz="750" dirty="0">
                <a:solidFill>
                  <a:srgbClr val="1A1A1A"/>
                </a:solidFill>
                <a:latin typeface="Calibri" pitchFamily="34" charset="0"/>
                <a:ea typeface="Calibri" pitchFamily="34" charset="-122"/>
                <a:cs typeface="Calibri" pitchFamily="34" charset="-120"/>
              </a:rPr>
              <a:t>~48K for 3s clip</a:t>
            </a:r>
            <a:endParaRPr lang="en-US" sz="750" dirty="0"/>
          </a:p>
          <a:p>
            <a:pPr algn="ctr" indent="0" marL="0">
              <a:buNone/>
            </a:pPr>
            <a:r>
              <a:rPr lang="en-US" sz="750" dirty="0">
                <a:solidFill>
                  <a:srgbClr val="1A1A1A"/>
                </a:solidFill>
                <a:latin typeface="Calibri" pitchFamily="34" charset="0"/>
                <a:ea typeface="Calibri" pitchFamily="34" charset="-122"/>
                <a:cs typeface="Calibri" pitchFamily="34" charset="-120"/>
              </a:rPr>
              <a:t>torchaudio.load()</a:t>
            </a:r>
            <a:endParaRPr lang="en-US" sz="750" dirty="0"/>
          </a:p>
        </p:txBody>
      </p:sp>
      <p:sp>
        <p:nvSpPr>
          <p:cNvPr id="13" name="Shape 11"/>
          <p:cNvSpPr/>
          <p:nvPr/>
        </p:nvSpPr>
        <p:spPr>
          <a:xfrm>
            <a:off x="2414016" y="1362456"/>
            <a:ext cx="128016" cy="0"/>
          </a:xfrm>
          <a:prstGeom prst="line">
            <a:avLst/>
          </a:prstGeom>
          <a:noFill/>
          <a:ln w="15240">
            <a:solidFill>
              <a:srgbClr val="14407A"/>
            </a:solidFill>
            <a:prstDash val="solid"/>
            <a:tailEnd type="triangle"/>
          </a:ln>
        </p:spPr>
      </p:sp>
      <p:sp>
        <p:nvSpPr>
          <p:cNvPr id="14" name="Shape 12"/>
          <p:cNvSpPr/>
          <p:nvPr/>
        </p:nvSpPr>
        <p:spPr>
          <a:xfrm>
            <a:off x="2560320" y="859536"/>
            <a:ext cx="2212848" cy="1005840"/>
          </a:xfrm>
          <a:prstGeom prst="rect">
            <a:avLst/>
          </a:prstGeom>
          <a:solidFill>
            <a:srgbClr val="D7E4F5"/>
          </a:solidFill>
          <a:ln w="12700">
            <a:solidFill>
              <a:srgbClr val="14407A"/>
            </a:solidFill>
            <a:prstDash val="solid"/>
          </a:ln>
          <a:effectLst>
            <a:outerShdw sx="100000" sy="100000" kx="0" ky="0" algn="bl" rotWithShape="0" blurRad="38100" dist="25400" dir="8100000">
              <a:srgbClr val="000000">
                <a:alpha val="9000"/>
              </a:srgbClr>
            </a:outerShdw>
          </a:effectLst>
        </p:spPr>
      </p:sp>
      <p:sp>
        <p:nvSpPr>
          <p:cNvPr id="15" name="Text 13"/>
          <p:cNvSpPr/>
          <p:nvPr/>
        </p:nvSpPr>
        <p:spPr>
          <a:xfrm>
            <a:off x="2651760" y="859536"/>
            <a:ext cx="2048256" cy="347472"/>
          </a:xfrm>
          <a:prstGeom prst="rect">
            <a:avLst/>
          </a:prstGeom>
          <a:noFill/>
          <a:ln/>
        </p:spPr>
        <p:txBody>
          <a:bodyPr wrap="square" lIns="38100" tIns="38100" rIns="38100" bIns="38100" rtlCol="0" anchor="ctr"/>
          <a:lstStyle/>
          <a:p>
            <a:pPr algn="ctr" indent="0" marL="0">
              <a:buNone/>
            </a:pPr>
            <a:r>
              <a:rPr lang="en-US" sz="900" b="1" dirty="0">
                <a:solidFill>
                  <a:srgbClr val="14407A"/>
                </a:solidFill>
                <a:latin typeface="Calibri" pitchFamily="34" charset="0"/>
                <a:ea typeface="Calibri" pitchFamily="34" charset="-122"/>
                <a:cs typeface="Calibri" pitchFamily="34" charset="-120"/>
              </a:rPr>
              <a:t>CNN Feature</a:t>
            </a:r>
            <a:endParaRPr lang="en-US" sz="900" dirty="0"/>
          </a:p>
          <a:p>
            <a:pPr algn="ctr" indent="0" marL="0">
              <a:buNone/>
            </a:pPr>
            <a:r>
              <a:rPr lang="en-US" sz="900" b="1" dirty="0">
                <a:solidFill>
                  <a:srgbClr val="14407A"/>
                </a:solidFill>
                <a:latin typeface="Calibri" pitchFamily="34" charset="0"/>
                <a:ea typeface="Calibri" pitchFamily="34" charset="-122"/>
                <a:cs typeface="Calibri" pitchFamily="34" charset="-120"/>
              </a:rPr>
              <a:t>Encoder</a:t>
            </a:r>
            <a:endParaRPr lang="en-US" sz="900" dirty="0"/>
          </a:p>
        </p:txBody>
      </p:sp>
      <p:sp>
        <p:nvSpPr>
          <p:cNvPr id="16" name="Text 14"/>
          <p:cNvSpPr/>
          <p:nvPr/>
        </p:nvSpPr>
        <p:spPr>
          <a:xfrm>
            <a:off x="2651760" y="1188720"/>
            <a:ext cx="2048256" cy="640080"/>
          </a:xfrm>
          <a:prstGeom prst="rect">
            <a:avLst/>
          </a:prstGeom>
          <a:noFill/>
          <a:ln/>
        </p:spPr>
        <p:txBody>
          <a:bodyPr wrap="square" lIns="38100" tIns="38100" rIns="38100" bIns="38100" rtlCol="0" anchor="t"/>
          <a:lstStyle/>
          <a:p>
            <a:pPr algn="ctr" indent="0" marL="0">
              <a:buNone/>
            </a:pPr>
            <a:r>
              <a:rPr lang="en-US" sz="750" dirty="0">
                <a:solidFill>
                  <a:srgbClr val="1A1A1A"/>
                </a:solidFill>
                <a:latin typeface="Calibri" pitchFamily="34" charset="0"/>
                <a:ea typeface="Calibri" pitchFamily="34" charset="-122"/>
                <a:cs typeface="Calibri" pitchFamily="34" charset="-120"/>
              </a:rPr>
              <a:t>7 temporal conv layers</a:t>
            </a:r>
            <a:endParaRPr lang="en-US" sz="750" dirty="0"/>
          </a:p>
          <a:p>
            <a:pPr algn="ctr" indent="0" marL="0">
              <a:buNone/>
            </a:pPr>
            <a:r>
              <a:rPr lang="en-US" sz="750" dirty="0">
                <a:solidFill>
                  <a:srgbClr val="1A1A1A"/>
                </a:solidFill>
                <a:latin typeface="Calibri" pitchFamily="34" charset="0"/>
                <a:ea typeface="Calibri" pitchFamily="34" charset="-122"/>
                <a:cs typeface="Calibri" pitchFamily="34" charset="-120"/>
              </a:rPr>
              <a:t>→ [1, T/320, 512]</a:t>
            </a:r>
            <a:endParaRPr lang="en-US" sz="750" dirty="0"/>
          </a:p>
          <a:p>
            <a:pPr algn="ctr" indent="0" marL="0">
              <a:buNone/>
            </a:pPr>
            <a:r>
              <a:rPr lang="en-US" sz="750" dirty="0">
                <a:solidFill>
                  <a:srgbClr val="1A1A1A"/>
                </a:solidFill>
                <a:latin typeface="Calibri" pitchFamily="34" charset="0"/>
                <a:ea typeface="Calibri" pitchFamily="34" charset="-122"/>
                <a:cs typeface="Calibri" pitchFamily="34" charset="-120"/>
              </a:rPr>
              <a:t>1 frame per 20ms</a:t>
            </a:r>
            <a:endParaRPr lang="en-US" sz="750" dirty="0"/>
          </a:p>
        </p:txBody>
      </p:sp>
      <p:sp>
        <p:nvSpPr>
          <p:cNvPr id="17" name="Shape 15"/>
          <p:cNvSpPr/>
          <p:nvPr/>
        </p:nvSpPr>
        <p:spPr>
          <a:xfrm>
            <a:off x="4791456" y="1362456"/>
            <a:ext cx="128016" cy="0"/>
          </a:xfrm>
          <a:prstGeom prst="line">
            <a:avLst/>
          </a:prstGeom>
          <a:noFill/>
          <a:ln w="15240">
            <a:solidFill>
              <a:srgbClr val="14407A"/>
            </a:solidFill>
            <a:prstDash val="solid"/>
            <a:tailEnd type="triangle"/>
          </a:ln>
        </p:spPr>
      </p:sp>
      <p:sp>
        <p:nvSpPr>
          <p:cNvPr id="18" name="Shape 16"/>
          <p:cNvSpPr/>
          <p:nvPr/>
        </p:nvSpPr>
        <p:spPr>
          <a:xfrm>
            <a:off x="4937760" y="859536"/>
            <a:ext cx="2212848" cy="1005840"/>
          </a:xfrm>
          <a:prstGeom prst="rect">
            <a:avLst/>
          </a:prstGeom>
          <a:solidFill>
            <a:srgbClr val="D7E4F5"/>
          </a:solidFill>
          <a:ln w="12700">
            <a:solidFill>
              <a:srgbClr val="14407A"/>
            </a:solidFill>
            <a:prstDash val="solid"/>
          </a:ln>
          <a:effectLst>
            <a:outerShdw sx="100000" sy="100000" kx="0" ky="0" algn="bl" rotWithShape="0" blurRad="38100" dist="25400" dir="8100000">
              <a:srgbClr val="000000">
                <a:alpha val="9000"/>
              </a:srgbClr>
            </a:outerShdw>
          </a:effectLst>
        </p:spPr>
      </p:sp>
      <p:sp>
        <p:nvSpPr>
          <p:cNvPr id="19" name="Text 17"/>
          <p:cNvSpPr/>
          <p:nvPr/>
        </p:nvSpPr>
        <p:spPr>
          <a:xfrm>
            <a:off x="5029200" y="859536"/>
            <a:ext cx="2048256" cy="347472"/>
          </a:xfrm>
          <a:prstGeom prst="rect">
            <a:avLst/>
          </a:prstGeom>
          <a:noFill/>
          <a:ln/>
        </p:spPr>
        <p:txBody>
          <a:bodyPr wrap="square" lIns="38100" tIns="38100" rIns="38100" bIns="38100" rtlCol="0" anchor="ctr"/>
          <a:lstStyle/>
          <a:p>
            <a:pPr algn="ctr" indent="0" marL="0">
              <a:buNone/>
            </a:pPr>
            <a:r>
              <a:rPr lang="en-US" sz="900" b="1" dirty="0">
                <a:solidFill>
                  <a:srgbClr val="14407A"/>
                </a:solidFill>
                <a:latin typeface="Calibri" pitchFamily="34" charset="0"/>
                <a:ea typeface="Calibri" pitchFamily="34" charset="-122"/>
                <a:cs typeface="Calibri" pitchFamily="34" charset="-120"/>
              </a:rPr>
              <a:t>Transformer</a:t>
            </a:r>
            <a:endParaRPr lang="en-US" sz="900" dirty="0"/>
          </a:p>
          <a:p>
            <a:pPr algn="ctr" indent="0" marL="0">
              <a:buNone/>
            </a:pPr>
            <a:r>
              <a:rPr lang="en-US" sz="900" b="1" dirty="0">
                <a:solidFill>
                  <a:srgbClr val="14407A"/>
                </a:solidFill>
                <a:latin typeface="Calibri" pitchFamily="34" charset="0"/>
                <a:ea typeface="Calibri" pitchFamily="34" charset="-122"/>
                <a:cs typeface="Calibri" pitchFamily="34" charset="-120"/>
              </a:rPr>
              <a:t>Context Network</a:t>
            </a:r>
            <a:endParaRPr lang="en-US" sz="900" dirty="0"/>
          </a:p>
        </p:txBody>
      </p:sp>
      <p:sp>
        <p:nvSpPr>
          <p:cNvPr id="20" name="Text 18"/>
          <p:cNvSpPr/>
          <p:nvPr/>
        </p:nvSpPr>
        <p:spPr>
          <a:xfrm>
            <a:off x="5029200" y="1188720"/>
            <a:ext cx="2048256" cy="640080"/>
          </a:xfrm>
          <a:prstGeom prst="rect">
            <a:avLst/>
          </a:prstGeom>
          <a:noFill/>
          <a:ln/>
        </p:spPr>
        <p:txBody>
          <a:bodyPr wrap="square" lIns="38100" tIns="38100" rIns="38100" bIns="38100" rtlCol="0" anchor="t"/>
          <a:lstStyle/>
          <a:p>
            <a:pPr algn="ctr" indent="0" marL="0">
              <a:buNone/>
            </a:pPr>
            <a:r>
              <a:rPr lang="en-US" sz="750" dirty="0">
                <a:solidFill>
                  <a:srgbClr val="1A1A1A"/>
                </a:solidFill>
                <a:latin typeface="Calibri" pitchFamily="34" charset="0"/>
                <a:ea typeface="Calibri" pitchFamily="34" charset="-122"/>
                <a:cs typeface="Calibri" pitchFamily="34" charset="-120"/>
              </a:rPr>
              <a:t>12 layers, 768d</a:t>
            </a:r>
            <a:endParaRPr lang="en-US" sz="750" dirty="0"/>
          </a:p>
          <a:p>
            <a:pPr algn="ctr" indent="0" marL="0">
              <a:buNone/>
            </a:pPr>
            <a:r>
              <a:rPr lang="en-US" sz="750" dirty="0">
                <a:solidFill>
                  <a:srgbClr val="1A1A1A"/>
                </a:solidFill>
                <a:latin typeface="Calibri" pitchFamily="34" charset="0"/>
                <a:ea typeface="Calibri" pitchFamily="34" charset="-122"/>
                <a:cs typeface="Calibri" pitchFamily="34" charset="-120"/>
              </a:rPr>
              <a:t>self-attention</a:t>
            </a:r>
            <a:endParaRPr lang="en-US" sz="750" dirty="0"/>
          </a:p>
          <a:p>
            <a:pPr algn="ctr" indent="0" marL="0">
              <a:buNone/>
            </a:pPr>
            <a:r>
              <a:rPr lang="en-US" sz="750" dirty="0">
                <a:solidFill>
                  <a:srgbClr val="1A1A1A"/>
                </a:solidFill>
                <a:latin typeface="Calibri" pitchFamily="34" charset="0"/>
                <a:ea typeface="Calibri" pitchFamily="34" charset="-122"/>
                <a:cs typeface="Calibri" pitchFamily="34" charset="-120"/>
              </a:rPr>
              <a:t>→ [1, T', 768]</a:t>
            </a:r>
            <a:endParaRPr lang="en-US" sz="750" dirty="0"/>
          </a:p>
        </p:txBody>
      </p:sp>
      <p:sp>
        <p:nvSpPr>
          <p:cNvPr id="21" name="Shape 19"/>
          <p:cNvSpPr/>
          <p:nvPr/>
        </p:nvSpPr>
        <p:spPr>
          <a:xfrm>
            <a:off x="7168896" y="1362456"/>
            <a:ext cx="128016" cy="0"/>
          </a:xfrm>
          <a:prstGeom prst="line">
            <a:avLst/>
          </a:prstGeom>
          <a:noFill/>
          <a:ln w="15240">
            <a:solidFill>
              <a:srgbClr val="14407A"/>
            </a:solidFill>
            <a:prstDash val="solid"/>
            <a:tailEnd type="triangle"/>
          </a:ln>
        </p:spPr>
      </p:sp>
      <p:sp>
        <p:nvSpPr>
          <p:cNvPr id="22" name="Shape 20"/>
          <p:cNvSpPr/>
          <p:nvPr/>
        </p:nvSpPr>
        <p:spPr>
          <a:xfrm>
            <a:off x="7315200" y="859536"/>
            <a:ext cx="2212848" cy="1005840"/>
          </a:xfrm>
          <a:prstGeom prst="rect">
            <a:avLst/>
          </a:prstGeom>
          <a:solidFill>
            <a:srgbClr val="D7E4F5"/>
          </a:solidFill>
          <a:ln w="12700">
            <a:solidFill>
              <a:srgbClr val="14407A"/>
            </a:solidFill>
            <a:prstDash val="solid"/>
          </a:ln>
          <a:effectLst>
            <a:outerShdw sx="100000" sy="100000" kx="0" ky="0" algn="bl" rotWithShape="0" blurRad="38100" dist="25400" dir="8100000">
              <a:srgbClr val="000000">
                <a:alpha val="9000"/>
              </a:srgbClr>
            </a:outerShdw>
          </a:effectLst>
        </p:spPr>
      </p:sp>
      <p:sp>
        <p:nvSpPr>
          <p:cNvPr id="23" name="Text 21"/>
          <p:cNvSpPr/>
          <p:nvPr/>
        </p:nvSpPr>
        <p:spPr>
          <a:xfrm>
            <a:off x="7406640" y="859536"/>
            <a:ext cx="2048256" cy="347472"/>
          </a:xfrm>
          <a:prstGeom prst="rect">
            <a:avLst/>
          </a:prstGeom>
          <a:noFill/>
          <a:ln/>
        </p:spPr>
        <p:txBody>
          <a:bodyPr wrap="square" lIns="38100" tIns="38100" rIns="38100" bIns="38100" rtlCol="0" anchor="ctr"/>
          <a:lstStyle/>
          <a:p>
            <a:pPr algn="ctr" indent="0" marL="0">
              <a:buNone/>
            </a:pPr>
            <a:r>
              <a:rPr lang="en-US" sz="900" b="1" dirty="0">
                <a:solidFill>
                  <a:srgbClr val="14407A"/>
                </a:solidFill>
                <a:latin typeface="Calibri" pitchFamily="34" charset="0"/>
                <a:ea typeface="Calibri" pitchFamily="34" charset="-122"/>
                <a:cs typeface="Calibri" pitchFamily="34" charset="-120"/>
              </a:rPr>
              <a:t>Mean-pool</a:t>
            </a:r>
            <a:endParaRPr lang="en-US" sz="900" dirty="0"/>
          </a:p>
          <a:p>
            <a:pPr algn="ctr" indent="0" marL="0">
              <a:buNone/>
            </a:pPr>
            <a:r>
              <a:rPr lang="en-US" sz="900" b="1" dirty="0">
                <a:solidFill>
                  <a:srgbClr val="14407A"/>
                </a:solidFill>
                <a:latin typeface="Calibri" pitchFamily="34" charset="0"/>
                <a:ea typeface="Calibri" pitchFamily="34" charset="-122"/>
                <a:cs typeface="Calibri" pitchFamily="34" charset="-120"/>
              </a:rPr>
              <a:t>over time T'</a:t>
            </a:r>
            <a:endParaRPr lang="en-US" sz="900" dirty="0"/>
          </a:p>
        </p:txBody>
      </p:sp>
      <p:sp>
        <p:nvSpPr>
          <p:cNvPr id="24" name="Text 22"/>
          <p:cNvSpPr/>
          <p:nvPr/>
        </p:nvSpPr>
        <p:spPr>
          <a:xfrm>
            <a:off x="7406640" y="1188720"/>
            <a:ext cx="2048256" cy="640080"/>
          </a:xfrm>
          <a:prstGeom prst="rect">
            <a:avLst/>
          </a:prstGeom>
          <a:noFill/>
          <a:ln/>
        </p:spPr>
        <p:txBody>
          <a:bodyPr wrap="square" lIns="38100" tIns="38100" rIns="38100" bIns="38100" rtlCol="0" anchor="t"/>
          <a:lstStyle/>
          <a:p>
            <a:pPr algn="ctr" indent="0" marL="0">
              <a:buNone/>
            </a:pPr>
            <a:r>
              <a:rPr lang="en-US" sz="750" dirty="0">
                <a:solidFill>
                  <a:srgbClr val="1A1A1A"/>
                </a:solidFill>
                <a:latin typeface="Calibri" pitchFamily="34" charset="0"/>
                <a:ea typeface="Calibri" pitchFamily="34" charset="-122"/>
                <a:cs typeface="Calibri" pitchFamily="34" charset="-120"/>
              </a:rPr>
              <a:t>e_wav=(1/T')Σhₜ</a:t>
            </a:r>
            <a:endParaRPr lang="en-US" sz="750" dirty="0"/>
          </a:p>
          <a:p>
            <a:pPr algn="ctr" indent="0" marL="0">
              <a:buNone/>
            </a:pPr>
            <a:r>
              <a:rPr lang="en-US" sz="750" dirty="0">
                <a:solidFill>
                  <a:srgbClr val="1A1A1A"/>
                </a:solidFill>
                <a:latin typeface="Calibri" pitchFamily="34" charset="0"/>
                <a:ea typeface="Calibri" pitchFamily="34" charset="-122"/>
                <a:cs typeface="Calibri" pitchFamily="34" charset="-120"/>
              </a:rPr>
              <a:t>→ [1, 768]</a:t>
            </a:r>
            <a:endParaRPr lang="en-US" sz="750" dirty="0"/>
          </a:p>
          <a:p>
            <a:pPr algn="ctr" indent="0" marL="0">
              <a:buNone/>
            </a:pPr>
            <a:r>
              <a:rPr lang="en-US" sz="750" dirty="0">
                <a:solidFill>
                  <a:srgbClr val="1A1A1A"/>
                </a:solidFill>
                <a:latin typeface="Calibri" pitchFamily="34" charset="0"/>
                <a:ea typeface="Calibri" pitchFamily="34" charset="-122"/>
                <a:cs typeface="Calibri" pitchFamily="34" charset="-120"/>
              </a:rPr>
              <a:t>'average emotional tone'</a:t>
            </a:r>
            <a:endParaRPr lang="en-US" sz="750" dirty="0"/>
          </a:p>
        </p:txBody>
      </p:sp>
      <p:sp>
        <p:nvSpPr>
          <p:cNvPr id="25" name="Shape 23"/>
          <p:cNvSpPr/>
          <p:nvPr/>
        </p:nvSpPr>
        <p:spPr>
          <a:xfrm>
            <a:off x="9546336" y="1362456"/>
            <a:ext cx="128016" cy="0"/>
          </a:xfrm>
          <a:prstGeom prst="line">
            <a:avLst/>
          </a:prstGeom>
          <a:noFill/>
          <a:ln w="15240">
            <a:solidFill>
              <a:srgbClr val="14407A"/>
            </a:solidFill>
            <a:prstDash val="solid"/>
            <a:tailEnd type="triangle"/>
          </a:ln>
        </p:spPr>
      </p:sp>
      <p:sp>
        <p:nvSpPr>
          <p:cNvPr id="26" name="Shape 24"/>
          <p:cNvSpPr/>
          <p:nvPr/>
        </p:nvSpPr>
        <p:spPr>
          <a:xfrm>
            <a:off x="9692640" y="859536"/>
            <a:ext cx="2212848" cy="1005840"/>
          </a:xfrm>
          <a:prstGeom prst="rect">
            <a:avLst/>
          </a:prstGeom>
          <a:solidFill>
            <a:srgbClr val="D7E4F5"/>
          </a:solidFill>
          <a:ln w="12700">
            <a:solidFill>
              <a:srgbClr val="14407A"/>
            </a:solidFill>
            <a:prstDash val="solid"/>
          </a:ln>
          <a:effectLst>
            <a:outerShdw sx="100000" sy="100000" kx="0" ky="0" algn="bl" rotWithShape="0" blurRad="38100" dist="25400" dir="8100000">
              <a:srgbClr val="000000">
                <a:alpha val="9000"/>
              </a:srgbClr>
            </a:outerShdw>
          </a:effectLst>
        </p:spPr>
      </p:sp>
      <p:sp>
        <p:nvSpPr>
          <p:cNvPr id="27" name="Text 25"/>
          <p:cNvSpPr/>
          <p:nvPr/>
        </p:nvSpPr>
        <p:spPr>
          <a:xfrm>
            <a:off x="9784080" y="859536"/>
            <a:ext cx="2048256" cy="347472"/>
          </a:xfrm>
          <a:prstGeom prst="rect">
            <a:avLst/>
          </a:prstGeom>
          <a:noFill/>
          <a:ln/>
        </p:spPr>
        <p:txBody>
          <a:bodyPr wrap="square" lIns="38100" tIns="38100" rIns="38100" bIns="38100" rtlCol="0" anchor="ctr"/>
          <a:lstStyle/>
          <a:p>
            <a:pPr algn="ctr" indent="0" marL="0">
              <a:buNone/>
            </a:pPr>
            <a:r>
              <a:rPr lang="en-US" sz="900" b="1" dirty="0">
                <a:solidFill>
                  <a:srgbClr val="14407A"/>
                </a:solidFill>
                <a:latin typeface="Calibri" pitchFamily="34" charset="0"/>
                <a:ea typeface="Calibri" pitchFamily="34" charset="-122"/>
                <a:cs typeface="Calibri" pitchFamily="34" charset="-120"/>
              </a:rPr>
              <a:t>Output</a:t>
            </a:r>
            <a:endParaRPr lang="en-US" sz="900" dirty="0"/>
          </a:p>
          <a:p>
            <a:pPr algn="ctr" indent="0" marL="0">
              <a:buNone/>
            </a:pPr>
            <a:r>
              <a:rPr lang="en-US" sz="900" b="1" dirty="0">
                <a:solidFill>
                  <a:srgbClr val="14407A"/>
                </a:solidFill>
                <a:latin typeface="Calibri" pitchFamily="34" charset="0"/>
                <a:ea typeface="Calibri" pitchFamily="34" charset="-122"/>
                <a:cs typeface="Calibri" pitchFamily="34" charset="-120"/>
              </a:rPr>
              <a:t>e_wav ∈ ℝ⁷⁶⁸</a:t>
            </a:r>
            <a:endParaRPr lang="en-US" sz="900" dirty="0"/>
          </a:p>
        </p:txBody>
      </p:sp>
      <p:sp>
        <p:nvSpPr>
          <p:cNvPr id="28" name="Text 26"/>
          <p:cNvSpPr/>
          <p:nvPr/>
        </p:nvSpPr>
        <p:spPr>
          <a:xfrm>
            <a:off x="9784080" y="1188720"/>
            <a:ext cx="2048256" cy="640080"/>
          </a:xfrm>
          <a:prstGeom prst="rect">
            <a:avLst/>
          </a:prstGeom>
          <a:noFill/>
          <a:ln/>
        </p:spPr>
        <p:txBody>
          <a:bodyPr wrap="square" lIns="38100" tIns="38100" rIns="38100" bIns="38100" rtlCol="0" anchor="t"/>
          <a:lstStyle/>
          <a:p>
            <a:pPr algn="ctr" indent="0" marL="0">
              <a:buNone/>
            </a:pPr>
            <a:r>
              <a:rPr lang="en-US" sz="750" dirty="0">
                <a:solidFill>
                  <a:srgbClr val="1A1A1A"/>
                </a:solidFill>
                <a:latin typeface="Calibri" pitchFamily="34" charset="0"/>
                <a:ea typeface="Calibri" pitchFamily="34" charset="-122"/>
                <a:cs typeface="Calibri" pitchFamily="34" charset="-120"/>
              </a:rPr>
              <a:t>768d representation</a:t>
            </a:r>
            <a:endParaRPr lang="en-US" sz="750" dirty="0"/>
          </a:p>
          <a:p>
            <a:pPr algn="ctr" indent="0" marL="0">
              <a:buNone/>
            </a:pPr>
            <a:r>
              <a:rPr lang="en-US" sz="750" dirty="0">
                <a:solidFill>
                  <a:srgbClr val="1A1A1A"/>
                </a:solidFill>
                <a:latin typeface="Calibri" pitchFamily="34" charset="0"/>
                <a:ea typeface="Calibri" pitchFamily="34" charset="-122"/>
                <a:cs typeface="Calibri" pitchFamily="34" charset="-120"/>
              </a:rPr>
              <a:t>Captures: phoneme,</a:t>
            </a:r>
            <a:endParaRPr lang="en-US" sz="750" dirty="0"/>
          </a:p>
          <a:p>
            <a:pPr algn="ctr" indent="0" marL="0">
              <a:buNone/>
            </a:pPr>
            <a:r>
              <a:rPr lang="en-US" sz="750" dirty="0">
                <a:solidFill>
                  <a:srgbClr val="1A1A1A"/>
                </a:solidFill>
                <a:latin typeface="Calibri" pitchFamily="34" charset="0"/>
                <a:ea typeface="Calibri" pitchFamily="34" charset="-122"/>
                <a:cs typeface="Calibri" pitchFamily="34" charset="-120"/>
              </a:rPr>
              <a:t>prosody, pitch, emotion</a:t>
            </a:r>
            <a:endParaRPr lang="en-US" sz="750" dirty="0"/>
          </a:p>
        </p:txBody>
      </p:sp>
      <p:sp>
        <p:nvSpPr>
          <p:cNvPr id="29" name="Shape 27"/>
          <p:cNvSpPr/>
          <p:nvPr/>
        </p:nvSpPr>
        <p:spPr>
          <a:xfrm>
            <a:off x="182880" y="1975104"/>
            <a:ext cx="36576" cy="237744"/>
          </a:xfrm>
          <a:prstGeom prst="rect">
            <a:avLst/>
          </a:prstGeom>
          <a:solidFill>
            <a:srgbClr val="0D7C5F"/>
          </a:solidFill>
          <a:ln w="12700">
            <a:solidFill>
              <a:srgbClr val="0D7C5F"/>
            </a:solidFill>
            <a:prstDash val="solid"/>
          </a:ln>
        </p:spPr>
      </p:sp>
      <p:sp>
        <p:nvSpPr>
          <p:cNvPr id="30" name="Text 28"/>
          <p:cNvSpPr/>
          <p:nvPr/>
        </p:nvSpPr>
        <p:spPr>
          <a:xfrm>
            <a:off x="256032" y="1975104"/>
            <a:ext cx="5486400" cy="237744"/>
          </a:xfrm>
          <a:prstGeom prst="rect">
            <a:avLst/>
          </a:prstGeom>
          <a:noFill/>
          <a:ln/>
        </p:spPr>
        <p:txBody>
          <a:bodyPr wrap="square" lIns="38100" tIns="38100" rIns="38100" bIns="38100" rtlCol="0" anchor="ctr"/>
          <a:lstStyle/>
          <a:p>
            <a:pPr algn="l" indent="0" marL="0">
              <a:buNone/>
            </a:pPr>
            <a:r>
              <a:rPr lang="en-US" sz="800" b="1" dirty="0">
                <a:solidFill>
                  <a:srgbClr val="0D7C5F"/>
                </a:solidFill>
                <a:latin typeface="Calibri" pitchFamily="34" charset="0"/>
                <a:ea typeface="Calibri" pitchFamily="34" charset="-122"/>
                <a:cs typeface="Calibri" pitchFamily="34" charset="-120"/>
              </a:rPr>
              <a:t>Why Freeze Wav2Vec 2.0 — Three Reasons</a:t>
            </a:r>
            <a:endParaRPr lang="en-US" sz="800" dirty="0"/>
          </a:p>
        </p:txBody>
      </p:sp>
      <p:sp>
        <p:nvSpPr>
          <p:cNvPr id="31" name="Shape 29"/>
          <p:cNvSpPr/>
          <p:nvPr/>
        </p:nvSpPr>
        <p:spPr>
          <a:xfrm>
            <a:off x="182880" y="2194560"/>
            <a:ext cx="3895344" cy="1243584"/>
          </a:xfrm>
          <a:prstGeom prst="rect">
            <a:avLst/>
          </a:prstGeom>
          <a:solidFill>
            <a:srgbClr val="D1F0E6"/>
          </a:solidFill>
          <a:ln w="10160">
            <a:solidFill>
              <a:srgbClr val="0D7C5F"/>
            </a:solidFill>
            <a:prstDash val="solid"/>
          </a:ln>
          <a:effectLst>
            <a:outerShdw sx="100000" sy="100000" kx="0" ky="0" algn="bl" rotWithShape="0" blurRad="38100" dist="25400" dir="8100000">
              <a:srgbClr val="000000">
                <a:alpha val="9000"/>
              </a:srgbClr>
            </a:outerShdw>
          </a:effectLst>
        </p:spPr>
      </p:sp>
      <p:sp>
        <p:nvSpPr>
          <p:cNvPr id="32" name="Shape 30"/>
          <p:cNvSpPr/>
          <p:nvPr/>
        </p:nvSpPr>
        <p:spPr>
          <a:xfrm>
            <a:off x="182880" y="2194560"/>
            <a:ext cx="50292" cy="1243584"/>
          </a:xfrm>
          <a:prstGeom prst="rect">
            <a:avLst/>
          </a:prstGeom>
          <a:solidFill>
            <a:srgbClr val="0D7C5F"/>
          </a:solidFill>
          <a:ln w="12700">
            <a:solidFill>
              <a:srgbClr val="0D7C5F"/>
            </a:solidFill>
            <a:prstDash val="solid"/>
          </a:ln>
        </p:spPr>
      </p:sp>
      <p:sp>
        <p:nvSpPr>
          <p:cNvPr id="33" name="Text 31"/>
          <p:cNvSpPr/>
          <p:nvPr/>
        </p:nvSpPr>
        <p:spPr>
          <a:xfrm>
            <a:off x="292608" y="2194560"/>
            <a:ext cx="3730752" cy="256032"/>
          </a:xfrm>
          <a:prstGeom prst="rect">
            <a:avLst/>
          </a:prstGeom>
          <a:noFill/>
          <a:ln/>
        </p:spPr>
        <p:txBody>
          <a:bodyPr wrap="square" lIns="38100" tIns="38100" rIns="38100" bIns="38100" rtlCol="0" anchor="ctr"/>
          <a:lstStyle/>
          <a:p>
            <a:pPr algn="l" indent="0" marL="0">
              <a:buNone/>
            </a:pPr>
            <a:r>
              <a:rPr lang="en-US" sz="850" b="1" dirty="0">
                <a:solidFill>
                  <a:srgbClr val="0D7C5F"/>
                </a:solidFill>
                <a:latin typeface="Calibri" pitchFamily="34" charset="0"/>
                <a:ea typeface="Calibri" pitchFamily="34" charset="-122"/>
                <a:cs typeface="Calibri" pitchFamily="34" charset="-120"/>
              </a:rPr>
              <a:t>1 — VRAM constraint</a:t>
            </a:r>
            <a:endParaRPr lang="en-US" sz="850" dirty="0"/>
          </a:p>
        </p:txBody>
      </p:sp>
      <p:sp>
        <p:nvSpPr>
          <p:cNvPr id="34" name="Text 32"/>
          <p:cNvSpPr/>
          <p:nvPr/>
        </p:nvSpPr>
        <p:spPr>
          <a:xfrm>
            <a:off x="292608" y="2432304"/>
            <a:ext cx="3730752" cy="969264"/>
          </a:xfrm>
          <a:prstGeom prst="rect">
            <a:avLst/>
          </a:prstGeom>
          <a:noFill/>
          <a:ln/>
        </p:spPr>
        <p:txBody>
          <a:bodyPr wrap="square" lIns="38100" tIns="38100" rIns="38100" bIns="38100" rtlCol="0" anchor="t"/>
          <a:lstStyle/>
          <a:p>
            <a:pPr algn="l" indent="0" marL="0">
              <a:buNone/>
            </a:pPr>
            <a:r>
              <a:rPr lang="en-US" sz="750" dirty="0">
                <a:solidFill>
                  <a:srgbClr val="1A1A1A"/>
                </a:solidFill>
                <a:latin typeface="Calibri" pitchFamily="34" charset="0"/>
                <a:ea typeface="Calibri" pitchFamily="34" charset="-122"/>
                <a:cs typeface="Calibri" pitchFamily="34" charset="-120"/>
              </a:rPr>
              <a:t>Wav2Vec 2.0 base has 94M parameters. Fine-tuning with gradient storage on T4 (15GB) for 1,440 clips would exhaust VRAM — especially with batch activations, optimiser states, and the projection head. Freezing reduces active computation to AudioProjection only (~987K params, ~4MB).</a:t>
            </a:r>
            <a:endParaRPr lang="en-US" sz="750" dirty="0"/>
          </a:p>
        </p:txBody>
      </p:sp>
      <p:sp>
        <p:nvSpPr>
          <p:cNvPr id="35" name="Shape 33"/>
          <p:cNvSpPr/>
          <p:nvPr/>
        </p:nvSpPr>
        <p:spPr>
          <a:xfrm>
            <a:off x="4187952" y="2194560"/>
            <a:ext cx="3895344" cy="1243584"/>
          </a:xfrm>
          <a:prstGeom prst="rect">
            <a:avLst/>
          </a:prstGeom>
          <a:solidFill>
            <a:srgbClr val="D1F0E6"/>
          </a:solidFill>
          <a:ln w="10160">
            <a:solidFill>
              <a:srgbClr val="0D7C5F"/>
            </a:solidFill>
            <a:prstDash val="solid"/>
          </a:ln>
          <a:effectLst>
            <a:outerShdw sx="100000" sy="100000" kx="0" ky="0" algn="bl" rotWithShape="0" blurRad="38100" dist="25400" dir="8100000">
              <a:srgbClr val="000000">
                <a:alpha val="9000"/>
              </a:srgbClr>
            </a:outerShdw>
          </a:effectLst>
        </p:spPr>
      </p:sp>
      <p:sp>
        <p:nvSpPr>
          <p:cNvPr id="36" name="Shape 34"/>
          <p:cNvSpPr/>
          <p:nvPr/>
        </p:nvSpPr>
        <p:spPr>
          <a:xfrm>
            <a:off x="4187952" y="2194560"/>
            <a:ext cx="50292" cy="1243584"/>
          </a:xfrm>
          <a:prstGeom prst="rect">
            <a:avLst/>
          </a:prstGeom>
          <a:solidFill>
            <a:srgbClr val="0D7C5F"/>
          </a:solidFill>
          <a:ln w="12700">
            <a:solidFill>
              <a:srgbClr val="0D7C5F"/>
            </a:solidFill>
            <a:prstDash val="solid"/>
          </a:ln>
        </p:spPr>
      </p:sp>
      <p:sp>
        <p:nvSpPr>
          <p:cNvPr id="37" name="Text 35"/>
          <p:cNvSpPr/>
          <p:nvPr/>
        </p:nvSpPr>
        <p:spPr>
          <a:xfrm>
            <a:off x="4297680" y="2194560"/>
            <a:ext cx="3730752" cy="256032"/>
          </a:xfrm>
          <a:prstGeom prst="rect">
            <a:avLst/>
          </a:prstGeom>
          <a:noFill/>
          <a:ln/>
        </p:spPr>
        <p:txBody>
          <a:bodyPr wrap="square" lIns="38100" tIns="38100" rIns="38100" bIns="38100" rtlCol="0" anchor="ctr"/>
          <a:lstStyle/>
          <a:p>
            <a:pPr algn="l" indent="0" marL="0">
              <a:buNone/>
            </a:pPr>
            <a:r>
              <a:rPr lang="en-US" sz="850" b="1" dirty="0">
                <a:solidFill>
                  <a:srgbClr val="0D7C5F"/>
                </a:solidFill>
                <a:latin typeface="Calibri" pitchFamily="34" charset="0"/>
                <a:ea typeface="Calibri" pitchFamily="34" charset="-122"/>
                <a:cs typeface="Calibri" pitchFamily="34" charset="-120"/>
              </a:rPr>
              <a:t>2 — Catastrophic forgetting</a:t>
            </a:r>
            <a:endParaRPr lang="en-US" sz="850" dirty="0"/>
          </a:p>
        </p:txBody>
      </p:sp>
      <p:sp>
        <p:nvSpPr>
          <p:cNvPr id="38" name="Text 36"/>
          <p:cNvSpPr/>
          <p:nvPr/>
        </p:nvSpPr>
        <p:spPr>
          <a:xfrm>
            <a:off x="4297680" y="2432304"/>
            <a:ext cx="3730752" cy="969264"/>
          </a:xfrm>
          <a:prstGeom prst="rect">
            <a:avLst/>
          </a:prstGeom>
          <a:noFill/>
          <a:ln/>
        </p:spPr>
        <p:txBody>
          <a:bodyPr wrap="square" lIns="38100" tIns="38100" rIns="38100" bIns="38100" rtlCol="0" anchor="t"/>
          <a:lstStyle/>
          <a:p>
            <a:pPr algn="l" indent="0" marL="0">
              <a:buNone/>
            </a:pPr>
            <a:r>
              <a:rPr lang="en-US" sz="750" dirty="0">
                <a:solidFill>
                  <a:srgbClr val="1A1A1A"/>
                </a:solidFill>
                <a:latin typeface="Calibri" pitchFamily="34" charset="0"/>
                <a:ea typeface="Calibri" pitchFamily="34" charset="-122"/>
                <a:cs typeface="Calibri" pitchFamily="34" charset="-120"/>
              </a:rPr>
              <a:t>Wav2Vec was pre-trained on 960 hours of LibriSpeech — the gold standard for acoustic representations. It has learned phonemes, prosody, speaker identity, pitch contours, and emotional inflection. Fine-tuning on only 1,440 RAVDESS clips (roughly 72 minutes) would overwrite 960 hours of learning in a few epochs.</a:t>
            </a:r>
            <a:endParaRPr lang="en-US" sz="750" dirty="0"/>
          </a:p>
        </p:txBody>
      </p:sp>
      <p:sp>
        <p:nvSpPr>
          <p:cNvPr id="39" name="Shape 37"/>
          <p:cNvSpPr/>
          <p:nvPr/>
        </p:nvSpPr>
        <p:spPr>
          <a:xfrm>
            <a:off x="8193024" y="2194560"/>
            <a:ext cx="3895344" cy="1243584"/>
          </a:xfrm>
          <a:prstGeom prst="rect">
            <a:avLst/>
          </a:prstGeom>
          <a:solidFill>
            <a:srgbClr val="D1F0E6"/>
          </a:solidFill>
          <a:ln w="10160">
            <a:solidFill>
              <a:srgbClr val="0D7C5F"/>
            </a:solidFill>
            <a:prstDash val="solid"/>
          </a:ln>
          <a:effectLst>
            <a:outerShdw sx="100000" sy="100000" kx="0" ky="0" algn="bl" rotWithShape="0" blurRad="38100" dist="25400" dir="8100000">
              <a:srgbClr val="000000">
                <a:alpha val="9000"/>
              </a:srgbClr>
            </a:outerShdw>
          </a:effectLst>
        </p:spPr>
      </p:sp>
      <p:sp>
        <p:nvSpPr>
          <p:cNvPr id="40" name="Shape 38"/>
          <p:cNvSpPr/>
          <p:nvPr/>
        </p:nvSpPr>
        <p:spPr>
          <a:xfrm>
            <a:off x="8193024" y="2194560"/>
            <a:ext cx="50292" cy="1243584"/>
          </a:xfrm>
          <a:prstGeom prst="rect">
            <a:avLst/>
          </a:prstGeom>
          <a:solidFill>
            <a:srgbClr val="0D7C5F"/>
          </a:solidFill>
          <a:ln w="12700">
            <a:solidFill>
              <a:srgbClr val="0D7C5F"/>
            </a:solidFill>
            <a:prstDash val="solid"/>
          </a:ln>
        </p:spPr>
      </p:sp>
      <p:sp>
        <p:nvSpPr>
          <p:cNvPr id="41" name="Text 39"/>
          <p:cNvSpPr/>
          <p:nvPr/>
        </p:nvSpPr>
        <p:spPr>
          <a:xfrm>
            <a:off x="8302752" y="2194560"/>
            <a:ext cx="3730752" cy="256032"/>
          </a:xfrm>
          <a:prstGeom prst="rect">
            <a:avLst/>
          </a:prstGeom>
          <a:noFill/>
          <a:ln/>
        </p:spPr>
        <p:txBody>
          <a:bodyPr wrap="square" lIns="38100" tIns="38100" rIns="38100" bIns="38100" rtlCol="0" anchor="ctr"/>
          <a:lstStyle/>
          <a:p>
            <a:pPr algn="l" indent="0" marL="0">
              <a:buNone/>
            </a:pPr>
            <a:r>
              <a:rPr lang="en-US" sz="850" b="1" dirty="0">
                <a:solidFill>
                  <a:srgbClr val="0D7C5F"/>
                </a:solidFill>
                <a:latin typeface="Calibri" pitchFamily="34" charset="0"/>
                <a:ea typeface="Calibri" pitchFamily="34" charset="-122"/>
                <a:cs typeface="Calibri" pitchFamily="34" charset="-120"/>
              </a:rPr>
              <a:t>3 — Training speed ≈10× faster</a:t>
            </a:r>
            <a:endParaRPr lang="en-US" sz="850" dirty="0"/>
          </a:p>
        </p:txBody>
      </p:sp>
      <p:sp>
        <p:nvSpPr>
          <p:cNvPr id="42" name="Text 40"/>
          <p:cNvSpPr/>
          <p:nvPr/>
        </p:nvSpPr>
        <p:spPr>
          <a:xfrm>
            <a:off x="8302752" y="2432304"/>
            <a:ext cx="3730752" cy="969264"/>
          </a:xfrm>
          <a:prstGeom prst="rect">
            <a:avLst/>
          </a:prstGeom>
          <a:noFill/>
          <a:ln/>
        </p:spPr>
        <p:txBody>
          <a:bodyPr wrap="square" lIns="38100" tIns="38100" rIns="38100" bIns="38100" rtlCol="0" anchor="t"/>
          <a:lstStyle/>
          <a:p>
            <a:pPr algn="l" indent="0" marL="0">
              <a:buNone/>
            </a:pPr>
            <a:r>
              <a:rPr lang="en-US" sz="750" dirty="0">
                <a:solidFill>
                  <a:srgbClr val="1A1A1A"/>
                </a:solidFill>
                <a:latin typeface="Calibri" pitchFamily="34" charset="0"/>
                <a:ea typeface="Calibri" pitchFamily="34" charset="-122"/>
                <a:cs typeface="Calibri" pitchFamily="34" charset="-120"/>
              </a:rPr>
              <a:t>Backpropagation through the frozen backbone is skipped entirely. Only the 987K AudioProjection parameters receive gradient updates. One training epoch (~90 batches × ~1,440/16 samples) completes in ~9 seconds on T4 instead of ~90 seconds with an unfrozen backbone.</a:t>
            </a:r>
            <a:endParaRPr lang="en-US" sz="750" dirty="0"/>
          </a:p>
        </p:txBody>
      </p:sp>
      <p:sp>
        <p:nvSpPr>
          <p:cNvPr id="43" name="Shape 41"/>
          <p:cNvSpPr/>
          <p:nvPr/>
        </p:nvSpPr>
        <p:spPr>
          <a:xfrm>
            <a:off x="182880" y="3547872"/>
            <a:ext cx="11795760" cy="347472"/>
          </a:xfrm>
          <a:prstGeom prst="rect">
            <a:avLst/>
          </a:prstGeom>
          <a:solidFill>
            <a:srgbClr val="F5F5F5"/>
          </a:solidFill>
          <a:ln w="8890">
            <a:solidFill>
              <a:srgbClr val="AAAAAA"/>
            </a:solidFill>
            <a:prstDash val="solid"/>
          </a:ln>
        </p:spPr>
      </p:sp>
      <p:sp>
        <p:nvSpPr>
          <p:cNvPr id="44" name="Text 42"/>
          <p:cNvSpPr/>
          <p:nvPr/>
        </p:nvSpPr>
        <p:spPr>
          <a:xfrm>
            <a:off x="274320" y="3547872"/>
            <a:ext cx="1828800" cy="237744"/>
          </a:xfrm>
          <a:prstGeom prst="rect">
            <a:avLst/>
          </a:prstGeom>
          <a:noFill/>
          <a:ln/>
        </p:spPr>
        <p:txBody>
          <a:bodyPr wrap="square" lIns="38100" tIns="38100" rIns="38100" bIns="38100" rtlCol="0" anchor="ctr"/>
          <a:lstStyle/>
          <a:p>
            <a:pPr algn="l" indent="0" marL="0">
              <a:buNone/>
            </a:pPr>
            <a:r>
              <a:rPr lang="en-US" sz="800" b="1" dirty="0">
                <a:solidFill>
                  <a:srgbClr val="1A1A1A"/>
                </a:solidFill>
                <a:latin typeface="Calibri" pitchFamily="34" charset="0"/>
                <a:ea typeface="Calibri" pitchFamily="34" charset="-122"/>
                <a:cs typeface="Calibri" pitchFamily="34" charset="-120"/>
              </a:rPr>
              <a:t>Mean-pool formula:</a:t>
            </a:r>
            <a:endParaRPr lang="en-US" sz="800" dirty="0"/>
          </a:p>
        </p:txBody>
      </p:sp>
      <p:sp>
        <p:nvSpPr>
          <p:cNvPr id="45" name="Text 43"/>
          <p:cNvSpPr/>
          <p:nvPr/>
        </p:nvSpPr>
        <p:spPr>
          <a:xfrm>
            <a:off x="274320" y="3547872"/>
            <a:ext cx="11521440" cy="347472"/>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e_wav = (1/T') Σₜ₌₁ᵀ' hₜ ∈ ℝ⁷⁶⁸   |   H = [h₁,...,h_T'] ∈ ℝ^{T'×768} = Transformer last-layer hidden states   |   For 3s at 16kHz: T=48K samples → T'≈150 frames (1 frame per 20ms)   |   Mean-pool captures AVERAGE emotional quality across utterance</a:t>
            </a:r>
            <a:endParaRPr lang="en-US" sz="750" dirty="0"/>
          </a:p>
        </p:txBody>
      </p:sp>
      <p:sp>
        <p:nvSpPr>
          <p:cNvPr id="46" name="Shape 44"/>
          <p:cNvSpPr/>
          <p:nvPr/>
        </p:nvSpPr>
        <p:spPr>
          <a:xfrm>
            <a:off x="182880" y="3986784"/>
            <a:ext cx="36576" cy="237744"/>
          </a:xfrm>
          <a:prstGeom prst="rect">
            <a:avLst/>
          </a:prstGeom>
          <a:solidFill>
            <a:srgbClr val="8A5200"/>
          </a:solidFill>
          <a:ln w="12700">
            <a:solidFill>
              <a:srgbClr val="8A5200"/>
            </a:solidFill>
            <a:prstDash val="solid"/>
          </a:ln>
        </p:spPr>
      </p:sp>
      <p:sp>
        <p:nvSpPr>
          <p:cNvPr id="47" name="Text 45"/>
          <p:cNvSpPr/>
          <p:nvPr/>
        </p:nvSpPr>
        <p:spPr>
          <a:xfrm>
            <a:off x="256032" y="3986784"/>
            <a:ext cx="5486400" cy="237744"/>
          </a:xfrm>
          <a:prstGeom prst="rect">
            <a:avLst/>
          </a:prstGeom>
          <a:noFill/>
          <a:ln/>
        </p:spPr>
        <p:txBody>
          <a:bodyPr wrap="square" lIns="38100" tIns="38100" rIns="38100" bIns="38100" rtlCol="0" anchor="ctr"/>
          <a:lstStyle/>
          <a:p>
            <a:pPr algn="l" indent="0" marL="0">
              <a:buNone/>
            </a:pPr>
            <a:r>
              <a:rPr lang="en-US" sz="800" b="1" dirty="0">
                <a:solidFill>
                  <a:srgbClr val="8A5200"/>
                </a:solidFill>
                <a:latin typeface="Calibri" pitchFamily="34" charset="0"/>
                <a:ea typeface="Calibri" pitchFamily="34" charset="-122"/>
                <a:cs typeface="Calibri" pitchFamily="34" charset="-120"/>
              </a:rPr>
              <a:t>EXTRACT_AND_CACHE_768D — Full Algorithm &amp; Resume Safety</a:t>
            </a:r>
            <a:endParaRPr lang="en-US" sz="800" dirty="0"/>
          </a:p>
        </p:txBody>
      </p:sp>
      <p:sp>
        <p:nvSpPr>
          <p:cNvPr id="48" name="Shape 46"/>
          <p:cNvSpPr/>
          <p:nvPr/>
        </p:nvSpPr>
        <p:spPr>
          <a:xfrm>
            <a:off x="182880" y="4206240"/>
            <a:ext cx="7589520" cy="2084832"/>
          </a:xfrm>
          <a:prstGeom prst="rect">
            <a:avLst/>
          </a:prstGeom>
          <a:solidFill>
            <a:srgbClr val="1E1E2E"/>
          </a:solidFill>
          <a:ln w="10160">
            <a:solidFill>
              <a:srgbClr val="AAAAAA"/>
            </a:solidFill>
            <a:prstDash val="solid"/>
          </a:ln>
        </p:spPr>
      </p:sp>
      <p:sp>
        <p:nvSpPr>
          <p:cNvPr id="49" name="Text 47"/>
          <p:cNvSpPr/>
          <p:nvPr/>
        </p:nvSpPr>
        <p:spPr>
          <a:xfrm>
            <a:off x="320040" y="4242816"/>
            <a:ext cx="7406640" cy="162763"/>
          </a:xfrm>
          <a:prstGeom prst="rect">
            <a:avLst/>
          </a:prstGeom>
          <a:noFill/>
          <a:ln/>
        </p:spPr>
        <p:txBody>
          <a:bodyPr wrap="square" lIns="38100" tIns="38100" rIns="38100" bIns="38100" rtlCol="0" anchor="ctr"/>
          <a:lstStyle/>
          <a:p>
            <a:pPr algn="l" indent="0" marL="0">
              <a:buNone/>
            </a:pPr>
            <a:r>
              <a:rPr lang="en-US" sz="700" dirty="0">
                <a:solidFill>
                  <a:srgbClr val="A78BFA"/>
                </a:solidFill>
                <a:latin typeface="Consolas" pitchFamily="34" charset="0"/>
                <a:ea typeface="Consolas" pitchFamily="34" charset="-122"/>
                <a:cs typeface="Consolas" pitchFamily="34" charset="-120"/>
              </a:rPr>
              <a:t>Algorithm: EXTRACT_AND_CACHE_768D  (Cell 6, ~2 min one-time)</a:t>
            </a:r>
            <a:endParaRPr lang="en-US" sz="700" dirty="0"/>
          </a:p>
        </p:txBody>
      </p:sp>
      <p:sp>
        <p:nvSpPr>
          <p:cNvPr id="50" name="Text 48"/>
          <p:cNvSpPr/>
          <p:nvPr/>
        </p:nvSpPr>
        <p:spPr>
          <a:xfrm>
            <a:off x="320040" y="4364431"/>
            <a:ext cx="7406640" cy="162763"/>
          </a:xfrm>
          <a:prstGeom prst="rect">
            <a:avLst/>
          </a:prstGeom>
          <a:noFill/>
          <a:ln/>
        </p:spPr>
        <p:txBody>
          <a:bodyPr wrap="square" lIns="38100" tIns="38100" rIns="38100" bIns="38100" rtlCol="0" anchor="ctr"/>
          <a:lstStyle/>
          <a:p>
            <a:pPr algn="l" indent="0" marL="0">
              <a:buNone/>
            </a:pPr>
            <a:r>
              <a:rPr lang="en-US" sz="700" dirty="0">
                <a:solidFill>
                  <a:srgbClr val="E2E8F0"/>
                </a:solidFill>
                <a:latin typeface="Consolas" pitchFamily="34" charset="0"/>
                <a:ea typeface="Consolas" pitchFamily="34" charset="-122"/>
                <a:cs typeface="Consolas" pitchFamily="34" charset="-120"/>
              </a:rPr>
              <a:t>Input:  RAVDESS_DIR (24 Actor_XX folders)  |  CACHE_768_FILE</a:t>
            </a:r>
            <a:endParaRPr lang="en-US" sz="700" dirty="0"/>
          </a:p>
        </p:txBody>
      </p:sp>
      <p:sp>
        <p:nvSpPr>
          <p:cNvPr id="51" name="Text 49"/>
          <p:cNvSpPr/>
          <p:nvPr/>
        </p:nvSpPr>
        <p:spPr>
          <a:xfrm>
            <a:off x="320040" y="4486046"/>
            <a:ext cx="7406640" cy="162763"/>
          </a:xfrm>
          <a:prstGeom prst="rect">
            <a:avLst/>
          </a:prstGeom>
          <a:noFill/>
          <a:ln/>
        </p:spPr>
        <p:txBody>
          <a:bodyPr wrap="square" lIns="38100" tIns="38100" rIns="38100" bIns="38100" rtlCol="0" anchor="ctr"/>
          <a:lstStyle/>
          <a:p>
            <a:pPr algn="l" indent="0" marL="0">
              <a:buNone/>
            </a:pPr>
            <a:r>
              <a:rPr lang="en-US" sz="700" dirty="0">
                <a:solidFill>
                  <a:srgbClr val="E2E8F0"/>
                </a:solidFill>
                <a:latin typeface="Consolas" pitchFamily="34" charset="0"/>
                <a:ea typeface="Consolas" pitchFamily="34" charset="-122"/>
                <a:cs typeface="Consolas" pitchFamily="34" charset="-120"/>
              </a:rPr>
              <a:t>Output: dict {filename → {embedding[768], emotion, actor_id, intensity}}</a:t>
            </a:r>
            <a:endParaRPr lang="en-US" sz="700" dirty="0"/>
          </a:p>
        </p:txBody>
      </p:sp>
      <p:sp>
        <p:nvSpPr>
          <p:cNvPr id="52" name="Text 50"/>
          <p:cNvSpPr/>
          <p:nvPr/>
        </p:nvSpPr>
        <p:spPr>
          <a:xfrm>
            <a:off x="320040" y="4607662"/>
            <a:ext cx="7406640" cy="162763"/>
          </a:xfrm>
          <a:prstGeom prst="rect">
            <a:avLst/>
          </a:prstGeom>
          <a:noFill/>
          <a:ln/>
        </p:spPr>
        <p:txBody>
          <a:bodyPr wrap="square" lIns="38100" tIns="38100" rIns="38100" bIns="38100" rtlCol="0" anchor="ctr"/>
          <a:lstStyle/>
          <a:p>
            <a:pPr algn="l" indent="0" marL="0">
              <a:buNone/>
            </a:pPr>
            <a:endParaRPr lang="en-US" sz="700" dirty="0"/>
          </a:p>
        </p:txBody>
      </p:sp>
      <p:sp>
        <p:nvSpPr>
          <p:cNvPr id="53" name="Text 51"/>
          <p:cNvSpPr/>
          <p:nvPr/>
        </p:nvSpPr>
        <p:spPr>
          <a:xfrm>
            <a:off x="320040" y="4729277"/>
            <a:ext cx="7406640" cy="162763"/>
          </a:xfrm>
          <a:prstGeom prst="rect">
            <a:avLst/>
          </a:prstGeom>
          <a:noFill/>
          <a:ln/>
        </p:spPr>
        <p:txBody>
          <a:bodyPr wrap="square" lIns="38100" tIns="38100" rIns="38100" bIns="38100" rtlCol="0" anchor="ctr"/>
          <a:lstStyle/>
          <a:p>
            <a:pPr algn="l" indent="0" marL="0">
              <a:buNone/>
            </a:pPr>
            <a:r>
              <a:rPr lang="en-US" sz="700" dirty="0">
                <a:solidFill>
                  <a:srgbClr val="94A3B8"/>
                </a:solidFill>
                <a:latin typeface="Consolas" pitchFamily="34" charset="0"/>
                <a:ea typeface="Consolas" pitchFamily="34" charset="-122"/>
                <a:cs typeface="Consolas" pitchFamily="34" charset="-120"/>
              </a:rPr>
              <a:t>1: IF CACHE_768_FILE exists:</a:t>
            </a:r>
            <a:endParaRPr lang="en-US" sz="700" dirty="0"/>
          </a:p>
        </p:txBody>
      </p:sp>
      <p:sp>
        <p:nvSpPr>
          <p:cNvPr id="54" name="Text 52"/>
          <p:cNvSpPr/>
          <p:nvPr/>
        </p:nvSpPr>
        <p:spPr>
          <a:xfrm>
            <a:off x="320040" y="4850892"/>
            <a:ext cx="7406640" cy="162763"/>
          </a:xfrm>
          <a:prstGeom prst="rect">
            <a:avLst/>
          </a:prstGeom>
          <a:noFill/>
          <a:ln/>
        </p:spPr>
        <p:txBody>
          <a:bodyPr wrap="square" lIns="38100" tIns="38100" rIns="38100" bIns="38100" rtlCol="0" anchor="ctr"/>
          <a:lstStyle/>
          <a:p>
            <a:pPr algn="l" indent="0" marL="0">
              <a:buNone/>
            </a:pPr>
            <a:r>
              <a:rPr lang="en-US" sz="700" dirty="0">
                <a:solidFill>
                  <a:srgbClr val="94A3B8"/>
                </a:solidFill>
                <a:latin typeface="Consolas" pitchFamily="34" charset="0"/>
                <a:ea typeface="Consolas" pitchFamily="34" charset="-122"/>
                <a:cs typeface="Consolas" pitchFamily="34" charset="-120"/>
              </a:rPr>
              <a:t>2:   cache ← torch.load(CACHE_768_FILE, map_location='cpu')</a:t>
            </a:r>
            <a:endParaRPr lang="en-US" sz="700" dirty="0"/>
          </a:p>
        </p:txBody>
      </p:sp>
      <p:sp>
        <p:nvSpPr>
          <p:cNvPr id="55" name="Text 53"/>
          <p:cNvSpPr/>
          <p:nvPr/>
        </p:nvSpPr>
        <p:spPr>
          <a:xfrm>
            <a:off x="320040" y="4972507"/>
            <a:ext cx="7406640" cy="162763"/>
          </a:xfrm>
          <a:prstGeom prst="rect">
            <a:avLst/>
          </a:prstGeom>
          <a:noFill/>
          <a:ln/>
        </p:spPr>
        <p:txBody>
          <a:bodyPr wrap="square" lIns="38100" tIns="38100" rIns="38100" bIns="38100" rtlCol="0" anchor="ctr"/>
          <a:lstStyle/>
          <a:p>
            <a:pPr algn="l" indent="0" marL="0">
              <a:buNone/>
            </a:pPr>
            <a:r>
              <a:rPr lang="en-US" sz="700" dirty="0">
                <a:solidFill>
                  <a:srgbClr val="34D399"/>
                </a:solidFill>
                <a:latin typeface="Consolas" pitchFamily="34" charset="0"/>
                <a:ea typeface="Consolas" pitchFamily="34" charset="-122"/>
                <a:cs typeface="Consolas" pitchFamily="34" charset="-120"/>
              </a:rPr>
              <a:t>3:   assert cache[sample]['embedding'].shape[0] == 768   ← GUARD</a:t>
            </a:r>
            <a:endParaRPr lang="en-US" sz="700" dirty="0"/>
          </a:p>
        </p:txBody>
      </p:sp>
      <p:sp>
        <p:nvSpPr>
          <p:cNvPr id="56" name="Text 54"/>
          <p:cNvSpPr/>
          <p:nvPr/>
        </p:nvSpPr>
        <p:spPr>
          <a:xfrm>
            <a:off x="320040" y="5094122"/>
            <a:ext cx="7406640" cy="162763"/>
          </a:xfrm>
          <a:prstGeom prst="rect">
            <a:avLst/>
          </a:prstGeom>
          <a:noFill/>
          <a:ln/>
        </p:spPr>
        <p:txBody>
          <a:bodyPr wrap="square" lIns="38100" tIns="38100" rIns="38100" bIns="38100" rtlCol="0" anchor="ctr"/>
          <a:lstStyle/>
          <a:p>
            <a:pPr algn="l" indent="0" marL="0">
              <a:buNone/>
            </a:pPr>
            <a:r>
              <a:rPr lang="en-US" sz="700" dirty="0">
                <a:solidFill>
                  <a:srgbClr val="34D399"/>
                </a:solidFill>
                <a:latin typeface="Consolas" pitchFamily="34" charset="0"/>
                <a:ea typeface="Consolas" pitchFamily="34" charset="-122"/>
                <a:cs typeface="Consolas" pitchFamily="34" charset="-120"/>
              </a:rPr>
              <a:t>4:   RETURN cache   ← resume-safe: skip re-extraction</a:t>
            </a:r>
            <a:endParaRPr lang="en-US" sz="700" dirty="0"/>
          </a:p>
        </p:txBody>
      </p:sp>
      <p:sp>
        <p:nvSpPr>
          <p:cNvPr id="57" name="Text 55"/>
          <p:cNvSpPr/>
          <p:nvPr/>
        </p:nvSpPr>
        <p:spPr>
          <a:xfrm>
            <a:off x="320040" y="5215738"/>
            <a:ext cx="7406640" cy="162763"/>
          </a:xfrm>
          <a:prstGeom prst="rect">
            <a:avLst/>
          </a:prstGeom>
          <a:noFill/>
          <a:ln/>
        </p:spPr>
        <p:txBody>
          <a:bodyPr wrap="square" lIns="38100" tIns="38100" rIns="38100" bIns="38100" rtlCol="0" anchor="ctr"/>
          <a:lstStyle/>
          <a:p>
            <a:pPr algn="l" indent="0" marL="0">
              <a:buNone/>
            </a:pPr>
            <a:r>
              <a:rPr lang="en-US" sz="700" dirty="0">
                <a:solidFill>
                  <a:srgbClr val="94A3B8"/>
                </a:solidFill>
                <a:latin typeface="Consolas" pitchFamily="34" charset="0"/>
                <a:ea typeface="Consolas" pitchFamily="34" charset="-122"/>
                <a:cs typeface="Consolas" pitchFamily="34" charset="-120"/>
              </a:rPr>
              <a:t>5: encoder ← Wav2VecEncoder('facebook/wav2vec2-base-960h').to(device)</a:t>
            </a:r>
            <a:endParaRPr lang="en-US" sz="700" dirty="0"/>
          </a:p>
        </p:txBody>
      </p:sp>
      <p:sp>
        <p:nvSpPr>
          <p:cNvPr id="58" name="Text 56"/>
          <p:cNvSpPr/>
          <p:nvPr/>
        </p:nvSpPr>
        <p:spPr>
          <a:xfrm>
            <a:off x="320040" y="5337353"/>
            <a:ext cx="7406640" cy="162763"/>
          </a:xfrm>
          <a:prstGeom prst="rect">
            <a:avLst/>
          </a:prstGeom>
          <a:noFill/>
          <a:ln/>
        </p:spPr>
        <p:txBody>
          <a:bodyPr wrap="square" lIns="38100" tIns="38100" rIns="38100" bIns="38100" rtlCol="0" anchor="ctr"/>
          <a:lstStyle/>
          <a:p>
            <a:pPr algn="l" indent="0" marL="0">
              <a:buNone/>
            </a:pPr>
            <a:r>
              <a:rPr lang="en-US" sz="700" dirty="0">
                <a:solidFill>
                  <a:srgbClr val="94A3B8"/>
                </a:solidFill>
                <a:latin typeface="Consolas" pitchFamily="34" charset="0"/>
                <a:ea typeface="Consolas" pitchFamily="34" charset="-122"/>
                <a:cs typeface="Consolas" pitchFamily="34" charset="-120"/>
              </a:rPr>
              <a:t>6: FOR actor_dir in sorted(Actor_01 ... Actor_24):</a:t>
            </a:r>
            <a:endParaRPr lang="en-US" sz="700" dirty="0"/>
          </a:p>
        </p:txBody>
      </p:sp>
      <p:sp>
        <p:nvSpPr>
          <p:cNvPr id="59" name="Text 57"/>
          <p:cNvSpPr/>
          <p:nvPr/>
        </p:nvSpPr>
        <p:spPr>
          <a:xfrm>
            <a:off x="320040" y="5458968"/>
            <a:ext cx="7406640" cy="162763"/>
          </a:xfrm>
          <a:prstGeom prst="rect">
            <a:avLst/>
          </a:prstGeom>
          <a:noFill/>
          <a:ln/>
        </p:spPr>
        <p:txBody>
          <a:bodyPr wrap="square" lIns="38100" tIns="38100" rIns="38100" bIns="38100" rtlCol="0" anchor="ctr"/>
          <a:lstStyle/>
          <a:p>
            <a:pPr algn="l" indent="0" marL="0">
              <a:buNone/>
            </a:pPr>
            <a:r>
              <a:rPr lang="en-US" sz="700" dirty="0">
                <a:solidFill>
                  <a:srgbClr val="94A3B8"/>
                </a:solidFill>
                <a:latin typeface="Consolas" pitchFamily="34" charset="0"/>
                <a:ea typeface="Consolas" pitchFamily="34" charset="-122"/>
                <a:cs typeface="Consolas" pitchFamily="34" charset="-120"/>
              </a:rPr>
              <a:t>7:   FOR wav_file in actor_dir:</a:t>
            </a:r>
            <a:endParaRPr lang="en-US" sz="700" dirty="0"/>
          </a:p>
        </p:txBody>
      </p:sp>
      <p:sp>
        <p:nvSpPr>
          <p:cNvPr id="60" name="Text 58"/>
          <p:cNvSpPr/>
          <p:nvPr/>
        </p:nvSpPr>
        <p:spPr>
          <a:xfrm>
            <a:off x="320040" y="5580583"/>
            <a:ext cx="7406640" cy="162763"/>
          </a:xfrm>
          <a:prstGeom prst="rect">
            <a:avLst/>
          </a:prstGeom>
          <a:noFill/>
          <a:ln/>
        </p:spPr>
        <p:txBody>
          <a:bodyPr wrap="square" lIns="38100" tIns="38100" rIns="38100" bIns="38100" rtlCol="0" anchor="ctr"/>
          <a:lstStyle/>
          <a:p>
            <a:pPr algn="l" indent="0" marL="0">
              <a:buNone/>
            </a:pPr>
            <a:r>
              <a:rPr lang="en-US" sz="700" dirty="0">
                <a:solidFill>
                  <a:srgbClr val="94A3B8"/>
                </a:solidFill>
                <a:latin typeface="Consolas" pitchFamily="34" charset="0"/>
                <a:ea typeface="Consolas" pitchFamily="34" charset="-122"/>
                <a:cs typeface="Consolas" pitchFamily="34" charset="-120"/>
              </a:rPr>
              <a:t>8:     meta ← parse_ravdess_filename(wav_file)  # extract emotion/actor</a:t>
            </a:r>
            <a:endParaRPr lang="en-US" sz="700" dirty="0"/>
          </a:p>
        </p:txBody>
      </p:sp>
      <p:sp>
        <p:nvSpPr>
          <p:cNvPr id="61" name="Text 59"/>
          <p:cNvSpPr/>
          <p:nvPr/>
        </p:nvSpPr>
        <p:spPr>
          <a:xfrm>
            <a:off x="320040" y="5702198"/>
            <a:ext cx="7406640" cy="162763"/>
          </a:xfrm>
          <a:prstGeom prst="rect">
            <a:avLst/>
          </a:prstGeom>
          <a:noFill/>
          <a:ln/>
        </p:spPr>
        <p:txBody>
          <a:bodyPr wrap="square" lIns="38100" tIns="38100" rIns="38100" bIns="38100" rtlCol="0" anchor="ctr"/>
          <a:lstStyle/>
          <a:p>
            <a:pPr algn="l" indent="0" marL="0">
              <a:buNone/>
            </a:pPr>
            <a:r>
              <a:rPr lang="en-US" sz="700" dirty="0">
                <a:solidFill>
                  <a:srgbClr val="94A3B8"/>
                </a:solidFill>
                <a:latin typeface="Consolas" pitchFamily="34" charset="0"/>
                <a:ea typeface="Consolas" pitchFamily="34" charset="-122"/>
                <a:cs typeface="Consolas" pitchFamily="34" charset="-120"/>
              </a:rPr>
              <a:t>9:     IF meta is None: skip  (modality≠3 or channel≠1)</a:t>
            </a:r>
            <a:endParaRPr lang="en-US" sz="700" dirty="0"/>
          </a:p>
        </p:txBody>
      </p:sp>
      <p:sp>
        <p:nvSpPr>
          <p:cNvPr id="62" name="Text 60"/>
          <p:cNvSpPr/>
          <p:nvPr/>
        </p:nvSpPr>
        <p:spPr>
          <a:xfrm>
            <a:off x="320040" y="5823814"/>
            <a:ext cx="7406640" cy="162763"/>
          </a:xfrm>
          <a:prstGeom prst="rect">
            <a:avLst/>
          </a:prstGeom>
          <a:noFill/>
          <a:ln/>
        </p:spPr>
        <p:txBody>
          <a:bodyPr wrap="square" lIns="38100" tIns="38100" rIns="38100" bIns="38100" rtlCol="0" anchor="ctr"/>
          <a:lstStyle/>
          <a:p>
            <a:pPr algn="l" indent="0" marL="0">
              <a:buNone/>
            </a:pPr>
            <a:r>
              <a:rPr lang="en-US" sz="700" dirty="0">
                <a:solidFill>
                  <a:srgbClr val="34D399"/>
                </a:solidFill>
                <a:latin typeface="Consolas" pitchFamily="34" charset="0"/>
                <a:ea typeface="Consolas" pitchFamily="34" charset="-122"/>
                <a:cs typeface="Consolas" pitchFamily="34" charset="-120"/>
              </a:rPr>
              <a:t>10:    emb ← encoder.encode_file(wav_path)       → [1, 768]</a:t>
            </a:r>
            <a:endParaRPr lang="en-US" sz="700" dirty="0"/>
          </a:p>
        </p:txBody>
      </p:sp>
      <p:sp>
        <p:nvSpPr>
          <p:cNvPr id="63" name="Text 61"/>
          <p:cNvSpPr/>
          <p:nvPr/>
        </p:nvSpPr>
        <p:spPr>
          <a:xfrm>
            <a:off x="320040" y="5945429"/>
            <a:ext cx="7406640" cy="162763"/>
          </a:xfrm>
          <a:prstGeom prst="rect">
            <a:avLst/>
          </a:prstGeom>
          <a:noFill/>
          <a:ln/>
        </p:spPr>
        <p:txBody>
          <a:bodyPr wrap="square" lIns="38100" tIns="38100" rIns="38100" bIns="38100" rtlCol="0" anchor="ctr"/>
          <a:lstStyle/>
          <a:p>
            <a:pPr algn="l" indent="0" marL="0">
              <a:buNone/>
            </a:pPr>
            <a:r>
              <a:rPr lang="en-US" sz="700" dirty="0">
                <a:solidFill>
                  <a:srgbClr val="34D399"/>
                </a:solidFill>
                <a:latin typeface="Consolas" pitchFamily="34" charset="0"/>
                <a:ea typeface="Consolas" pitchFamily="34" charset="-122"/>
                <a:cs typeface="Consolas" pitchFamily="34" charset="-120"/>
              </a:rPr>
              <a:t>11:    cache[wav_file] = {embedding:emb[0], emotion, actor_id, intensity}</a:t>
            </a:r>
            <a:endParaRPr lang="en-US" sz="700" dirty="0"/>
          </a:p>
        </p:txBody>
      </p:sp>
      <p:sp>
        <p:nvSpPr>
          <p:cNvPr id="64" name="Text 62"/>
          <p:cNvSpPr/>
          <p:nvPr/>
        </p:nvSpPr>
        <p:spPr>
          <a:xfrm>
            <a:off x="320040" y="6067044"/>
            <a:ext cx="7406640" cy="162763"/>
          </a:xfrm>
          <a:prstGeom prst="rect">
            <a:avLst/>
          </a:prstGeom>
          <a:noFill/>
          <a:ln/>
        </p:spPr>
        <p:txBody>
          <a:bodyPr wrap="square" lIns="38100" tIns="38100" rIns="38100" bIns="38100" rtlCol="0" anchor="ctr"/>
          <a:lstStyle/>
          <a:p>
            <a:pPr algn="l" indent="0" marL="0">
              <a:buNone/>
            </a:pPr>
            <a:r>
              <a:rPr lang="en-US" sz="700" dirty="0">
                <a:solidFill>
                  <a:srgbClr val="E2E8F0"/>
                </a:solidFill>
                <a:latin typeface="Consolas" pitchFamily="34" charset="0"/>
                <a:ea typeface="Consolas" pitchFamily="34" charset="-122"/>
                <a:cs typeface="Consolas" pitchFamily="34" charset="-120"/>
              </a:rPr>
              <a:t>12: torch.save(cache, CACHE_768_FILE)</a:t>
            </a:r>
            <a:endParaRPr lang="en-US" sz="700" dirty="0"/>
          </a:p>
        </p:txBody>
      </p:sp>
      <p:sp>
        <p:nvSpPr>
          <p:cNvPr id="65" name="Text 63"/>
          <p:cNvSpPr/>
          <p:nvPr/>
        </p:nvSpPr>
        <p:spPr>
          <a:xfrm>
            <a:off x="320040" y="6188659"/>
            <a:ext cx="7406640" cy="162763"/>
          </a:xfrm>
          <a:prstGeom prst="rect">
            <a:avLst/>
          </a:prstGeom>
          <a:noFill/>
          <a:ln/>
        </p:spPr>
        <p:txBody>
          <a:bodyPr wrap="square" lIns="38100" tIns="38100" rIns="38100" bIns="38100" rtlCol="0" anchor="ctr"/>
          <a:lstStyle/>
          <a:p>
            <a:pPr algn="l" indent="0" marL="0">
              <a:buNone/>
            </a:pPr>
            <a:r>
              <a:rPr lang="en-US" sz="700" dirty="0">
                <a:solidFill>
                  <a:srgbClr val="E2E8F0"/>
                </a:solidFill>
                <a:latin typeface="Consolas" pitchFamily="34" charset="0"/>
                <a:ea typeface="Consolas" pitchFamily="34" charset="-122"/>
                <a:cs typeface="Consolas" pitchFamily="34" charset="-120"/>
              </a:rPr>
              <a:t>13: del encoder; torch.cuda.empty_cache()  # free 94M from VRAM</a:t>
            </a:r>
            <a:endParaRPr lang="en-US" sz="700" dirty="0"/>
          </a:p>
        </p:txBody>
      </p:sp>
      <p:sp>
        <p:nvSpPr>
          <p:cNvPr id="66" name="Shape 64"/>
          <p:cNvSpPr/>
          <p:nvPr/>
        </p:nvSpPr>
        <p:spPr>
          <a:xfrm>
            <a:off x="7845552" y="4206240"/>
            <a:ext cx="4315968" cy="2084832"/>
          </a:xfrm>
          <a:prstGeom prst="rect">
            <a:avLst/>
          </a:prstGeom>
          <a:solidFill>
            <a:srgbClr val="FFF0CC"/>
          </a:solidFill>
          <a:ln w="10160">
            <a:solidFill>
              <a:srgbClr val="8A5200"/>
            </a:solidFill>
            <a:prstDash val="solid"/>
          </a:ln>
          <a:effectLst>
            <a:outerShdw sx="100000" sy="100000" kx="0" ky="0" algn="bl" rotWithShape="0" blurRad="38100" dist="25400" dir="8100000">
              <a:srgbClr val="000000">
                <a:alpha val="9000"/>
              </a:srgbClr>
            </a:outerShdw>
          </a:effectLst>
        </p:spPr>
      </p:sp>
      <p:sp>
        <p:nvSpPr>
          <p:cNvPr id="67" name="Text 65"/>
          <p:cNvSpPr/>
          <p:nvPr/>
        </p:nvSpPr>
        <p:spPr>
          <a:xfrm>
            <a:off x="7936992" y="4206240"/>
            <a:ext cx="4133088" cy="256032"/>
          </a:xfrm>
          <a:prstGeom prst="rect">
            <a:avLst/>
          </a:prstGeom>
          <a:noFill/>
          <a:ln/>
        </p:spPr>
        <p:txBody>
          <a:bodyPr wrap="square" lIns="38100" tIns="38100" rIns="38100" bIns="38100" rtlCol="0" anchor="ctr"/>
          <a:lstStyle/>
          <a:p>
            <a:pPr algn="l" indent="0" marL="0">
              <a:buNone/>
            </a:pPr>
            <a:r>
              <a:rPr lang="en-US" sz="900" b="1" dirty="0">
                <a:solidFill>
                  <a:srgbClr val="8A5200"/>
                </a:solidFill>
                <a:latin typeface="Calibri" pitchFamily="34" charset="0"/>
                <a:ea typeface="Calibri" pitchFamily="34" charset="-122"/>
                <a:cs typeface="Calibri" pitchFamily="34" charset="-120"/>
              </a:rPr>
              <a:t>Caching Speed-Up Lemma</a:t>
            </a:r>
            <a:endParaRPr lang="en-US" sz="900" dirty="0"/>
          </a:p>
        </p:txBody>
      </p:sp>
      <p:sp>
        <p:nvSpPr>
          <p:cNvPr id="68" name="Text 66"/>
          <p:cNvSpPr/>
          <p:nvPr/>
        </p:nvSpPr>
        <p:spPr>
          <a:xfrm>
            <a:off x="7936992" y="4443984"/>
            <a:ext cx="4133088" cy="1810512"/>
          </a:xfrm>
          <a:prstGeom prst="rect">
            <a:avLst/>
          </a:prstGeom>
          <a:noFill/>
          <a:ln/>
        </p:spPr>
        <p:txBody>
          <a:bodyPr wrap="square" lIns="38100" tIns="38100" rIns="38100" bIns="38100" rtlCol="0" anchor="t"/>
          <a:lstStyle/>
          <a:p>
            <a:pPr algn="l" indent="0" marL="0">
              <a:buNone/>
            </a:pPr>
            <a:r>
              <a:rPr lang="en-US" sz="750" dirty="0">
                <a:solidFill>
                  <a:srgbClr val="1A1A1A"/>
                </a:solidFill>
                <a:latin typeface="Calibri" pitchFamily="34" charset="0"/>
                <a:ea typeface="Calibri" pitchFamily="34" charset="-122"/>
                <a:cs typeface="Calibri" pitchFamily="34" charset="-120"/>
              </a:rPr>
              <a:t>Without cache (on-the-fly each epoch):</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T_no_cache = 1,440 clips × 30 epochs × 0.3s/clip</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           = 12,960s  ≈  3.6 HOURS</a:t>
            </a:r>
            <a:endParaRPr lang="en-US" sz="750" dirty="0"/>
          </a:p>
          <a:p>
            <a:pPr algn="l" indent="0" marL="0">
              <a:buNone/>
            </a:pP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With one-time caching:</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T_cache = 120s (extract once)</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        + 30 × 0.3s (load cache each epoch)</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        = 129s  ≈  2 MINUTES</a:t>
            </a:r>
            <a:endParaRPr lang="en-US" sz="750" dirty="0"/>
          </a:p>
          <a:p>
            <a:pPr algn="l" indent="0" marL="0">
              <a:buNone/>
            </a:pP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Speed-up = 12,960 / 129 ≈ 100×</a:t>
            </a:r>
            <a:endParaRPr lang="en-US" sz="750" dirty="0"/>
          </a:p>
          <a:p>
            <a:pPr algn="l" indent="0" marL="0">
              <a:buNone/>
            </a:pP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Cache entry schema:</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 'embedding': tensor[768],</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  'emotion'  : 'angry',</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  'actor_id' : 12,</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  'intensity': 'strong' }</a:t>
            </a:r>
            <a:endParaRPr lang="en-US" sz="750" dirty="0"/>
          </a:p>
          <a:p>
            <a:pPr algn="l" indent="0" marL="0">
              <a:buNone/>
            </a:pP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Resume guard: assert dim==768</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(catches old 512d Month 2 cache)</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61520" cy="502920"/>
          </a:xfrm>
          <a:prstGeom prst="rect">
            <a:avLst/>
          </a:prstGeom>
          <a:solidFill>
            <a:srgbClr val="0F3460"/>
          </a:solidFill>
          <a:ln w="12700">
            <a:solidFill>
              <a:srgbClr val="0F3460"/>
            </a:solidFill>
            <a:prstDash val="solid"/>
          </a:ln>
        </p:spPr>
      </p:sp>
      <p:sp>
        <p:nvSpPr>
          <p:cNvPr id="3" name="Text 1"/>
          <p:cNvSpPr/>
          <p:nvPr/>
        </p:nvSpPr>
        <p:spPr>
          <a:xfrm>
            <a:off x="228600" y="0"/>
            <a:ext cx="10515600" cy="502920"/>
          </a:xfrm>
          <a:prstGeom prst="rect">
            <a:avLst/>
          </a:prstGeom>
          <a:noFill/>
          <a:ln/>
        </p:spPr>
        <p:txBody>
          <a:bodyPr wrap="square" lIns="38100" tIns="38100" rIns="38100" bIns="3810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Pipeline C — AudioProjection Architecture: The wav2vec_dim Bug Fix</a:t>
            </a:r>
            <a:endParaRPr lang="en-US" sz="1400" dirty="0"/>
          </a:p>
        </p:txBody>
      </p:sp>
      <p:sp>
        <p:nvSpPr>
          <p:cNvPr id="4" name="Text 2"/>
          <p:cNvSpPr/>
          <p:nvPr/>
        </p:nvSpPr>
        <p:spPr>
          <a:xfrm>
            <a:off x="10789920" y="0"/>
            <a:ext cx="1188720" cy="502920"/>
          </a:xfrm>
          <a:prstGeom prst="rect">
            <a:avLst/>
          </a:prstGeom>
          <a:noFill/>
          <a:ln/>
        </p:spPr>
        <p:txBody>
          <a:bodyPr wrap="square" lIns="38100" tIns="38100" rIns="38100" bIns="38100" rtlCol="0" anchor="ctr"/>
          <a:lstStyle/>
          <a:p>
            <a:pPr algn="r" indent="0" marL="0">
              <a:buNone/>
            </a:pPr>
            <a:r>
              <a:rPr lang="en-US" sz="1100" b="1" dirty="0">
                <a:solidFill>
                  <a:srgbClr val="9EC8FF"/>
                </a:solidFill>
                <a:latin typeface="Calibri" pitchFamily="34" charset="0"/>
                <a:ea typeface="Calibri" pitchFamily="34" charset="-122"/>
                <a:cs typeface="Calibri" pitchFamily="34" charset="-120"/>
              </a:rPr>
              <a:t>4/9</a:t>
            </a:r>
            <a:endParaRPr lang="en-US" sz="1100" dirty="0"/>
          </a:p>
        </p:txBody>
      </p:sp>
      <p:sp>
        <p:nvSpPr>
          <p:cNvPr id="5" name="Text 3"/>
          <p:cNvSpPr/>
          <p:nvPr/>
        </p:nvSpPr>
        <p:spPr>
          <a:xfrm>
            <a:off x="228600" y="274320"/>
            <a:ext cx="11704320" cy="237744"/>
          </a:xfrm>
          <a:prstGeom prst="rect">
            <a:avLst/>
          </a:prstGeom>
          <a:noFill/>
          <a:ln/>
        </p:spPr>
        <p:txBody>
          <a:bodyPr wrap="square" lIns="38100" tIns="38100" rIns="38100" bIns="38100" rtlCol="0" anchor="ctr"/>
          <a:lstStyle/>
          <a:p>
            <a:pPr algn="l" indent="0" marL="0">
              <a:buNone/>
            </a:pPr>
            <a:r>
              <a:rPr lang="en-US" sz="750" dirty="0">
                <a:solidFill>
                  <a:srgbClr val="9EC8FF"/>
                </a:solidFill>
                <a:latin typeface="Calibri" pitchFamily="34" charset="0"/>
                <a:ea typeface="Calibri" pitchFamily="34" charset="-122"/>
                <a:cs typeface="Calibri" pitchFamily="34" charset="-120"/>
              </a:rPr>
              <a:t>OLD: wav2vec_dim=512 (near-identity map, collapsed)  →  NEW: wav2vec_dim=768 (full 987K params, learned)</a:t>
            </a:r>
            <a:endParaRPr lang="en-US" sz="750" dirty="0"/>
          </a:p>
        </p:txBody>
      </p:sp>
      <p:sp>
        <p:nvSpPr>
          <p:cNvPr id="6" name="Shape 4"/>
          <p:cNvSpPr/>
          <p:nvPr/>
        </p:nvSpPr>
        <p:spPr>
          <a:xfrm>
            <a:off x="0" y="6583680"/>
            <a:ext cx="12161520" cy="274320"/>
          </a:xfrm>
          <a:prstGeom prst="rect">
            <a:avLst/>
          </a:prstGeom>
          <a:solidFill>
            <a:srgbClr val="0F3460"/>
          </a:solidFill>
          <a:ln w="12700">
            <a:solidFill>
              <a:srgbClr val="0F3460"/>
            </a:solidFill>
            <a:prstDash val="solid"/>
          </a:ln>
        </p:spPr>
      </p:sp>
      <p:sp>
        <p:nvSpPr>
          <p:cNvPr id="7" name="Text 5"/>
          <p:cNvSpPr/>
          <p:nvPr/>
        </p:nvSpPr>
        <p:spPr>
          <a:xfrm>
            <a:off x="228600" y="6583680"/>
            <a:ext cx="11704320" cy="274320"/>
          </a:xfrm>
          <a:prstGeom prst="rect">
            <a:avLst/>
          </a:prstGeom>
          <a:noFill/>
          <a:ln/>
        </p:spPr>
        <p:txBody>
          <a:bodyPr wrap="square" lIns="38100" tIns="38100" rIns="38100" bIns="38100" rtlCol="0" anchor="ctr"/>
          <a:lstStyle/>
          <a:p>
            <a:pPr algn="l" indent="0" marL="0">
              <a:buNone/>
            </a:pPr>
            <a:r>
              <a:rPr lang="en-US" sz="600" dirty="0">
                <a:solidFill>
                  <a:srgbClr val="9EC8FF"/>
                </a:solidFill>
                <a:latin typeface="Calibri" pitchFamily="34" charset="0"/>
                <a:ea typeface="Calibri" pitchFamily="34" charset="-122"/>
                <a:cs typeface="Calibri" pitchFamily="34" charset="-120"/>
              </a:rPr>
              <a:t>MIVA-KNIGHT  |  IT 581 Capstone  |  Concordia University of Edmonton  |  Pipeline C — RAVDESS Standalone Audio Emotion Training</a:t>
            </a:r>
            <a:endParaRPr lang="en-US" sz="600" dirty="0"/>
          </a:p>
        </p:txBody>
      </p:sp>
      <p:sp>
        <p:nvSpPr>
          <p:cNvPr id="8" name="Shape 6"/>
          <p:cNvSpPr/>
          <p:nvPr/>
        </p:nvSpPr>
        <p:spPr>
          <a:xfrm>
            <a:off x="182880" y="621792"/>
            <a:ext cx="36576" cy="237744"/>
          </a:xfrm>
          <a:prstGeom prst="rect">
            <a:avLst/>
          </a:prstGeom>
          <a:solidFill>
            <a:srgbClr val="9B2020"/>
          </a:solidFill>
          <a:ln w="12700">
            <a:solidFill>
              <a:srgbClr val="9B2020"/>
            </a:solidFill>
            <a:prstDash val="solid"/>
          </a:ln>
        </p:spPr>
      </p:sp>
      <p:sp>
        <p:nvSpPr>
          <p:cNvPr id="9" name="Text 7"/>
          <p:cNvSpPr/>
          <p:nvPr/>
        </p:nvSpPr>
        <p:spPr>
          <a:xfrm>
            <a:off x="256032" y="621792"/>
            <a:ext cx="5486400" cy="237744"/>
          </a:xfrm>
          <a:prstGeom prst="rect">
            <a:avLst/>
          </a:prstGeom>
          <a:noFill/>
          <a:ln/>
        </p:spPr>
        <p:txBody>
          <a:bodyPr wrap="square" lIns="38100" tIns="38100" rIns="38100" bIns="38100" rtlCol="0" anchor="ctr"/>
          <a:lstStyle/>
          <a:p>
            <a:pPr algn="l" indent="0" marL="0">
              <a:buNone/>
            </a:pPr>
            <a:r>
              <a:rPr lang="en-US" sz="800" b="1" dirty="0">
                <a:solidFill>
                  <a:srgbClr val="9B2020"/>
                </a:solidFill>
                <a:latin typeface="Calibri" pitchFamily="34" charset="0"/>
                <a:ea typeface="Calibri" pitchFamily="34" charset="-122"/>
                <a:cs typeface="Calibri" pitchFamily="34" charset="-120"/>
              </a:rPr>
              <a:t>The wav2vec_dim Bug — Exact Before/After</a:t>
            </a:r>
            <a:endParaRPr lang="en-US" sz="800" dirty="0"/>
          </a:p>
        </p:txBody>
      </p:sp>
      <p:sp>
        <p:nvSpPr>
          <p:cNvPr id="10" name="Shape 8"/>
          <p:cNvSpPr/>
          <p:nvPr/>
        </p:nvSpPr>
        <p:spPr>
          <a:xfrm>
            <a:off x="182880" y="859536"/>
            <a:ext cx="5541264" cy="2834640"/>
          </a:xfrm>
          <a:prstGeom prst="rect">
            <a:avLst/>
          </a:prstGeom>
          <a:solidFill>
            <a:srgbClr val="FAE0E0"/>
          </a:solidFill>
          <a:ln w="12700">
            <a:solidFill>
              <a:srgbClr val="9B2020"/>
            </a:solidFill>
            <a:prstDash val="solid"/>
          </a:ln>
          <a:effectLst>
            <a:outerShdw sx="100000" sy="100000" kx="0" ky="0" algn="bl" rotWithShape="0" blurRad="38100" dist="25400" dir="8100000">
              <a:srgbClr val="000000">
                <a:alpha val="9000"/>
              </a:srgbClr>
            </a:outerShdw>
          </a:effectLst>
        </p:spPr>
      </p:sp>
      <p:sp>
        <p:nvSpPr>
          <p:cNvPr id="11" name="Text 9"/>
          <p:cNvSpPr/>
          <p:nvPr/>
        </p:nvSpPr>
        <p:spPr>
          <a:xfrm>
            <a:off x="274320" y="859536"/>
            <a:ext cx="5358384" cy="256032"/>
          </a:xfrm>
          <a:prstGeom prst="rect">
            <a:avLst/>
          </a:prstGeom>
          <a:noFill/>
          <a:ln/>
        </p:spPr>
        <p:txBody>
          <a:bodyPr wrap="square" lIns="38100" tIns="38100" rIns="38100" bIns="38100" rtlCol="0" anchor="ctr"/>
          <a:lstStyle/>
          <a:p>
            <a:pPr algn="l" indent="0" marL="0">
              <a:buNone/>
            </a:pPr>
            <a:r>
              <a:rPr lang="en-US" sz="950" b="1" dirty="0">
                <a:solidFill>
                  <a:srgbClr val="9B2020"/>
                </a:solidFill>
                <a:latin typeface="Calibri" pitchFamily="34" charset="0"/>
                <a:ea typeface="Calibri" pitchFamily="34" charset="-122"/>
                <a:cs typeface="Calibri" pitchFamily="34" charset="-120"/>
              </a:rPr>
              <a:t>OLD Month 2 — BROKEN (wav2vec_dim=512)</a:t>
            </a:r>
            <a:endParaRPr lang="en-US" sz="950" dirty="0"/>
          </a:p>
        </p:txBody>
      </p:sp>
      <p:sp>
        <p:nvSpPr>
          <p:cNvPr id="12" name="Text 10"/>
          <p:cNvSpPr/>
          <p:nvPr/>
        </p:nvSpPr>
        <p:spPr>
          <a:xfrm>
            <a:off x="274320" y="1115568"/>
            <a:ext cx="5358384" cy="162763"/>
          </a:xfrm>
          <a:prstGeom prst="rect">
            <a:avLst/>
          </a:prstGeom>
          <a:noFill/>
          <a:ln/>
        </p:spPr>
        <p:txBody>
          <a:bodyPr wrap="square" lIns="38100" tIns="38100" rIns="38100" bIns="38100" rtlCol="0" anchor="ctr"/>
          <a:lstStyle/>
          <a:p>
            <a:pPr algn="l" indent="0" marL="0">
              <a:buNone/>
            </a:pPr>
            <a:r>
              <a:rPr lang="en-US" sz="700" dirty="0">
                <a:solidFill>
                  <a:srgbClr val="E2E8F0"/>
                </a:solidFill>
                <a:latin typeface="Consolas" pitchFamily="34" charset="0"/>
                <a:ea typeface="Consolas" pitchFamily="34" charset="-122"/>
                <a:cs typeface="Consolas" pitchFamily="34" charset="-120"/>
              </a:rPr>
              <a:t>class AudioProjection(nn.Module):</a:t>
            </a:r>
            <a:endParaRPr lang="en-US" sz="700" dirty="0"/>
          </a:p>
        </p:txBody>
      </p:sp>
      <p:sp>
        <p:nvSpPr>
          <p:cNvPr id="13" name="Text 11"/>
          <p:cNvSpPr/>
          <p:nvPr/>
        </p:nvSpPr>
        <p:spPr>
          <a:xfrm>
            <a:off x="274320" y="1289304"/>
            <a:ext cx="5358384" cy="162763"/>
          </a:xfrm>
          <a:prstGeom prst="rect">
            <a:avLst/>
          </a:prstGeom>
          <a:noFill/>
          <a:ln/>
        </p:spPr>
        <p:txBody>
          <a:bodyPr wrap="square" lIns="38100" tIns="38100" rIns="38100" bIns="38100" rtlCol="0" anchor="ctr"/>
          <a:lstStyle/>
          <a:p>
            <a:pPr algn="l" indent="0" marL="0">
              <a:buNone/>
            </a:pPr>
            <a:r>
              <a:rPr lang="en-US" sz="700" dirty="0">
                <a:solidFill>
                  <a:srgbClr val="FA8080"/>
                </a:solidFill>
                <a:latin typeface="Consolas" pitchFamily="34" charset="0"/>
                <a:ea typeface="Consolas" pitchFamily="34" charset="-122"/>
                <a:cs typeface="Consolas" pitchFamily="34" charset="-120"/>
              </a:rPr>
              <a:t>  def __init__(self, wav2vec_dim=512, embed_dim=512):  # ← WRONG</a:t>
            </a:r>
            <a:endParaRPr lang="en-US" sz="700" dirty="0"/>
          </a:p>
        </p:txBody>
      </p:sp>
      <p:sp>
        <p:nvSpPr>
          <p:cNvPr id="14" name="Text 12"/>
          <p:cNvSpPr/>
          <p:nvPr/>
        </p:nvSpPr>
        <p:spPr>
          <a:xfrm>
            <a:off x="274320" y="1463040"/>
            <a:ext cx="5358384" cy="162763"/>
          </a:xfrm>
          <a:prstGeom prst="rect">
            <a:avLst/>
          </a:prstGeom>
          <a:noFill/>
          <a:ln/>
        </p:spPr>
        <p:txBody>
          <a:bodyPr wrap="square" lIns="38100" tIns="38100" rIns="38100" bIns="38100" rtlCol="0" anchor="ctr"/>
          <a:lstStyle/>
          <a:p>
            <a:pPr algn="l" indent="0" marL="0">
              <a:buNone/>
            </a:pPr>
            <a:r>
              <a:rPr lang="en-US" sz="700" dirty="0">
                <a:solidFill>
                  <a:srgbClr val="FA8080"/>
                </a:solidFill>
                <a:latin typeface="Consolas" pitchFamily="34" charset="0"/>
                <a:ea typeface="Consolas" pitchFamily="34" charset="-122"/>
                <a:cs typeface="Consolas" pitchFamily="34" charset="-120"/>
              </a:rPr>
              <a:t>    # W₁ ∈ ℝ⁵¹²ˣ⁵¹²  — near-identity: projects 512d back to 512d</a:t>
            </a:r>
            <a:endParaRPr lang="en-US" sz="700" dirty="0"/>
          </a:p>
        </p:txBody>
      </p:sp>
      <p:sp>
        <p:nvSpPr>
          <p:cNvPr id="15" name="Text 13"/>
          <p:cNvSpPr/>
          <p:nvPr/>
        </p:nvSpPr>
        <p:spPr>
          <a:xfrm>
            <a:off x="274320" y="1636776"/>
            <a:ext cx="5358384" cy="162763"/>
          </a:xfrm>
          <a:prstGeom prst="rect">
            <a:avLst/>
          </a:prstGeom>
          <a:noFill/>
          <a:ln/>
        </p:spPr>
        <p:txBody>
          <a:bodyPr wrap="square" lIns="38100" tIns="38100" rIns="38100" bIns="38100" rtlCol="0" anchor="ctr"/>
          <a:lstStyle/>
          <a:p>
            <a:pPr algn="l" indent="0" marL="0">
              <a:buNone/>
            </a:pPr>
            <a:r>
              <a:rPr lang="en-US" sz="700" dirty="0">
                <a:solidFill>
                  <a:srgbClr val="FA8080"/>
                </a:solidFill>
                <a:latin typeface="Consolas" pitchFamily="34" charset="0"/>
                <a:ea typeface="Consolas" pitchFamily="34" charset="-122"/>
                <a:cs typeface="Consolas" pitchFamily="34" charset="-120"/>
              </a:rPr>
              <a:t>    # No meaningful compression — almost zero learning capacity</a:t>
            </a:r>
            <a:endParaRPr lang="en-US" sz="700" dirty="0"/>
          </a:p>
        </p:txBody>
      </p:sp>
      <p:sp>
        <p:nvSpPr>
          <p:cNvPr id="16" name="Text 14"/>
          <p:cNvSpPr/>
          <p:nvPr/>
        </p:nvSpPr>
        <p:spPr>
          <a:xfrm>
            <a:off x="274320" y="1810512"/>
            <a:ext cx="5358384" cy="162763"/>
          </a:xfrm>
          <a:prstGeom prst="rect">
            <a:avLst/>
          </a:prstGeom>
          <a:noFill/>
          <a:ln/>
        </p:spPr>
        <p:txBody>
          <a:bodyPr wrap="square" lIns="38100" tIns="38100" rIns="38100" bIns="38100" rtlCol="0" anchor="ctr"/>
          <a:lstStyle/>
          <a:p>
            <a:pPr algn="l" indent="0" marL="0">
              <a:buNone/>
            </a:pPr>
            <a:r>
              <a:rPr lang="en-US" sz="700" dirty="0">
                <a:solidFill>
                  <a:srgbClr val="E2E8F0"/>
                </a:solidFill>
                <a:latin typeface="Consolas" pitchFamily="34" charset="0"/>
                <a:ea typeface="Consolas" pitchFamily="34" charset="-122"/>
                <a:cs typeface="Consolas" pitchFamily="34" charset="-120"/>
              </a:rPr>
              <a:t>    self.proj = nn.Sequential(</a:t>
            </a:r>
            <a:endParaRPr lang="en-US" sz="700" dirty="0"/>
          </a:p>
        </p:txBody>
      </p:sp>
      <p:sp>
        <p:nvSpPr>
          <p:cNvPr id="17" name="Text 15"/>
          <p:cNvSpPr/>
          <p:nvPr/>
        </p:nvSpPr>
        <p:spPr>
          <a:xfrm>
            <a:off x="274320" y="1984248"/>
            <a:ext cx="5358384" cy="162763"/>
          </a:xfrm>
          <a:prstGeom prst="rect">
            <a:avLst/>
          </a:prstGeom>
          <a:noFill/>
          <a:ln/>
        </p:spPr>
        <p:txBody>
          <a:bodyPr wrap="square" lIns="38100" tIns="38100" rIns="38100" bIns="38100" rtlCol="0" anchor="ctr"/>
          <a:lstStyle/>
          <a:p>
            <a:pPr algn="l" indent="0" marL="0">
              <a:buNone/>
            </a:pPr>
            <a:r>
              <a:rPr lang="en-US" sz="700" dirty="0">
                <a:solidFill>
                  <a:srgbClr val="E2E8F0"/>
                </a:solidFill>
                <a:latin typeface="Consolas" pitchFamily="34" charset="0"/>
                <a:ea typeface="Consolas" pitchFamily="34" charset="-122"/>
                <a:cs typeface="Consolas" pitchFamily="34" charset="-120"/>
              </a:rPr>
              <a:t>      nn.Linear(512, 512), nn.GELU(), nn.LayerNorm(512),</a:t>
            </a:r>
            <a:endParaRPr lang="en-US" sz="700" dirty="0"/>
          </a:p>
        </p:txBody>
      </p:sp>
      <p:sp>
        <p:nvSpPr>
          <p:cNvPr id="18" name="Text 16"/>
          <p:cNvSpPr/>
          <p:nvPr/>
        </p:nvSpPr>
        <p:spPr>
          <a:xfrm>
            <a:off x="274320" y="2157984"/>
            <a:ext cx="5358384" cy="162763"/>
          </a:xfrm>
          <a:prstGeom prst="rect">
            <a:avLst/>
          </a:prstGeom>
          <a:noFill/>
          <a:ln/>
        </p:spPr>
        <p:txBody>
          <a:bodyPr wrap="square" lIns="38100" tIns="38100" rIns="38100" bIns="38100" rtlCol="0" anchor="ctr"/>
          <a:lstStyle/>
          <a:p>
            <a:pPr algn="l" indent="0" marL="0">
              <a:buNone/>
            </a:pPr>
            <a:r>
              <a:rPr lang="en-US" sz="700" dirty="0">
                <a:solidFill>
                  <a:srgbClr val="E2E8F0"/>
                </a:solidFill>
                <a:latin typeface="Consolas" pitchFamily="34" charset="0"/>
                <a:ea typeface="Consolas" pitchFamily="34" charset="-122"/>
                <a:cs typeface="Consolas" pitchFamily="34" charset="-120"/>
              </a:rPr>
              <a:t>      nn.Linear(512, 512),</a:t>
            </a:r>
            <a:endParaRPr lang="en-US" sz="700" dirty="0"/>
          </a:p>
        </p:txBody>
      </p:sp>
      <p:sp>
        <p:nvSpPr>
          <p:cNvPr id="19" name="Text 17"/>
          <p:cNvSpPr/>
          <p:nvPr/>
        </p:nvSpPr>
        <p:spPr>
          <a:xfrm>
            <a:off x="274320" y="2331720"/>
            <a:ext cx="5358384" cy="162763"/>
          </a:xfrm>
          <a:prstGeom prst="rect">
            <a:avLst/>
          </a:prstGeom>
          <a:noFill/>
          <a:ln/>
        </p:spPr>
        <p:txBody>
          <a:bodyPr wrap="square" lIns="38100" tIns="38100" rIns="38100" bIns="38100" rtlCol="0" anchor="ctr"/>
          <a:lstStyle/>
          <a:p>
            <a:pPr algn="l" indent="0" marL="0">
              <a:buNone/>
            </a:pPr>
            <a:r>
              <a:rPr lang="en-US" sz="700" dirty="0">
                <a:solidFill>
                  <a:srgbClr val="E2E8F0"/>
                </a:solidFill>
                <a:latin typeface="Consolas" pitchFamily="34" charset="0"/>
                <a:ea typeface="Consolas" pitchFamily="34" charset="-122"/>
                <a:cs typeface="Consolas" pitchFamily="34" charset="-120"/>
              </a:rPr>
              <a:t>    )</a:t>
            </a:r>
            <a:endParaRPr lang="en-US" sz="700" dirty="0"/>
          </a:p>
        </p:txBody>
      </p:sp>
      <p:sp>
        <p:nvSpPr>
          <p:cNvPr id="20" name="Text 18"/>
          <p:cNvSpPr/>
          <p:nvPr/>
        </p:nvSpPr>
        <p:spPr>
          <a:xfrm>
            <a:off x="274320" y="2505456"/>
            <a:ext cx="5358384" cy="162763"/>
          </a:xfrm>
          <a:prstGeom prst="rect">
            <a:avLst/>
          </a:prstGeom>
          <a:noFill/>
          <a:ln/>
        </p:spPr>
        <p:txBody>
          <a:bodyPr wrap="square" lIns="38100" tIns="38100" rIns="38100" bIns="38100" rtlCol="0" anchor="ctr"/>
          <a:lstStyle/>
          <a:p>
            <a:pPr algn="l" indent="0" marL="0">
              <a:buNone/>
            </a:pPr>
            <a:r>
              <a:rPr lang="en-US" sz="700" dirty="0">
                <a:solidFill>
                  <a:srgbClr val="E2E8F0"/>
                </a:solidFill>
                <a:latin typeface="Consolas" pitchFamily="34" charset="0"/>
                <a:ea typeface="Consolas" pitchFamily="34" charset="-122"/>
                <a:cs typeface="Consolas" pitchFamily="34" charset="-120"/>
              </a:rPr>
              <a:t>    self.norm = nn.LayerNorm(512)</a:t>
            </a:r>
            <a:endParaRPr lang="en-US" sz="700" dirty="0"/>
          </a:p>
        </p:txBody>
      </p:sp>
      <p:sp>
        <p:nvSpPr>
          <p:cNvPr id="21" name="Text 19"/>
          <p:cNvSpPr/>
          <p:nvPr/>
        </p:nvSpPr>
        <p:spPr>
          <a:xfrm>
            <a:off x="274320" y="2679192"/>
            <a:ext cx="5358384" cy="162763"/>
          </a:xfrm>
          <a:prstGeom prst="rect">
            <a:avLst/>
          </a:prstGeom>
          <a:noFill/>
          <a:ln/>
        </p:spPr>
        <p:txBody>
          <a:bodyPr wrap="square" lIns="38100" tIns="38100" rIns="38100" bIns="38100" rtlCol="0" anchor="ctr"/>
          <a:lstStyle/>
          <a:p>
            <a:pPr algn="l" indent="0" marL="0">
              <a:buNone/>
            </a:pPr>
            <a:r>
              <a:rPr lang="en-US" sz="700" dirty="0">
                <a:solidFill>
                  <a:srgbClr val="FA8080"/>
                </a:solidFill>
                <a:latin typeface="Consolas" pitchFamily="34" charset="0"/>
                <a:ea typeface="Consolas" pitchFamily="34" charset="-122"/>
                <a:cs typeface="Consolas" pitchFamily="34" charset="-120"/>
              </a:rPr>
              <a:t># Result: pre-training cosine similarity = 0.9729 (COLLAPSED)</a:t>
            </a:r>
            <a:endParaRPr lang="en-US" sz="700" dirty="0"/>
          </a:p>
        </p:txBody>
      </p:sp>
      <p:sp>
        <p:nvSpPr>
          <p:cNvPr id="22" name="Text 20"/>
          <p:cNvSpPr/>
          <p:nvPr/>
        </p:nvSpPr>
        <p:spPr>
          <a:xfrm>
            <a:off x="274320" y="2852928"/>
            <a:ext cx="5358384" cy="162763"/>
          </a:xfrm>
          <a:prstGeom prst="rect">
            <a:avLst/>
          </a:prstGeom>
          <a:noFill/>
          <a:ln/>
        </p:spPr>
        <p:txBody>
          <a:bodyPr wrap="square" lIns="38100" tIns="38100" rIns="38100" bIns="38100" rtlCol="0" anchor="ctr"/>
          <a:lstStyle/>
          <a:p>
            <a:pPr algn="l" indent="0" marL="0">
              <a:buNone/>
            </a:pPr>
            <a:r>
              <a:rPr lang="en-US" sz="700" dirty="0">
                <a:solidFill>
                  <a:srgbClr val="FA8080"/>
                </a:solidFill>
                <a:latin typeface="Consolas" pitchFamily="34" charset="0"/>
                <a:ea typeface="Consolas" pitchFamily="34" charset="-122"/>
                <a:cs typeface="Consolas" pitchFamily="34" charset="-120"/>
              </a:rPr>
              <a:t># Month 3 SupCon: gradients on collapsed space → destroyed COCO geom</a:t>
            </a:r>
            <a:endParaRPr lang="en-US" sz="700" dirty="0"/>
          </a:p>
        </p:txBody>
      </p:sp>
      <p:sp>
        <p:nvSpPr>
          <p:cNvPr id="23" name="Text 21"/>
          <p:cNvSpPr/>
          <p:nvPr/>
        </p:nvSpPr>
        <p:spPr>
          <a:xfrm>
            <a:off x="274320" y="3026664"/>
            <a:ext cx="5358384" cy="162763"/>
          </a:xfrm>
          <a:prstGeom prst="rect">
            <a:avLst/>
          </a:prstGeom>
          <a:noFill/>
          <a:ln/>
        </p:spPr>
        <p:txBody>
          <a:bodyPr wrap="square" lIns="38100" tIns="38100" rIns="38100" bIns="38100" rtlCol="0" anchor="ctr"/>
          <a:lstStyle/>
          <a:p>
            <a:pPr algn="l" indent="0" marL="0">
              <a:buNone/>
            </a:pPr>
            <a:r>
              <a:rPr lang="en-US" sz="700" dirty="0">
                <a:solidFill>
                  <a:srgbClr val="FA8080"/>
                </a:solidFill>
                <a:latin typeface="Consolas" pitchFamily="34" charset="0"/>
                <a:ea typeface="Consolas" pitchFamily="34" charset="-122"/>
                <a:cs typeface="Consolas" pitchFamily="34" charset="-120"/>
              </a:rPr>
              <a:t># Accuracy fell: 5/8 → 2/8 emotions  (regression, not improvement)</a:t>
            </a:r>
            <a:endParaRPr lang="en-US" sz="700" dirty="0"/>
          </a:p>
        </p:txBody>
      </p:sp>
      <p:sp>
        <p:nvSpPr>
          <p:cNvPr id="24" name="Text 22"/>
          <p:cNvSpPr/>
          <p:nvPr/>
        </p:nvSpPr>
        <p:spPr>
          <a:xfrm>
            <a:off x="5852160" y="1965960"/>
            <a:ext cx="731520" cy="457200"/>
          </a:xfrm>
          <a:prstGeom prst="rect">
            <a:avLst/>
          </a:prstGeom>
          <a:noFill/>
          <a:ln/>
        </p:spPr>
        <p:txBody>
          <a:bodyPr wrap="square" lIns="38100" tIns="38100" rIns="38100" bIns="38100" rtlCol="0" anchor="ctr"/>
          <a:lstStyle/>
          <a:p>
            <a:pPr algn="ctr" indent="0" marL="0">
              <a:buNone/>
            </a:pPr>
            <a:r>
              <a:rPr lang="en-US" sz="1100" b="1" dirty="0">
                <a:solidFill>
                  <a:srgbClr val="1A6B30"/>
                </a:solidFill>
                <a:latin typeface="Calibri" pitchFamily="34" charset="0"/>
                <a:ea typeface="Calibri" pitchFamily="34" charset="-122"/>
                <a:cs typeface="Calibri" pitchFamily="34" charset="-120"/>
              </a:rPr>
              <a:t>→  FIX  →</a:t>
            </a:r>
            <a:endParaRPr lang="en-US" sz="1100" dirty="0"/>
          </a:p>
        </p:txBody>
      </p:sp>
      <p:sp>
        <p:nvSpPr>
          <p:cNvPr id="25" name="Shape 23"/>
          <p:cNvSpPr/>
          <p:nvPr/>
        </p:nvSpPr>
        <p:spPr>
          <a:xfrm>
            <a:off x="6656832" y="859536"/>
            <a:ext cx="5321808" cy="2834640"/>
          </a:xfrm>
          <a:prstGeom prst="rect">
            <a:avLst/>
          </a:prstGeom>
          <a:solidFill>
            <a:srgbClr val="D8F2DF"/>
          </a:solidFill>
          <a:ln w="15240">
            <a:solidFill>
              <a:srgbClr val="1A6B30"/>
            </a:solidFill>
            <a:prstDash val="solid"/>
          </a:ln>
          <a:effectLst>
            <a:outerShdw sx="100000" sy="100000" kx="0" ky="0" algn="bl" rotWithShape="0" blurRad="38100" dist="25400" dir="8100000">
              <a:srgbClr val="000000">
                <a:alpha val="9000"/>
              </a:srgbClr>
            </a:outerShdw>
          </a:effectLst>
        </p:spPr>
      </p:sp>
      <p:sp>
        <p:nvSpPr>
          <p:cNvPr id="26" name="Shape 24"/>
          <p:cNvSpPr/>
          <p:nvPr/>
        </p:nvSpPr>
        <p:spPr>
          <a:xfrm>
            <a:off x="6656832" y="859536"/>
            <a:ext cx="50292" cy="2834640"/>
          </a:xfrm>
          <a:prstGeom prst="rect">
            <a:avLst/>
          </a:prstGeom>
          <a:solidFill>
            <a:srgbClr val="1A6B30"/>
          </a:solidFill>
          <a:ln w="12700">
            <a:solidFill>
              <a:srgbClr val="1A6B30"/>
            </a:solidFill>
            <a:prstDash val="solid"/>
          </a:ln>
        </p:spPr>
      </p:sp>
      <p:sp>
        <p:nvSpPr>
          <p:cNvPr id="27" name="Text 25"/>
          <p:cNvSpPr/>
          <p:nvPr/>
        </p:nvSpPr>
        <p:spPr>
          <a:xfrm>
            <a:off x="6766560" y="859536"/>
            <a:ext cx="5120640" cy="256032"/>
          </a:xfrm>
          <a:prstGeom prst="rect">
            <a:avLst/>
          </a:prstGeom>
          <a:noFill/>
          <a:ln/>
        </p:spPr>
        <p:txBody>
          <a:bodyPr wrap="square" lIns="38100" tIns="38100" rIns="38100" bIns="38100" rtlCol="0" anchor="ctr"/>
          <a:lstStyle/>
          <a:p>
            <a:pPr algn="l" indent="0" marL="0">
              <a:buNone/>
            </a:pPr>
            <a:r>
              <a:rPr lang="en-US" sz="950" b="1" dirty="0">
                <a:solidFill>
                  <a:srgbClr val="1A6B30"/>
                </a:solidFill>
                <a:latin typeface="Calibri" pitchFamily="34" charset="0"/>
                <a:ea typeface="Calibri" pitchFamily="34" charset="-122"/>
                <a:cs typeface="Calibri" pitchFamily="34" charset="-120"/>
              </a:rPr>
              <a:t>NEW Pipeline C — CORRECT (wav2vec_dim=768)</a:t>
            </a:r>
            <a:endParaRPr lang="en-US" sz="950" dirty="0"/>
          </a:p>
        </p:txBody>
      </p:sp>
      <p:sp>
        <p:nvSpPr>
          <p:cNvPr id="28" name="Text 26"/>
          <p:cNvSpPr/>
          <p:nvPr/>
        </p:nvSpPr>
        <p:spPr>
          <a:xfrm>
            <a:off x="6766560" y="1115568"/>
            <a:ext cx="5120640" cy="162763"/>
          </a:xfrm>
          <a:prstGeom prst="rect">
            <a:avLst/>
          </a:prstGeom>
          <a:noFill/>
          <a:ln/>
        </p:spPr>
        <p:txBody>
          <a:bodyPr wrap="square" lIns="38100" tIns="38100" rIns="38100" bIns="38100" rtlCol="0" anchor="ctr"/>
          <a:lstStyle/>
          <a:p>
            <a:pPr algn="l" indent="0" marL="0">
              <a:buNone/>
            </a:pPr>
            <a:r>
              <a:rPr lang="en-US" sz="700" dirty="0">
                <a:solidFill>
                  <a:srgbClr val="E2E8F0"/>
                </a:solidFill>
                <a:latin typeface="Consolas" pitchFamily="34" charset="0"/>
                <a:ea typeface="Consolas" pitchFamily="34" charset="-122"/>
                <a:cs typeface="Consolas" pitchFamily="34" charset="-120"/>
              </a:rPr>
              <a:t>class AudioProjection(nn.Module):</a:t>
            </a:r>
            <a:endParaRPr lang="en-US" sz="700" dirty="0"/>
          </a:p>
        </p:txBody>
      </p:sp>
      <p:sp>
        <p:nvSpPr>
          <p:cNvPr id="29" name="Text 27"/>
          <p:cNvSpPr/>
          <p:nvPr/>
        </p:nvSpPr>
        <p:spPr>
          <a:xfrm>
            <a:off x="6766560" y="1289304"/>
            <a:ext cx="5120640" cy="162763"/>
          </a:xfrm>
          <a:prstGeom prst="rect">
            <a:avLst/>
          </a:prstGeom>
          <a:noFill/>
          <a:ln/>
        </p:spPr>
        <p:txBody>
          <a:bodyPr wrap="square" lIns="38100" tIns="38100" rIns="38100" bIns="38100" rtlCol="0" anchor="ctr"/>
          <a:lstStyle/>
          <a:p>
            <a:pPr algn="l" indent="0" marL="0">
              <a:buNone/>
            </a:pPr>
            <a:r>
              <a:rPr lang="en-US" sz="700" dirty="0">
                <a:solidFill>
                  <a:srgbClr val="34D399"/>
                </a:solidFill>
                <a:latin typeface="Consolas" pitchFamily="34" charset="0"/>
                <a:ea typeface="Consolas" pitchFamily="34" charset="-122"/>
                <a:cs typeface="Consolas" pitchFamily="34" charset="-120"/>
              </a:rPr>
              <a:t>  def __init__(self, wav2vec_dim=768, embed_dim=512):  # ← CORRECT</a:t>
            </a:r>
            <a:endParaRPr lang="en-US" sz="700" dirty="0"/>
          </a:p>
        </p:txBody>
      </p:sp>
      <p:sp>
        <p:nvSpPr>
          <p:cNvPr id="30" name="Text 28"/>
          <p:cNvSpPr/>
          <p:nvPr/>
        </p:nvSpPr>
        <p:spPr>
          <a:xfrm>
            <a:off x="6766560" y="1463040"/>
            <a:ext cx="5120640" cy="162763"/>
          </a:xfrm>
          <a:prstGeom prst="rect">
            <a:avLst/>
          </a:prstGeom>
          <a:noFill/>
          <a:ln/>
        </p:spPr>
        <p:txBody>
          <a:bodyPr wrap="square" lIns="38100" tIns="38100" rIns="38100" bIns="38100" rtlCol="0" anchor="ctr"/>
          <a:lstStyle/>
          <a:p>
            <a:pPr algn="l" indent="0" marL="0">
              <a:buNone/>
            </a:pPr>
            <a:r>
              <a:rPr lang="en-US" sz="700" dirty="0">
                <a:solidFill>
                  <a:srgbClr val="34D399"/>
                </a:solidFill>
                <a:latin typeface="Consolas" pitchFamily="34" charset="0"/>
                <a:ea typeface="Consolas" pitchFamily="34" charset="-122"/>
                <a:cs typeface="Consolas" pitchFamily="34" charset="-120"/>
              </a:rPr>
              <a:t>    # W₁ ∈ ℝ⁷⁶⁸ˣ⁷⁶⁸ — full phonetic/prosodic space mixing</a:t>
            </a:r>
            <a:endParaRPr lang="en-US" sz="700" dirty="0"/>
          </a:p>
        </p:txBody>
      </p:sp>
      <p:sp>
        <p:nvSpPr>
          <p:cNvPr id="31" name="Text 29"/>
          <p:cNvSpPr/>
          <p:nvPr/>
        </p:nvSpPr>
        <p:spPr>
          <a:xfrm>
            <a:off x="6766560" y="1636776"/>
            <a:ext cx="5120640" cy="162763"/>
          </a:xfrm>
          <a:prstGeom prst="rect">
            <a:avLst/>
          </a:prstGeom>
          <a:noFill/>
          <a:ln/>
        </p:spPr>
        <p:txBody>
          <a:bodyPr wrap="square" lIns="38100" tIns="38100" rIns="38100" bIns="38100" rtlCol="0" anchor="ctr"/>
          <a:lstStyle/>
          <a:p>
            <a:pPr algn="l" indent="0" marL="0">
              <a:buNone/>
            </a:pPr>
            <a:r>
              <a:rPr lang="en-US" sz="700" dirty="0">
                <a:solidFill>
                  <a:srgbClr val="34D399"/>
                </a:solidFill>
                <a:latin typeface="Consolas" pitchFamily="34" charset="0"/>
                <a:ea typeface="Consolas" pitchFamily="34" charset="-122"/>
                <a:cs typeface="Consolas" pitchFamily="34" charset="-120"/>
              </a:rPr>
              <a:t>    # W₂ ∈ ℝ⁵¹²ˣ⁷⁶⁸ — genuine 768→512 compression</a:t>
            </a:r>
            <a:endParaRPr lang="en-US" sz="700" dirty="0"/>
          </a:p>
        </p:txBody>
      </p:sp>
      <p:sp>
        <p:nvSpPr>
          <p:cNvPr id="32" name="Text 30"/>
          <p:cNvSpPr/>
          <p:nvPr/>
        </p:nvSpPr>
        <p:spPr>
          <a:xfrm>
            <a:off x="6766560" y="1810512"/>
            <a:ext cx="5120640" cy="162763"/>
          </a:xfrm>
          <a:prstGeom prst="rect">
            <a:avLst/>
          </a:prstGeom>
          <a:noFill/>
          <a:ln/>
        </p:spPr>
        <p:txBody>
          <a:bodyPr wrap="square" lIns="38100" tIns="38100" rIns="38100" bIns="38100" rtlCol="0" anchor="ctr"/>
          <a:lstStyle/>
          <a:p>
            <a:pPr algn="l" indent="0" marL="0">
              <a:buNone/>
            </a:pPr>
            <a:r>
              <a:rPr lang="en-US" sz="700" dirty="0">
                <a:solidFill>
                  <a:srgbClr val="E2E8F0"/>
                </a:solidFill>
                <a:latin typeface="Consolas" pitchFamily="34" charset="0"/>
                <a:ea typeface="Consolas" pitchFamily="34" charset="-122"/>
                <a:cs typeface="Consolas" pitchFamily="34" charset="-120"/>
              </a:rPr>
              <a:t>    self.proj = nn.Sequential(</a:t>
            </a:r>
            <a:endParaRPr lang="en-US" sz="700" dirty="0"/>
          </a:p>
        </p:txBody>
      </p:sp>
      <p:sp>
        <p:nvSpPr>
          <p:cNvPr id="33" name="Text 31"/>
          <p:cNvSpPr/>
          <p:nvPr/>
        </p:nvSpPr>
        <p:spPr>
          <a:xfrm>
            <a:off x="6766560" y="1984248"/>
            <a:ext cx="5120640" cy="162763"/>
          </a:xfrm>
          <a:prstGeom prst="rect">
            <a:avLst/>
          </a:prstGeom>
          <a:noFill/>
          <a:ln/>
        </p:spPr>
        <p:txBody>
          <a:bodyPr wrap="square" lIns="38100" tIns="38100" rIns="38100" bIns="38100" rtlCol="0" anchor="ctr"/>
          <a:lstStyle/>
          <a:p>
            <a:pPr algn="l" indent="0" marL="0">
              <a:buNone/>
            </a:pPr>
            <a:r>
              <a:rPr lang="en-US" sz="700" dirty="0">
                <a:solidFill>
                  <a:srgbClr val="E2E8F0"/>
                </a:solidFill>
                <a:latin typeface="Consolas" pitchFamily="34" charset="0"/>
                <a:ea typeface="Consolas" pitchFamily="34" charset="-122"/>
                <a:cs typeface="Consolas" pitchFamily="34" charset="-120"/>
              </a:rPr>
              <a:t>      nn.Linear(768, 768),  # same-dim feature mixing</a:t>
            </a:r>
            <a:endParaRPr lang="en-US" sz="700" dirty="0"/>
          </a:p>
        </p:txBody>
      </p:sp>
      <p:sp>
        <p:nvSpPr>
          <p:cNvPr id="34" name="Text 32"/>
          <p:cNvSpPr/>
          <p:nvPr/>
        </p:nvSpPr>
        <p:spPr>
          <a:xfrm>
            <a:off x="6766560" y="2157984"/>
            <a:ext cx="5120640" cy="162763"/>
          </a:xfrm>
          <a:prstGeom prst="rect">
            <a:avLst/>
          </a:prstGeom>
          <a:noFill/>
          <a:ln/>
        </p:spPr>
        <p:txBody>
          <a:bodyPr wrap="square" lIns="38100" tIns="38100" rIns="38100" bIns="38100" rtlCol="0" anchor="ctr"/>
          <a:lstStyle/>
          <a:p>
            <a:pPr algn="l" indent="0" marL="0">
              <a:buNone/>
            </a:pPr>
            <a:r>
              <a:rPr lang="en-US" sz="700" dirty="0">
                <a:solidFill>
                  <a:srgbClr val="E2E8F0"/>
                </a:solidFill>
                <a:latin typeface="Consolas" pitchFamily="34" charset="0"/>
                <a:ea typeface="Consolas" pitchFamily="34" charset="-122"/>
                <a:cs typeface="Consolas" pitchFamily="34" charset="-120"/>
              </a:rPr>
              <a:t>      nn.GELU(),             # smooth non-linearity</a:t>
            </a:r>
            <a:endParaRPr lang="en-US" sz="700" dirty="0"/>
          </a:p>
        </p:txBody>
      </p:sp>
      <p:sp>
        <p:nvSpPr>
          <p:cNvPr id="35" name="Text 33"/>
          <p:cNvSpPr/>
          <p:nvPr/>
        </p:nvSpPr>
        <p:spPr>
          <a:xfrm>
            <a:off x="6766560" y="2331720"/>
            <a:ext cx="5120640" cy="162763"/>
          </a:xfrm>
          <a:prstGeom prst="rect">
            <a:avLst/>
          </a:prstGeom>
          <a:noFill/>
          <a:ln/>
        </p:spPr>
        <p:txBody>
          <a:bodyPr wrap="square" lIns="38100" tIns="38100" rIns="38100" bIns="38100" rtlCol="0" anchor="ctr"/>
          <a:lstStyle/>
          <a:p>
            <a:pPr algn="l" indent="0" marL="0">
              <a:buNone/>
            </a:pPr>
            <a:r>
              <a:rPr lang="en-US" sz="700" dirty="0">
                <a:solidFill>
                  <a:srgbClr val="E2E8F0"/>
                </a:solidFill>
                <a:latin typeface="Consolas" pitchFamily="34" charset="0"/>
                <a:ea typeface="Consolas" pitchFamily="34" charset="-122"/>
                <a:cs typeface="Consolas" pitchFamily="34" charset="-120"/>
              </a:rPr>
              <a:t>      nn.LayerNorm(768),     # stabilise hidden</a:t>
            </a:r>
            <a:endParaRPr lang="en-US" sz="700" dirty="0"/>
          </a:p>
        </p:txBody>
      </p:sp>
      <p:sp>
        <p:nvSpPr>
          <p:cNvPr id="36" name="Text 34"/>
          <p:cNvSpPr/>
          <p:nvPr/>
        </p:nvSpPr>
        <p:spPr>
          <a:xfrm>
            <a:off x="6766560" y="2505456"/>
            <a:ext cx="5120640" cy="162763"/>
          </a:xfrm>
          <a:prstGeom prst="rect">
            <a:avLst/>
          </a:prstGeom>
          <a:noFill/>
          <a:ln/>
        </p:spPr>
        <p:txBody>
          <a:bodyPr wrap="square" lIns="38100" tIns="38100" rIns="38100" bIns="38100" rtlCol="0" anchor="ctr"/>
          <a:lstStyle/>
          <a:p>
            <a:pPr algn="l" indent="0" marL="0">
              <a:buNone/>
            </a:pPr>
            <a:r>
              <a:rPr lang="en-US" sz="700" dirty="0">
                <a:solidFill>
                  <a:srgbClr val="E2E8F0"/>
                </a:solidFill>
                <a:latin typeface="Consolas" pitchFamily="34" charset="0"/>
                <a:ea typeface="Consolas" pitchFamily="34" charset="-122"/>
                <a:cs typeface="Consolas" pitchFamily="34" charset="-120"/>
              </a:rPr>
              <a:t>      nn.Linear(768, 512),  # bottleneck to shared 512d</a:t>
            </a:r>
            <a:endParaRPr lang="en-US" sz="700" dirty="0"/>
          </a:p>
        </p:txBody>
      </p:sp>
      <p:sp>
        <p:nvSpPr>
          <p:cNvPr id="37" name="Text 35"/>
          <p:cNvSpPr/>
          <p:nvPr/>
        </p:nvSpPr>
        <p:spPr>
          <a:xfrm>
            <a:off x="6766560" y="2679192"/>
            <a:ext cx="5120640" cy="162763"/>
          </a:xfrm>
          <a:prstGeom prst="rect">
            <a:avLst/>
          </a:prstGeom>
          <a:noFill/>
          <a:ln/>
        </p:spPr>
        <p:txBody>
          <a:bodyPr wrap="square" lIns="38100" tIns="38100" rIns="38100" bIns="38100" rtlCol="0" anchor="ctr"/>
          <a:lstStyle/>
          <a:p>
            <a:pPr algn="l" indent="0" marL="0">
              <a:buNone/>
            </a:pPr>
            <a:r>
              <a:rPr lang="en-US" sz="700" dirty="0">
                <a:solidFill>
                  <a:srgbClr val="E2E8F0"/>
                </a:solidFill>
                <a:latin typeface="Consolas" pitchFamily="34" charset="0"/>
                <a:ea typeface="Consolas" pitchFamily="34" charset="-122"/>
                <a:cs typeface="Consolas" pitchFamily="34" charset="-120"/>
              </a:rPr>
              <a:t>    )</a:t>
            </a:r>
            <a:endParaRPr lang="en-US" sz="700" dirty="0"/>
          </a:p>
        </p:txBody>
      </p:sp>
      <p:sp>
        <p:nvSpPr>
          <p:cNvPr id="38" name="Text 36"/>
          <p:cNvSpPr/>
          <p:nvPr/>
        </p:nvSpPr>
        <p:spPr>
          <a:xfrm>
            <a:off x="6766560" y="2852928"/>
            <a:ext cx="5120640" cy="162763"/>
          </a:xfrm>
          <a:prstGeom prst="rect">
            <a:avLst/>
          </a:prstGeom>
          <a:noFill/>
          <a:ln/>
        </p:spPr>
        <p:txBody>
          <a:bodyPr wrap="square" lIns="38100" tIns="38100" rIns="38100" bIns="38100" rtlCol="0" anchor="ctr"/>
          <a:lstStyle/>
          <a:p>
            <a:pPr algn="l" indent="0" marL="0">
              <a:buNone/>
            </a:pPr>
            <a:r>
              <a:rPr lang="en-US" sz="700" dirty="0">
                <a:solidFill>
                  <a:srgbClr val="E2E8F0"/>
                </a:solidFill>
                <a:latin typeface="Consolas" pitchFamily="34" charset="0"/>
                <a:ea typeface="Consolas" pitchFamily="34" charset="-122"/>
                <a:cs typeface="Consolas" pitchFamily="34" charset="-120"/>
              </a:rPr>
              <a:t>    self.norm = nn.LayerNorm(512)</a:t>
            </a:r>
            <a:endParaRPr lang="en-US" sz="700" dirty="0"/>
          </a:p>
        </p:txBody>
      </p:sp>
      <p:sp>
        <p:nvSpPr>
          <p:cNvPr id="39" name="Text 37"/>
          <p:cNvSpPr/>
          <p:nvPr/>
        </p:nvSpPr>
        <p:spPr>
          <a:xfrm>
            <a:off x="6766560" y="3026664"/>
            <a:ext cx="5120640" cy="162763"/>
          </a:xfrm>
          <a:prstGeom prst="rect">
            <a:avLst/>
          </a:prstGeom>
          <a:noFill/>
          <a:ln/>
        </p:spPr>
        <p:txBody>
          <a:bodyPr wrap="square" lIns="38100" tIns="38100" rIns="38100" bIns="38100" rtlCol="0" anchor="ctr"/>
          <a:lstStyle/>
          <a:p>
            <a:pPr algn="l" indent="0" marL="0">
              <a:buNone/>
            </a:pPr>
            <a:r>
              <a:rPr lang="en-US" sz="700" dirty="0">
                <a:solidFill>
                  <a:srgbClr val="E2E8F0"/>
                </a:solidFill>
                <a:latin typeface="Consolas" pitchFamily="34" charset="0"/>
                <a:ea typeface="Consolas" pitchFamily="34" charset="-122"/>
                <a:cs typeface="Consolas" pitchFamily="34" charset="-120"/>
              </a:rPr>
              <a:t>  def forward(self, x):  # x: [B, 768]</a:t>
            </a:r>
            <a:endParaRPr lang="en-US" sz="700" dirty="0"/>
          </a:p>
        </p:txBody>
      </p:sp>
      <p:sp>
        <p:nvSpPr>
          <p:cNvPr id="40" name="Text 38"/>
          <p:cNvSpPr/>
          <p:nvPr/>
        </p:nvSpPr>
        <p:spPr>
          <a:xfrm>
            <a:off x="6766560" y="3200400"/>
            <a:ext cx="5120640" cy="162763"/>
          </a:xfrm>
          <a:prstGeom prst="rect">
            <a:avLst/>
          </a:prstGeom>
          <a:noFill/>
          <a:ln/>
        </p:spPr>
        <p:txBody>
          <a:bodyPr wrap="square" lIns="38100" tIns="38100" rIns="38100" bIns="38100" rtlCol="0" anchor="ctr"/>
          <a:lstStyle/>
          <a:p>
            <a:pPr algn="l" indent="0" marL="0">
              <a:buNone/>
            </a:pPr>
            <a:r>
              <a:rPr lang="en-US" sz="700" dirty="0">
                <a:solidFill>
                  <a:srgbClr val="34D399"/>
                </a:solidFill>
                <a:latin typeface="Consolas" pitchFamily="34" charset="0"/>
                <a:ea typeface="Consolas" pitchFamily="34" charset="-122"/>
                <a:cs typeface="Consolas" pitchFamily="34" charset="-120"/>
              </a:rPr>
              <a:t>    return F.normalize(self.norm(self.proj(x)), p=2, dim=1)  # [B,512]</a:t>
            </a:r>
            <a:endParaRPr lang="en-US" sz="700" dirty="0"/>
          </a:p>
        </p:txBody>
      </p:sp>
      <p:sp>
        <p:nvSpPr>
          <p:cNvPr id="41" name="Text 39"/>
          <p:cNvSpPr/>
          <p:nvPr/>
        </p:nvSpPr>
        <p:spPr>
          <a:xfrm>
            <a:off x="6766560" y="3374136"/>
            <a:ext cx="5120640" cy="162763"/>
          </a:xfrm>
          <a:prstGeom prst="rect">
            <a:avLst/>
          </a:prstGeom>
          <a:noFill/>
          <a:ln/>
        </p:spPr>
        <p:txBody>
          <a:bodyPr wrap="square" lIns="38100" tIns="38100" rIns="38100" bIns="38100" rtlCol="0" anchor="ctr"/>
          <a:lstStyle/>
          <a:p>
            <a:pPr algn="l" indent="0" marL="0">
              <a:buNone/>
            </a:pPr>
            <a:r>
              <a:rPr lang="en-US" sz="700" dirty="0">
                <a:solidFill>
                  <a:srgbClr val="34D399"/>
                </a:solidFill>
                <a:latin typeface="Consolas" pitchFamily="34" charset="0"/>
                <a:ea typeface="Consolas" pitchFamily="34" charset="-122"/>
                <a:cs typeface="Consolas" pitchFamily="34" charset="-120"/>
              </a:rPr>
              <a:t># Result: post-training cosine similarity = 0.7854 (genuinely spread)</a:t>
            </a:r>
            <a:endParaRPr lang="en-US" sz="700" dirty="0"/>
          </a:p>
        </p:txBody>
      </p:sp>
      <p:sp>
        <p:nvSpPr>
          <p:cNvPr id="42" name="Text 40"/>
          <p:cNvSpPr/>
          <p:nvPr/>
        </p:nvSpPr>
        <p:spPr>
          <a:xfrm>
            <a:off x="6766560" y="3547872"/>
            <a:ext cx="5120640" cy="162763"/>
          </a:xfrm>
          <a:prstGeom prst="rect">
            <a:avLst/>
          </a:prstGeom>
          <a:noFill/>
          <a:ln/>
        </p:spPr>
        <p:txBody>
          <a:bodyPr wrap="square" lIns="38100" tIns="38100" rIns="38100" bIns="38100" rtlCol="0" anchor="ctr"/>
          <a:lstStyle/>
          <a:p>
            <a:pPr algn="l" indent="0" marL="0">
              <a:buNone/>
            </a:pPr>
            <a:r>
              <a:rPr lang="en-US" sz="700" dirty="0">
                <a:solidFill>
                  <a:srgbClr val="34D399"/>
                </a:solidFill>
                <a:latin typeface="Consolas" pitchFamily="34" charset="0"/>
                <a:ea typeface="Consolas" pitchFamily="34" charset="-122"/>
                <a:cs typeface="Consolas" pitchFamily="34" charset="-120"/>
              </a:rPr>
              <a:t># 59.0% accuracy  |  6/8 emotions  |  +46.5pp over random baseline</a:t>
            </a:r>
            <a:endParaRPr lang="en-US" sz="700" dirty="0"/>
          </a:p>
        </p:txBody>
      </p:sp>
      <p:sp>
        <p:nvSpPr>
          <p:cNvPr id="43" name="Shape 41"/>
          <p:cNvSpPr/>
          <p:nvPr/>
        </p:nvSpPr>
        <p:spPr>
          <a:xfrm>
            <a:off x="182880" y="3803904"/>
            <a:ext cx="36576" cy="237744"/>
          </a:xfrm>
          <a:prstGeom prst="rect">
            <a:avLst/>
          </a:prstGeom>
          <a:solidFill>
            <a:srgbClr val="7B1FA2"/>
          </a:solidFill>
          <a:ln w="12700">
            <a:solidFill>
              <a:srgbClr val="7B1FA2"/>
            </a:solidFill>
            <a:prstDash val="solid"/>
          </a:ln>
        </p:spPr>
      </p:sp>
      <p:sp>
        <p:nvSpPr>
          <p:cNvPr id="44" name="Text 42"/>
          <p:cNvSpPr/>
          <p:nvPr/>
        </p:nvSpPr>
        <p:spPr>
          <a:xfrm>
            <a:off x="256032" y="3803904"/>
            <a:ext cx="5486400" cy="237744"/>
          </a:xfrm>
          <a:prstGeom prst="rect">
            <a:avLst/>
          </a:prstGeom>
          <a:noFill/>
          <a:ln/>
        </p:spPr>
        <p:txBody>
          <a:bodyPr wrap="square" lIns="38100" tIns="38100" rIns="38100" bIns="38100" rtlCol="0" anchor="ctr"/>
          <a:lstStyle/>
          <a:p>
            <a:pPr algn="l" indent="0" marL="0">
              <a:buNone/>
            </a:pPr>
            <a:r>
              <a:rPr lang="en-US" sz="800" b="1" dirty="0">
                <a:solidFill>
                  <a:srgbClr val="7B1FA2"/>
                </a:solidFill>
                <a:latin typeface="Calibri" pitchFamily="34" charset="0"/>
                <a:ea typeface="Calibri" pitchFamily="34" charset="-122"/>
                <a:cs typeface="Calibri" pitchFamily="34" charset="-120"/>
              </a:rPr>
              <a:t>AudioProjection — Layer-by-Layer Architecture  f_θ: ℝ⁷⁶⁸ → S⁵¹¹</a:t>
            </a:r>
            <a:endParaRPr lang="en-US" sz="800" dirty="0"/>
          </a:p>
        </p:txBody>
      </p:sp>
      <p:sp>
        <p:nvSpPr>
          <p:cNvPr id="45" name="Shape 43"/>
          <p:cNvSpPr/>
          <p:nvPr/>
        </p:nvSpPr>
        <p:spPr>
          <a:xfrm>
            <a:off x="182880" y="4023360"/>
            <a:ext cx="1371600" cy="1097280"/>
          </a:xfrm>
          <a:prstGeom prst="rect">
            <a:avLst/>
          </a:prstGeom>
          <a:solidFill>
            <a:srgbClr val="F5F5F5"/>
          </a:solidFill>
          <a:ln w="11430">
            <a:solidFill>
              <a:srgbClr val="AAAAAA"/>
            </a:solidFill>
            <a:prstDash val="solid"/>
          </a:ln>
        </p:spPr>
      </p:sp>
      <p:sp>
        <p:nvSpPr>
          <p:cNvPr id="46" name="Text 44"/>
          <p:cNvSpPr/>
          <p:nvPr/>
        </p:nvSpPr>
        <p:spPr>
          <a:xfrm>
            <a:off x="182880" y="4023360"/>
            <a:ext cx="1371600" cy="420624"/>
          </a:xfrm>
          <a:prstGeom prst="rect">
            <a:avLst/>
          </a:prstGeom>
          <a:noFill/>
          <a:ln/>
        </p:spPr>
        <p:txBody>
          <a:bodyPr wrap="square" lIns="38100" tIns="38100" rIns="38100" bIns="38100" rtlCol="0" anchor="ctr"/>
          <a:lstStyle/>
          <a:p>
            <a:pPr algn="ctr" indent="0" marL="0">
              <a:buNone/>
            </a:pPr>
            <a:r>
              <a:rPr lang="en-US" sz="850" b="1" dirty="0">
                <a:solidFill>
                  <a:srgbClr val="AAAAAA"/>
                </a:solidFill>
                <a:latin typeface="Calibri" pitchFamily="34" charset="0"/>
                <a:ea typeface="Calibri" pitchFamily="34" charset="-122"/>
                <a:cs typeface="Calibri" pitchFamily="34" charset="-120"/>
              </a:rPr>
              <a:t>Input x</a:t>
            </a:r>
            <a:endParaRPr lang="en-US" sz="850" dirty="0"/>
          </a:p>
          <a:p>
            <a:pPr algn="ctr" indent="0" marL="0">
              <a:buNone/>
            </a:pPr>
            <a:r>
              <a:rPr lang="en-US" sz="850" b="1" dirty="0">
                <a:solidFill>
                  <a:srgbClr val="AAAAAA"/>
                </a:solidFill>
                <a:latin typeface="Calibri" pitchFamily="34" charset="0"/>
                <a:ea typeface="Calibri" pitchFamily="34" charset="-122"/>
                <a:cs typeface="Calibri" pitchFamily="34" charset="-120"/>
              </a:rPr>
              <a:t>∈ℝ⁷⁶⁸</a:t>
            </a:r>
            <a:endParaRPr lang="en-US" sz="850" dirty="0"/>
          </a:p>
        </p:txBody>
      </p:sp>
      <p:sp>
        <p:nvSpPr>
          <p:cNvPr id="47" name="Text 45"/>
          <p:cNvSpPr/>
          <p:nvPr/>
        </p:nvSpPr>
        <p:spPr>
          <a:xfrm>
            <a:off x="182880" y="4425696"/>
            <a:ext cx="1371600" cy="658368"/>
          </a:xfrm>
          <a:prstGeom prst="rect">
            <a:avLst/>
          </a:prstGeom>
          <a:noFill/>
          <a:ln/>
        </p:spPr>
        <p:txBody>
          <a:bodyPr wrap="square" lIns="38100" tIns="38100" rIns="38100" bIns="38100" rtlCol="0" anchor="t"/>
          <a:lstStyle/>
          <a:p>
            <a:pPr algn="ctr" indent="0" marL="0">
              <a:buNone/>
            </a:pPr>
            <a:r>
              <a:rPr lang="en-US" sz="650" dirty="0">
                <a:solidFill>
                  <a:srgbClr val="444444"/>
                </a:solidFill>
                <a:latin typeface="Calibri" pitchFamily="34" charset="0"/>
                <a:ea typeface="Calibri" pitchFamily="34" charset="-122"/>
                <a:cs typeface="Calibri" pitchFamily="34" charset="-120"/>
              </a:rPr>
              <a:t>Wav2Vec mean-pooled</a:t>
            </a:r>
            <a:endParaRPr lang="en-US" sz="650" dirty="0"/>
          </a:p>
          <a:p>
            <a:pPr algn="ctr" indent="0" marL="0">
              <a:buNone/>
            </a:pPr>
            <a:r>
              <a:rPr lang="en-US" sz="650" dirty="0">
                <a:solidFill>
                  <a:srgbClr val="444444"/>
                </a:solidFill>
                <a:latin typeface="Calibri" pitchFamily="34" charset="0"/>
                <a:ea typeface="Calibri" pitchFamily="34" charset="-122"/>
                <a:cs typeface="Calibri" pitchFamily="34" charset="-120"/>
              </a:rPr>
              <a:t>hidden state</a:t>
            </a:r>
            <a:endParaRPr lang="en-US" sz="650" dirty="0"/>
          </a:p>
        </p:txBody>
      </p:sp>
      <p:sp>
        <p:nvSpPr>
          <p:cNvPr id="48" name="Shape 46"/>
          <p:cNvSpPr/>
          <p:nvPr/>
        </p:nvSpPr>
        <p:spPr>
          <a:xfrm>
            <a:off x="1554480" y="4590288"/>
            <a:ext cx="109728" cy="0"/>
          </a:xfrm>
          <a:prstGeom prst="line">
            <a:avLst/>
          </a:prstGeom>
          <a:noFill/>
          <a:ln w="12700">
            <a:solidFill>
              <a:srgbClr val="AAAAAA"/>
            </a:solidFill>
            <a:prstDash val="solid"/>
            <a:tailEnd type="triangle"/>
          </a:ln>
        </p:spPr>
      </p:sp>
      <p:sp>
        <p:nvSpPr>
          <p:cNvPr id="49" name="Shape 47"/>
          <p:cNvSpPr/>
          <p:nvPr/>
        </p:nvSpPr>
        <p:spPr>
          <a:xfrm>
            <a:off x="1618488" y="4023360"/>
            <a:ext cx="1371600" cy="1097280"/>
          </a:xfrm>
          <a:prstGeom prst="rect">
            <a:avLst/>
          </a:prstGeom>
          <a:solidFill>
            <a:srgbClr val="F3E5F5"/>
          </a:solidFill>
          <a:ln w="11430">
            <a:solidFill>
              <a:srgbClr val="7B1FA2"/>
            </a:solidFill>
            <a:prstDash val="solid"/>
          </a:ln>
        </p:spPr>
      </p:sp>
      <p:sp>
        <p:nvSpPr>
          <p:cNvPr id="50" name="Text 48"/>
          <p:cNvSpPr/>
          <p:nvPr/>
        </p:nvSpPr>
        <p:spPr>
          <a:xfrm>
            <a:off x="1618488" y="4023360"/>
            <a:ext cx="1371600" cy="420624"/>
          </a:xfrm>
          <a:prstGeom prst="rect">
            <a:avLst/>
          </a:prstGeom>
          <a:noFill/>
          <a:ln/>
        </p:spPr>
        <p:txBody>
          <a:bodyPr wrap="square" lIns="38100" tIns="38100" rIns="38100" bIns="38100" rtlCol="0" anchor="ctr"/>
          <a:lstStyle/>
          <a:p>
            <a:pPr algn="ctr" indent="0" marL="0">
              <a:buNone/>
            </a:pPr>
            <a:r>
              <a:rPr lang="en-US" sz="850" b="1" dirty="0">
                <a:solidFill>
                  <a:srgbClr val="7B1FA2"/>
                </a:solidFill>
                <a:latin typeface="Calibri" pitchFamily="34" charset="0"/>
                <a:ea typeface="Calibri" pitchFamily="34" charset="-122"/>
                <a:cs typeface="Calibri" pitchFamily="34" charset="-120"/>
              </a:rPr>
              <a:t>Linear(768→768)</a:t>
            </a:r>
            <a:endParaRPr lang="en-US" sz="850" dirty="0"/>
          </a:p>
          <a:p>
            <a:pPr algn="ctr" indent="0" marL="0">
              <a:buNone/>
            </a:pPr>
            <a:r>
              <a:rPr lang="en-US" sz="850" b="1" dirty="0">
                <a:solidFill>
                  <a:srgbClr val="7B1FA2"/>
                </a:solidFill>
                <a:latin typeface="Calibri" pitchFamily="34" charset="0"/>
                <a:ea typeface="Calibri" pitchFamily="34" charset="-122"/>
                <a:cs typeface="Calibri" pitchFamily="34" charset="-120"/>
              </a:rPr>
              <a:t>W₁∈ℝ⁷⁶⁸ˣ⁷⁶⁸</a:t>
            </a:r>
            <a:endParaRPr lang="en-US" sz="850" dirty="0"/>
          </a:p>
        </p:txBody>
      </p:sp>
      <p:sp>
        <p:nvSpPr>
          <p:cNvPr id="51" name="Text 49"/>
          <p:cNvSpPr/>
          <p:nvPr/>
        </p:nvSpPr>
        <p:spPr>
          <a:xfrm>
            <a:off x="1618488" y="4425696"/>
            <a:ext cx="1371600" cy="658368"/>
          </a:xfrm>
          <a:prstGeom prst="rect">
            <a:avLst/>
          </a:prstGeom>
          <a:noFill/>
          <a:ln/>
        </p:spPr>
        <p:txBody>
          <a:bodyPr wrap="square" lIns="38100" tIns="38100" rIns="38100" bIns="38100" rtlCol="0" anchor="t"/>
          <a:lstStyle/>
          <a:p>
            <a:pPr algn="ctr" indent="0" marL="0">
              <a:buNone/>
            </a:pPr>
            <a:r>
              <a:rPr lang="en-US" sz="650" dirty="0">
                <a:solidFill>
                  <a:srgbClr val="444444"/>
                </a:solidFill>
                <a:latin typeface="Calibri" pitchFamily="34" charset="0"/>
                <a:ea typeface="Calibri" pitchFamily="34" charset="-122"/>
                <a:cs typeface="Calibri" pitchFamily="34" charset="-120"/>
              </a:rPr>
              <a:t>Feature mixing in</a:t>
            </a:r>
            <a:endParaRPr lang="en-US" sz="650" dirty="0"/>
          </a:p>
          <a:p>
            <a:pPr algn="ctr" indent="0" marL="0">
              <a:buNone/>
            </a:pPr>
            <a:r>
              <a:rPr lang="en-US" sz="650" dirty="0">
                <a:solidFill>
                  <a:srgbClr val="444444"/>
                </a:solidFill>
                <a:latin typeface="Calibri" pitchFamily="34" charset="0"/>
                <a:ea typeface="Calibri" pitchFamily="34" charset="-122"/>
                <a:cs typeface="Calibri" pitchFamily="34" charset="-120"/>
              </a:rPr>
              <a:t>full phonetic space</a:t>
            </a:r>
            <a:endParaRPr lang="en-US" sz="650" dirty="0"/>
          </a:p>
        </p:txBody>
      </p:sp>
      <p:sp>
        <p:nvSpPr>
          <p:cNvPr id="52" name="Shape 50"/>
          <p:cNvSpPr/>
          <p:nvPr/>
        </p:nvSpPr>
        <p:spPr>
          <a:xfrm>
            <a:off x="2990088" y="4590288"/>
            <a:ext cx="109728" cy="0"/>
          </a:xfrm>
          <a:prstGeom prst="line">
            <a:avLst/>
          </a:prstGeom>
          <a:noFill/>
          <a:ln w="12700">
            <a:solidFill>
              <a:srgbClr val="AAAAAA"/>
            </a:solidFill>
            <a:prstDash val="solid"/>
            <a:tailEnd type="triangle"/>
          </a:ln>
        </p:spPr>
      </p:sp>
      <p:sp>
        <p:nvSpPr>
          <p:cNvPr id="53" name="Shape 51"/>
          <p:cNvSpPr/>
          <p:nvPr/>
        </p:nvSpPr>
        <p:spPr>
          <a:xfrm>
            <a:off x="3054096" y="4023360"/>
            <a:ext cx="1371600" cy="1097280"/>
          </a:xfrm>
          <a:prstGeom prst="rect">
            <a:avLst/>
          </a:prstGeom>
          <a:solidFill>
            <a:srgbClr val="F3E5F5"/>
          </a:solidFill>
          <a:ln w="11430">
            <a:solidFill>
              <a:srgbClr val="7B1FA2"/>
            </a:solidFill>
            <a:prstDash val="solid"/>
          </a:ln>
        </p:spPr>
      </p:sp>
      <p:sp>
        <p:nvSpPr>
          <p:cNvPr id="54" name="Text 52"/>
          <p:cNvSpPr/>
          <p:nvPr/>
        </p:nvSpPr>
        <p:spPr>
          <a:xfrm>
            <a:off x="3054096" y="4023360"/>
            <a:ext cx="1371600" cy="420624"/>
          </a:xfrm>
          <a:prstGeom prst="rect">
            <a:avLst/>
          </a:prstGeom>
          <a:noFill/>
          <a:ln/>
        </p:spPr>
        <p:txBody>
          <a:bodyPr wrap="square" lIns="38100" tIns="38100" rIns="38100" bIns="38100" rtlCol="0" anchor="ctr"/>
          <a:lstStyle/>
          <a:p>
            <a:pPr algn="ctr" indent="0" marL="0">
              <a:buNone/>
            </a:pPr>
            <a:r>
              <a:rPr lang="en-US" sz="850" b="1" dirty="0">
                <a:solidFill>
                  <a:srgbClr val="7B1FA2"/>
                </a:solidFill>
                <a:latin typeface="Calibri" pitchFamily="34" charset="0"/>
                <a:ea typeface="Calibri" pitchFamily="34" charset="-122"/>
                <a:cs typeface="Calibri" pitchFamily="34" charset="-120"/>
              </a:rPr>
              <a:t>GELU</a:t>
            </a:r>
            <a:endParaRPr lang="en-US" sz="850" dirty="0"/>
          </a:p>
        </p:txBody>
      </p:sp>
      <p:sp>
        <p:nvSpPr>
          <p:cNvPr id="55" name="Text 53"/>
          <p:cNvSpPr/>
          <p:nvPr/>
        </p:nvSpPr>
        <p:spPr>
          <a:xfrm>
            <a:off x="3054096" y="4425696"/>
            <a:ext cx="1371600" cy="658368"/>
          </a:xfrm>
          <a:prstGeom prst="rect">
            <a:avLst/>
          </a:prstGeom>
          <a:noFill/>
          <a:ln/>
        </p:spPr>
        <p:txBody>
          <a:bodyPr wrap="square" lIns="38100" tIns="38100" rIns="38100" bIns="38100" rtlCol="0" anchor="t"/>
          <a:lstStyle/>
          <a:p>
            <a:pPr algn="ctr" indent="0" marL="0">
              <a:buNone/>
            </a:pPr>
            <a:r>
              <a:rPr lang="en-US" sz="650" dirty="0">
                <a:solidFill>
                  <a:srgbClr val="444444"/>
                </a:solidFill>
                <a:latin typeface="Calibri" pitchFamily="34" charset="0"/>
                <a:ea typeface="Calibri" pitchFamily="34" charset="-122"/>
                <a:cs typeface="Calibri" pitchFamily="34" charset="-120"/>
              </a:rPr>
              <a:t>x·Φ(x)  Φ=CDF(N(0,1))</a:t>
            </a:r>
            <a:endParaRPr lang="en-US" sz="650" dirty="0"/>
          </a:p>
          <a:p>
            <a:pPr algn="ctr" indent="0" marL="0">
              <a:buNone/>
            </a:pPr>
            <a:r>
              <a:rPr lang="en-US" sz="650" dirty="0">
                <a:solidFill>
                  <a:srgbClr val="444444"/>
                </a:solidFill>
                <a:latin typeface="Calibri" pitchFamily="34" charset="0"/>
                <a:ea typeface="Calibri" pitchFamily="34" charset="-122"/>
                <a:cs typeface="Calibri" pitchFamily="34" charset="-120"/>
              </a:rPr>
              <a:t>Smooth vs ReLU dead neurons</a:t>
            </a:r>
            <a:endParaRPr lang="en-US" sz="650" dirty="0"/>
          </a:p>
        </p:txBody>
      </p:sp>
      <p:sp>
        <p:nvSpPr>
          <p:cNvPr id="56" name="Shape 54"/>
          <p:cNvSpPr/>
          <p:nvPr/>
        </p:nvSpPr>
        <p:spPr>
          <a:xfrm>
            <a:off x="4425696" y="4590288"/>
            <a:ext cx="109728" cy="0"/>
          </a:xfrm>
          <a:prstGeom prst="line">
            <a:avLst/>
          </a:prstGeom>
          <a:noFill/>
          <a:ln w="12700">
            <a:solidFill>
              <a:srgbClr val="AAAAAA"/>
            </a:solidFill>
            <a:prstDash val="solid"/>
            <a:tailEnd type="triangle"/>
          </a:ln>
        </p:spPr>
      </p:sp>
      <p:sp>
        <p:nvSpPr>
          <p:cNvPr id="57" name="Shape 55"/>
          <p:cNvSpPr/>
          <p:nvPr/>
        </p:nvSpPr>
        <p:spPr>
          <a:xfrm>
            <a:off x="4489704" y="4023360"/>
            <a:ext cx="1371600" cy="1097280"/>
          </a:xfrm>
          <a:prstGeom prst="rect">
            <a:avLst/>
          </a:prstGeom>
          <a:solidFill>
            <a:srgbClr val="F3E5F5"/>
          </a:solidFill>
          <a:ln w="11430">
            <a:solidFill>
              <a:srgbClr val="7B1FA2"/>
            </a:solidFill>
            <a:prstDash val="solid"/>
          </a:ln>
        </p:spPr>
      </p:sp>
      <p:sp>
        <p:nvSpPr>
          <p:cNvPr id="58" name="Text 56"/>
          <p:cNvSpPr/>
          <p:nvPr/>
        </p:nvSpPr>
        <p:spPr>
          <a:xfrm>
            <a:off x="4489704" y="4023360"/>
            <a:ext cx="1371600" cy="420624"/>
          </a:xfrm>
          <a:prstGeom prst="rect">
            <a:avLst/>
          </a:prstGeom>
          <a:noFill/>
          <a:ln/>
        </p:spPr>
        <p:txBody>
          <a:bodyPr wrap="square" lIns="38100" tIns="38100" rIns="38100" bIns="38100" rtlCol="0" anchor="ctr"/>
          <a:lstStyle/>
          <a:p>
            <a:pPr algn="ctr" indent="0" marL="0">
              <a:buNone/>
            </a:pPr>
            <a:r>
              <a:rPr lang="en-US" sz="850" b="1" dirty="0">
                <a:solidFill>
                  <a:srgbClr val="7B1FA2"/>
                </a:solidFill>
                <a:latin typeface="Calibri" pitchFamily="34" charset="0"/>
                <a:ea typeface="Calibri" pitchFamily="34" charset="-122"/>
                <a:cs typeface="Calibri" pitchFamily="34" charset="-120"/>
              </a:rPr>
              <a:t>LayerNorm(768)</a:t>
            </a:r>
            <a:endParaRPr lang="en-US" sz="850" dirty="0"/>
          </a:p>
        </p:txBody>
      </p:sp>
      <p:sp>
        <p:nvSpPr>
          <p:cNvPr id="59" name="Text 57"/>
          <p:cNvSpPr/>
          <p:nvPr/>
        </p:nvSpPr>
        <p:spPr>
          <a:xfrm>
            <a:off x="4489704" y="4425696"/>
            <a:ext cx="1371600" cy="658368"/>
          </a:xfrm>
          <a:prstGeom prst="rect">
            <a:avLst/>
          </a:prstGeom>
          <a:noFill/>
          <a:ln/>
        </p:spPr>
        <p:txBody>
          <a:bodyPr wrap="square" lIns="38100" tIns="38100" rIns="38100" bIns="38100" rtlCol="0" anchor="t"/>
          <a:lstStyle/>
          <a:p>
            <a:pPr algn="ctr" indent="0" marL="0">
              <a:buNone/>
            </a:pPr>
            <a:r>
              <a:rPr lang="en-US" sz="650" dirty="0">
                <a:solidFill>
                  <a:srgbClr val="444444"/>
                </a:solidFill>
                <a:latin typeface="Calibri" pitchFamily="34" charset="0"/>
                <a:ea typeface="Calibri" pitchFamily="34" charset="-122"/>
                <a:cs typeface="Calibri" pitchFamily="34" charset="-120"/>
              </a:rPr>
              <a:t>γ⊙(x−μ)/√(σ²+ε)+β</a:t>
            </a:r>
            <a:endParaRPr lang="en-US" sz="650" dirty="0"/>
          </a:p>
          <a:p>
            <a:pPr algn="ctr" indent="0" marL="0">
              <a:buNone/>
            </a:pPr>
            <a:r>
              <a:rPr lang="en-US" sz="650" dirty="0">
                <a:solidFill>
                  <a:srgbClr val="444444"/>
                </a:solidFill>
                <a:latin typeface="Calibri" pitchFamily="34" charset="0"/>
                <a:ea typeface="Calibri" pitchFamily="34" charset="-122"/>
                <a:cs typeface="Calibri" pitchFamily="34" charset="-120"/>
              </a:rPr>
              <a:t>ε=1e-5  stabilise hidden</a:t>
            </a:r>
            <a:endParaRPr lang="en-US" sz="650" dirty="0"/>
          </a:p>
        </p:txBody>
      </p:sp>
      <p:sp>
        <p:nvSpPr>
          <p:cNvPr id="60" name="Shape 58"/>
          <p:cNvSpPr/>
          <p:nvPr/>
        </p:nvSpPr>
        <p:spPr>
          <a:xfrm>
            <a:off x="5861304" y="4590288"/>
            <a:ext cx="109728" cy="0"/>
          </a:xfrm>
          <a:prstGeom prst="line">
            <a:avLst/>
          </a:prstGeom>
          <a:noFill/>
          <a:ln w="12700">
            <a:solidFill>
              <a:srgbClr val="AAAAAA"/>
            </a:solidFill>
            <a:prstDash val="solid"/>
            <a:tailEnd type="triangle"/>
          </a:ln>
        </p:spPr>
      </p:sp>
      <p:sp>
        <p:nvSpPr>
          <p:cNvPr id="61" name="Shape 59"/>
          <p:cNvSpPr/>
          <p:nvPr/>
        </p:nvSpPr>
        <p:spPr>
          <a:xfrm>
            <a:off x="5925312" y="4023360"/>
            <a:ext cx="1371600" cy="1097280"/>
          </a:xfrm>
          <a:prstGeom prst="rect">
            <a:avLst/>
          </a:prstGeom>
          <a:solidFill>
            <a:srgbClr val="F3E5F5"/>
          </a:solidFill>
          <a:ln w="11430">
            <a:solidFill>
              <a:srgbClr val="7B1FA2"/>
            </a:solidFill>
            <a:prstDash val="solid"/>
          </a:ln>
        </p:spPr>
      </p:sp>
      <p:sp>
        <p:nvSpPr>
          <p:cNvPr id="62" name="Text 60"/>
          <p:cNvSpPr/>
          <p:nvPr/>
        </p:nvSpPr>
        <p:spPr>
          <a:xfrm>
            <a:off x="5925312" y="4023360"/>
            <a:ext cx="1371600" cy="420624"/>
          </a:xfrm>
          <a:prstGeom prst="rect">
            <a:avLst/>
          </a:prstGeom>
          <a:noFill/>
          <a:ln/>
        </p:spPr>
        <p:txBody>
          <a:bodyPr wrap="square" lIns="38100" tIns="38100" rIns="38100" bIns="38100" rtlCol="0" anchor="ctr"/>
          <a:lstStyle/>
          <a:p>
            <a:pPr algn="ctr" indent="0" marL="0">
              <a:buNone/>
            </a:pPr>
            <a:r>
              <a:rPr lang="en-US" sz="850" b="1" dirty="0">
                <a:solidFill>
                  <a:srgbClr val="7B1FA2"/>
                </a:solidFill>
                <a:latin typeface="Calibri" pitchFamily="34" charset="0"/>
                <a:ea typeface="Calibri" pitchFamily="34" charset="-122"/>
                <a:cs typeface="Calibri" pitchFamily="34" charset="-120"/>
              </a:rPr>
              <a:t>Linear(768→512)</a:t>
            </a:r>
            <a:endParaRPr lang="en-US" sz="850" dirty="0"/>
          </a:p>
          <a:p>
            <a:pPr algn="ctr" indent="0" marL="0">
              <a:buNone/>
            </a:pPr>
            <a:r>
              <a:rPr lang="en-US" sz="850" b="1" dirty="0">
                <a:solidFill>
                  <a:srgbClr val="7B1FA2"/>
                </a:solidFill>
                <a:latin typeface="Calibri" pitchFamily="34" charset="0"/>
                <a:ea typeface="Calibri" pitchFamily="34" charset="-122"/>
                <a:cs typeface="Calibri" pitchFamily="34" charset="-120"/>
              </a:rPr>
              <a:t>W₂∈ℝ⁵¹²ˣ⁷⁶⁸</a:t>
            </a:r>
            <a:endParaRPr lang="en-US" sz="850" dirty="0"/>
          </a:p>
        </p:txBody>
      </p:sp>
      <p:sp>
        <p:nvSpPr>
          <p:cNvPr id="63" name="Text 61"/>
          <p:cNvSpPr/>
          <p:nvPr/>
        </p:nvSpPr>
        <p:spPr>
          <a:xfrm>
            <a:off x="5925312" y="4425696"/>
            <a:ext cx="1371600" cy="658368"/>
          </a:xfrm>
          <a:prstGeom prst="rect">
            <a:avLst/>
          </a:prstGeom>
          <a:noFill/>
          <a:ln/>
        </p:spPr>
        <p:txBody>
          <a:bodyPr wrap="square" lIns="38100" tIns="38100" rIns="38100" bIns="38100" rtlCol="0" anchor="t"/>
          <a:lstStyle/>
          <a:p>
            <a:pPr algn="ctr" indent="0" marL="0">
              <a:buNone/>
            </a:pPr>
            <a:r>
              <a:rPr lang="en-US" sz="650" dirty="0">
                <a:solidFill>
                  <a:srgbClr val="444444"/>
                </a:solidFill>
                <a:latin typeface="Calibri" pitchFamily="34" charset="0"/>
                <a:ea typeface="Calibri" pitchFamily="34" charset="-122"/>
                <a:cs typeface="Calibri" pitchFamily="34" charset="-120"/>
              </a:rPr>
              <a:t>Bottleneck to shared</a:t>
            </a:r>
            <a:endParaRPr lang="en-US" sz="650" dirty="0"/>
          </a:p>
          <a:p>
            <a:pPr algn="ctr" indent="0" marL="0">
              <a:buNone/>
            </a:pPr>
            <a:r>
              <a:rPr lang="en-US" sz="650" dirty="0">
                <a:solidFill>
                  <a:srgbClr val="444444"/>
                </a:solidFill>
                <a:latin typeface="Calibri" pitchFamily="34" charset="0"/>
                <a:ea typeface="Calibri" pitchFamily="34" charset="-122"/>
                <a:cs typeface="Calibri" pitchFamily="34" charset="-120"/>
              </a:rPr>
              <a:t>512d embedding dim</a:t>
            </a:r>
            <a:endParaRPr lang="en-US" sz="650" dirty="0"/>
          </a:p>
        </p:txBody>
      </p:sp>
      <p:sp>
        <p:nvSpPr>
          <p:cNvPr id="64" name="Shape 62"/>
          <p:cNvSpPr/>
          <p:nvPr/>
        </p:nvSpPr>
        <p:spPr>
          <a:xfrm>
            <a:off x="7296912" y="4590288"/>
            <a:ext cx="109728" cy="0"/>
          </a:xfrm>
          <a:prstGeom prst="line">
            <a:avLst/>
          </a:prstGeom>
          <a:noFill/>
          <a:ln w="12700">
            <a:solidFill>
              <a:srgbClr val="AAAAAA"/>
            </a:solidFill>
            <a:prstDash val="solid"/>
            <a:tailEnd type="triangle"/>
          </a:ln>
        </p:spPr>
      </p:sp>
      <p:sp>
        <p:nvSpPr>
          <p:cNvPr id="65" name="Shape 63"/>
          <p:cNvSpPr/>
          <p:nvPr/>
        </p:nvSpPr>
        <p:spPr>
          <a:xfrm>
            <a:off x="7360920" y="4023360"/>
            <a:ext cx="1371600" cy="1097280"/>
          </a:xfrm>
          <a:prstGeom prst="rect">
            <a:avLst/>
          </a:prstGeom>
          <a:solidFill>
            <a:srgbClr val="F3E5F5"/>
          </a:solidFill>
          <a:ln w="11430">
            <a:solidFill>
              <a:srgbClr val="7B1FA2"/>
            </a:solidFill>
            <a:prstDash val="solid"/>
          </a:ln>
        </p:spPr>
      </p:sp>
      <p:sp>
        <p:nvSpPr>
          <p:cNvPr id="66" name="Text 64"/>
          <p:cNvSpPr/>
          <p:nvPr/>
        </p:nvSpPr>
        <p:spPr>
          <a:xfrm>
            <a:off x="7360920" y="4023360"/>
            <a:ext cx="1371600" cy="420624"/>
          </a:xfrm>
          <a:prstGeom prst="rect">
            <a:avLst/>
          </a:prstGeom>
          <a:noFill/>
          <a:ln/>
        </p:spPr>
        <p:txBody>
          <a:bodyPr wrap="square" lIns="38100" tIns="38100" rIns="38100" bIns="38100" rtlCol="0" anchor="ctr"/>
          <a:lstStyle/>
          <a:p>
            <a:pPr algn="ctr" indent="0" marL="0">
              <a:buNone/>
            </a:pPr>
            <a:r>
              <a:rPr lang="en-US" sz="850" b="1" dirty="0">
                <a:solidFill>
                  <a:srgbClr val="7B1FA2"/>
                </a:solidFill>
                <a:latin typeface="Calibri" pitchFamily="34" charset="0"/>
                <a:ea typeface="Calibri" pitchFamily="34" charset="-122"/>
                <a:cs typeface="Calibri" pitchFamily="34" charset="-120"/>
              </a:rPr>
              <a:t>LayerNorm(512)</a:t>
            </a:r>
            <a:endParaRPr lang="en-US" sz="850" dirty="0"/>
          </a:p>
        </p:txBody>
      </p:sp>
      <p:sp>
        <p:nvSpPr>
          <p:cNvPr id="67" name="Text 65"/>
          <p:cNvSpPr/>
          <p:nvPr/>
        </p:nvSpPr>
        <p:spPr>
          <a:xfrm>
            <a:off x="7360920" y="4425696"/>
            <a:ext cx="1371600" cy="658368"/>
          </a:xfrm>
          <a:prstGeom prst="rect">
            <a:avLst/>
          </a:prstGeom>
          <a:noFill/>
          <a:ln/>
        </p:spPr>
        <p:txBody>
          <a:bodyPr wrap="square" lIns="38100" tIns="38100" rIns="38100" bIns="38100" rtlCol="0" anchor="t"/>
          <a:lstStyle/>
          <a:p>
            <a:pPr algn="ctr" indent="0" marL="0">
              <a:buNone/>
            </a:pPr>
            <a:r>
              <a:rPr lang="en-US" sz="650" dirty="0">
                <a:solidFill>
                  <a:srgbClr val="444444"/>
                </a:solidFill>
                <a:latin typeface="Calibri" pitchFamily="34" charset="0"/>
                <a:ea typeface="Calibri" pitchFamily="34" charset="-122"/>
                <a:cs typeface="Calibri" pitchFamily="34" charset="-120"/>
              </a:rPr>
              <a:t>Stabilise output</a:t>
            </a:r>
            <a:endParaRPr lang="en-US" sz="650" dirty="0"/>
          </a:p>
          <a:p>
            <a:pPr algn="ctr" indent="0" marL="0">
              <a:buNone/>
            </a:pPr>
            <a:r>
              <a:rPr lang="en-US" sz="650" dirty="0">
                <a:solidFill>
                  <a:srgbClr val="444444"/>
                </a:solidFill>
                <a:latin typeface="Calibri" pitchFamily="34" charset="0"/>
                <a:ea typeface="Calibri" pitchFamily="34" charset="-122"/>
                <a:cs typeface="Calibri" pitchFamily="34" charset="-120"/>
              </a:rPr>
              <a:t>before normalisation</a:t>
            </a:r>
            <a:endParaRPr lang="en-US" sz="650" dirty="0"/>
          </a:p>
        </p:txBody>
      </p:sp>
      <p:sp>
        <p:nvSpPr>
          <p:cNvPr id="68" name="Shape 66"/>
          <p:cNvSpPr/>
          <p:nvPr/>
        </p:nvSpPr>
        <p:spPr>
          <a:xfrm>
            <a:off x="8732520" y="4590288"/>
            <a:ext cx="109728" cy="0"/>
          </a:xfrm>
          <a:prstGeom prst="line">
            <a:avLst/>
          </a:prstGeom>
          <a:noFill/>
          <a:ln w="12700">
            <a:solidFill>
              <a:srgbClr val="AAAAAA"/>
            </a:solidFill>
            <a:prstDash val="solid"/>
            <a:tailEnd type="triangle"/>
          </a:ln>
        </p:spPr>
      </p:sp>
      <p:sp>
        <p:nvSpPr>
          <p:cNvPr id="69" name="Shape 67"/>
          <p:cNvSpPr/>
          <p:nvPr/>
        </p:nvSpPr>
        <p:spPr>
          <a:xfrm>
            <a:off x="8796528" y="4023360"/>
            <a:ext cx="1371600" cy="1097280"/>
          </a:xfrm>
          <a:prstGeom prst="rect">
            <a:avLst/>
          </a:prstGeom>
          <a:solidFill>
            <a:srgbClr val="D1F0E6"/>
          </a:solidFill>
          <a:ln w="11430">
            <a:solidFill>
              <a:srgbClr val="0D7C5F"/>
            </a:solidFill>
            <a:prstDash val="solid"/>
          </a:ln>
        </p:spPr>
      </p:sp>
      <p:sp>
        <p:nvSpPr>
          <p:cNvPr id="70" name="Text 68"/>
          <p:cNvSpPr/>
          <p:nvPr/>
        </p:nvSpPr>
        <p:spPr>
          <a:xfrm>
            <a:off x="8796528" y="4023360"/>
            <a:ext cx="1371600" cy="420624"/>
          </a:xfrm>
          <a:prstGeom prst="rect">
            <a:avLst/>
          </a:prstGeom>
          <a:noFill/>
          <a:ln/>
        </p:spPr>
        <p:txBody>
          <a:bodyPr wrap="square" lIns="38100" tIns="38100" rIns="38100" bIns="38100" rtlCol="0" anchor="ctr"/>
          <a:lstStyle/>
          <a:p>
            <a:pPr algn="ctr" indent="0" marL="0">
              <a:buNone/>
            </a:pPr>
            <a:r>
              <a:rPr lang="en-US" sz="850" b="1" dirty="0">
                <a:solidFill>
                  <a:srgbClr val="0D7C5F"/>
                </a:solidFill>
                <a:latin typeface="Calibri" pitchFamily="34" charset="0"/>
                <a:ea typeface="Calibri" pitchFamily="34" charset="-122"/>
                <a:cs typeface="Calibri" pitchFamily="34" charset="-120"/>
              </a:rPr>
              <a:t>L2-Norm</a:t>
            </a:r>
            <a:endParaRPr lang="en-US" sz="850" dirty="0"/>
          </a:p>
        </p:txBody>
      </p:sp>
      <p:sp>
        <p:nvSpPr>
          <p:cNvPr id="71" name="Text 69"/>
          <p:cNvSpPr/>
          <p:nvPr/>
        </p:nvSpPr>
        <p:spPr>
          <a:xfrm>
            <a:off x="8796528" y="4425696"/>
            <a:ext cx="1371600" cy="658368"/>
          </a:xfrm>
          <a:prstGeom prst="rect">
            <a:avLst/>
          </a:prstGeom>
          <a:noFill/>
          <a:ln/>
        </p:spPr>
        <p:txBody>
          <a:bodyPr wrap="square" lIns="38100" tIns="38100" rIns="38100" bIns="38100" rtlCol="0" anchor="t"/>
          <a:lstStyle/>
          <a:p>
            <a:pPr algn="ctr" indent="0" marL="0">
              <a:buNone/>
            </a:pPr>
            <a:r>
              <a:rPr lang="en-US" sz="650" dirty="0">
                <a:solidFill>
                  <a:srgbClr val="444444"/>
                </a:solidFill>
                <a:latin typeface="Calibri" pitchFamily="34" charset="0"/>
                <a:ea typeface="Calibri" pitchFamily="34" charset="-122"/>
                <a:cs typeface="Calibri" pitchFamily="34" charset="-120"/>
              </a:rPr>
              <a:t>ê = x/‖x‖₂</a:t>
            </a:r>
            <a:endParaRPr lang="en-US" sz="650" dirty="0"/>
          </a:p>
          <a:p>
            <a:pPr algn="ctr" indent="0" marL="0">
              <a:buNone/>
            </a:pPr>
            <a:r>
              <a:rPr lang="en-US" sz="650" dirty="0">
                <a:solidFill>
                  <a:srgbClr val="444444"/>
                </a:solidFill>
                <a:latin typeface="Calibri" pitchFamily="34" charset="0"/>
                <a:ea typeface="Calibri" pitchFamily="34" charset="-122"/>
                <a:cs typeface="Calibri" pitchFamily="34" charset="-120"/>
              </a:rPr>
              <a:t>→ unit sphere ‖ê‖=1</a:t>
            </a:r>
            <a:endParaRPr lang="en-US" sz="650" dirty="0"/>
          </a:p>
        </p:txBody>
      </p:sp>
      <p:sp>
        <p:nvSpPr>
          <p:cNvPr id="72" name="Shape 70"/>
          <p:cNvSpPr/>
          <p:nvPr/>
        </p:nvSpPr>
        <p:spPr>
          <a:xfrm>
            <a:off x="10168128" y="4590288"/>
            <a:ext cx="109728" cy="0"/>
          </a:xfrm>
          <a:prstGeom prst="line">
            <a:avLst/>
          </a:prstGeom>
          <a:noFill/>
          <a:ln w="12700">
            <a:solidFill>
              <a:srgbClr val="AAAAAA"/>
            </a:solidFill>
            <a:prstDash val="solid"/>
            <a:tailEnd type="triangle"/>
          </a:ln>
        </p:spPr>
      </p:sp>
      <p:sp>
        <p:nvSpPr>
          <p:cNvPr id="73" name="Shape 71"/>
          <p:cNvSpPr/>
          <p:nvPr/>
        </p:nvSpPr>
        <p:spPr>
          <a:xfrm>
            <a:off x="10232136" y="4023360"/>
            <a:ext cx="1371600" cy="1097280"/>
          </a:xfrm>
          <a:prstGeom prst="rect">
            <a:avLst/>
          </a:prstGeom>
          <a:solidFill>
            <a:srgbClr val="7B1FA2"/>
          </a:solidFill>
          <a:ln w="11430">
            <a:solidFill>
              <a:srgbClr val="7B1FA2"/>
            </a:solidFill>
            <a:prstDash val="solid"/>
          </a:ln>
        </p:spPr>
      </p:sp>
      <p:sp>
        <p:nvSpPr>
          <p:cNvPr id="74" name="Text 72"/>
          <p:cNvSpPr/>
          <p:nvPr/>
        </p:nvSpPr>
        <p:spPr>
          <a:xfrm>
            <a:off x="10232136" y="4023360"/>
            <a:ext cx="1371600" cy="420624"/>
          </a:xfrm>
          <a:prstGeom prst="rect">
            <a:avLst/>
          </a:prstGeom>
          <a:noFill/>
          <a:ln/>
        </p:spPr>
        <p:txBody>
          <a:bodyPr wrap="square" lIns="38100" tIns="38100" rIns="38100" bIns="3810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Output ê</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 S⁵¹¹</a:t>
            </a:r>
            <a:endParaRPr lang="en-US" sz="850" dirty="0"/>
          </a:p>
        </p:txBody>
      </p:sp>
      <p:sp>
        <p:nvSpPr>
          <p:cNvPr id="75" name="Text 73"/>
          <p:cNvSpPr/>
          <p:nvPr/>
        </p:nvSpPr>
        <p:spPr>
          <a:xfrm>
            <a:off x="10232136" y="4425696"/>
            <a:ext cx="1371600" cy="658368"/>
          </a:xfrm>
          <a:prstGeom prst="rect">
            <a:avLst/>
          </a:prstGeom>
          <a:noFill/>
          <a:ln/>
        </p:spPr>
        <p:txBody>
          <a:bodyPr wrap="square" lIns="38100" tIns="38100" rIns="38100" bIns="38100" rtlCol="0" anchor="t"/>
          <a:lstStyle/>
          <a:p>
            <a:pPr algn="ctr" indent="0" marL="0">
              <a:buNone/>
            </a:pPr>
            <a:r>
              <a:rPr lang="en-US" sz="650" dirty="0">
                <a:solidFill>
                  <a:srgbClr val="D1FAE5"/>
                </a:solidFill>
                <a:latin typeface="Calibri" pitchFamily="34" charset="0"/>
                <a:ea typeface="Calibri" pitchFamily="34" charset="-122"/>
                <a:cs typeface="Calibri" pitchFamily="34" charset="-120"/>
              </a:rPr>
              <a:t>512d unit vector</a:t>
            </a:r>
            <a:endParaRPr lang="en-US" sz="650" dirty="0"/>
          </a:p>
          <a:p>
            <a:pPr algn="ctr" indent="0" marL="0">
              <a:buNone/>
            </a:pPr>
            <a:r>
              <a:rPr lang="en-US" sz="650" dirty="0">
                <a:solidFill>
                  <a:srgbClr val="D1FAE5"/>
                </a:solidFill>
                <a:latin typeface="Calibri" pitchFamily="34" charset="0"/>
                <a:ea typeface="Calibri" pitchFamily="34" charset="-122"/>
                <a:cs typeface="Calibri" pitchFamily="34" charset="-120"/>
              </a:rPr>
              <a:t>cosine sim = dot product</a:t>
            </a:r>
            <a:endParaRPr lang="en-US" sz="650" dirty="0"/>
          </a:p>
        </p:txBody>
      </p:sp>
      <p:sp>
        <p:nvSpPr>
          <p:cNvPr id="76" name="Shape 74"/>
          <p:cNvSpPr/>
          <p:nvPr/>
        </p:nvSpPr>
        <p:spPr>
          <a:xfrm>
            <a:off x="182880" y="5230368"/>
            <a:ext cx="36576" cy="237744"/>
          </a:xfrm>
          <a:prstGeom prst="rect">
            <a:avLst/>
          </a:prstGeom>
          <a:solidFill>
            <a:srgbClr val="7B1FA2"/>
          </a:solidFill>
          <a:ln w="12700">
            <a:solidFill>
              <a:srgbClr val="7B1FA2"/>
            </a:solidFill>
            <a:prstDash val="solid"/>
          </a:ln>
        </p:spPr>
      </p:sp>
      <p:sp>
        <p:nvSpPr>
          <p:cNvPr id="77" name="Text 75"/>
          <p:cNvSpPr/>
          <p:nvPr/>
        </p:nvSpPr>
        <p:spPr>
          <a:xfrm>
            <a:off x="256032" y="5230368"/>
            <a:ext cx="5486400" cy="237744"/>
          </a:xfrm>
          <a:prstGeom prst="rect">
            <a:avLst/>
          </a:prstGeom>
          <a:noFill/>
          <a:ln/>
        </p:spPr>
        <p:txBody>
          <a:bodyPr wrap="square" lIns="38100" tIns="38100" rIns="38100" bIns="38100" rtlCol="0" anchor="ctr"/>
          <a:lstStyle/>
          <a:p>
            <a:pPr algn="l" indent="0" marL="0">
              <a:buNone/>
            </a:pPr>
            <a:r>
              <a:rPr lang="en-US" sz="800" b="1" dirty="0">
                <a:solidFill>
                  <a:srgbClr val="7B1FA2"/>
                </a:solidFill>
                <a:latin typeface="Calibri" pitchFamily="34" charset="0"/>
                <a:ea typeface="Calibri" pitchFamily="34" charset="-122"/>
                <a:cs typeface="Calibri" pitchFamily="34" charset="-120"/>
              </a:rPr>
              <a:t>Parameter Count</a:t>
            </a:r>
            <a:endParaRPr lang="en-US" sz="800" dirty="0"/>
          </a:p>
        </p:txBody>
      </p:sp>
      <p:sp>
        <p:nvSpPr>
          <p:cNvPr id="78" name="Shape 76"/>
          <p:cNvSpPr/>
          <p:nvPr/>
        </p:nvSpPr>
        <p:spPr>
          <a:xfrm>
            <a:off x="182880" y="5449824"/>
            <a:ext cx="2377440" cy="219456"/>
          </a:xfrm>
          <a:prstGeom prst="rect">
            <a:avLst/>
          </a:prstGeom>
          <a:solidFill>
            <a:srgbClr val="0F3460"/>
          </a:solidFill>
          <a:ln w="3810">
            <a:solidFill>
              <a:srgbClr val="AAAAAA"/>
            </a:solidFill>
            <a:prstDash val="solid"/>
          </a:ln>
        </p:spPr>
      </p:sp>
      <p:sp>
        <p:nvSpPr>
          <p:cNvPr id="79" name="Text 77"/>
          <p:cNvSpPr/>
          <p:nvPr/>
        </p:nvSpPr>
        <p:spPr>
          <a:xfrm>
            <a:off x="237744" y="5449824"/>
            <a:ext cx="2286000" cy="219456"/>
          </a:xfrm>
          <a:prstGeom prst="rect">
            <a:avLst/>
          </a:prstGeom>
          <a:noFill/>
          <a:ln/>
        </p:spPr>
        <p:txBody>
          <a:bodyPr wrap="square" lIns="38100" tIns="38100" rIns="38100" bIns="38100" rtlCol="0" anchor="ctr"/>
          <a:lstStyle/>
          <a:p>
            <a:pPr algn="l" indent="0" marL="0">
              <a:buNone/>
            </a:pPr>
            <a:r>
              <a:rPr lang="en-US" sz="700" b="1" dirty="0">
                <a:solidFill>
                  <a:srgbClr val="FFFFFF"/>
                </a:solidFill>
                <a:latin typeface="Calibri" pitchFamily="34" charset="0"/>
                <a:ea typeface="Calibri" pitchFamily="34" charset="-122"/>
                <a:cs typeface="Calibri" pitchFamily="34" charset="-120"/>
              </a:rPr>
              <a:t>Layer</a:t>
            </a:r>
            <a:endParaRPr lang="en-US" sz="700" dirty="0"/>
          </a:p>
        </p:txBody>
      </p:sp>
      <p:sp>
        <p:nvSpPr>
          <p:cNvPr id="80" name="Shape 78"/>
          <p:cNvSpPr/>
          <p:nvPr/>
        </p:nvSpPr>
        <p:spPr>
          <a:xfrm>
            <a:off x="2560320" y="5449824"/>
            <a:ext cx="2194560" cy="219456"/>
          </a:xfrm>
          <a:prstGeom prst="rect">
            <a:avLst/>
          </a:prstGeom>
          <a:solidFill>
            <a:srgbClr val="0F3460"/>
          </a:solidFill>
          <a:ln w="3810">
            <a:solidFill>
              <a:srgbClr val="AAAAAA"/>
            </a:solidFill>
            <a:prstDash val="solid"/>
          </a:ln>
        </p:spPr>
      </p:sp>
      <p:sp>
        <p:nvSpPr>
          <p:cNvPr id="81" name="Text 79"/>
          <p:cNvSpPr/>
          <p:nvPr/>
        </p:nvSpPr>
        <p:spPr>
          <a:xfrm>
            <a:off x="2615184" y="5449824"/>
            <a:ext cx="2103120" cy="219456"/>
          </a:xfrm>
          <a:prstGeom prst="rect">
            <a:avLst/>
          </a:prstGeom>
          <a:noFill/>
          <a:ln/>
        </p:spPr>
        <p:txBody>
          <a:bodyPr wrap="square" lIns="38100" tIns="38100" rIns="38100" bIns="38100" rtlCol="0" anchor="ctr"/>
          <a:lstStyle/>
          <a:p>
            <a:pPr algn="l" indent="0" marL="0">
              <a:buNone/>
            </a:pPr>
            <a:r>
              <a:rPr lang="en-US" sz="700" b="1" dirty="0">
                <a:solidFill>
                  <a:srgbClr val="FFFFFF"/>
                </a:solidFill>
                <a:latin typeface="Calibri" pitchFamily="34" charset="0"/>
                <a:ea typeface="Calibri" pitchFamily="34" charset="-122"/>
                <a:cs typeface="Calibri" pitchFamily="34" charset="-120"/>
              </a:rPr>
              <a:t>Parameters</a:t>
            </a:r>
            <a:endParaRPr lang="en-US" sz="700" dirty="0"/>
          </a:p>
        </p:txBody>
      </p:sp>
      <p:sp>
        <p:nvSpPr>
          <p:cNvPr id="82" name="Shape 80"/>
          <p:cNvSpPr/>
          <p:nvPr/>
        </p:nvSpPr>
        <p:spPr>
          <a:xfrm>
            <a:off x="4754880" y="5449824"/>
            <a:ext cx="3200400" cy="219456"/>
          </a:xfrm>
          <a:prstGeom prst="rect">
            <a:avLst/>
          </a:prstGeom>
          <a:solidFill>
            <a:srgbClr val="0F3460"/>
          </a:solidFill>
          <a:ln w="3810">
            <a:solidFill>
              <a:srgbClr val="AAAAAA"/>
            </a:solidFill>
            <a:prstDash val="solid"/>
          </a:ln>
        </p:spPr>
      </p:sp>
      <p:sp>
        <p:nvSpPr>
          <p:cNvPr id="83" name="Text 81"/>
          <p:cNvSpPr/>
          <p:nvPr/>
        </p:nvSpPr>
        <p:spPr>
          <a:xfrm>
            <a:off x="4809744" y="5449824"/>
            <a:ext cx="3108960" cy="219456"/>
          </a:xfrm>
          <a:prstGeom prst="rect">
            <a:avLst/>
          </a:prstGeom>
          <a:noFill/>
          <a:ln/>
        </p:spPr>
        <p:txBody>
          <a:bodyPr wrap="square" lIns="38100" tIns="38100" rIns="38100" bIns="38100" rtlCol="0" anchor="ctr"/>
          <a:lstStyle/>
          <a:p>
            <a:pPr algn="l" indent="0" marL="0">
              <a:buNone/>
            </a:pPr>
            <a:r>
              <a:rPr lang="en-US" sz="700" b="1" dirty="0">
                <a:solidFill>
                  <a:srgbClr val="FFFFFF"/>
                </a:solidFill>
                <a:latin typeface="Calibri" pitchFamily="34" charset="0"/>
                <a:ea typeface="Calibri" pitchFamily="34" charset="-122"/>
                <a:cs typeface="Calibri" pitchFamily="34" charset="-120"/>
              </a:rPr>
              <a:t>Role</a:t>
            </a:r>
            <a:endParaRPr lang="en-US" sz="700" dirty="0"/>
          </a:p>
        </p:txBody>
      </p:sp>
      <p:sp>
        <p:nvSpPr>
          <p:cNvPr id="84" name="Shape 82"/>
          <p:cNvSpPr/>
          <p:nvPr/>
        </p:nvSpPr>
        <p:spPr>
          <a:xfrm>
            <a:off x="182880" y="5669280"/>
            <a:ext cx="2377440" cy="219456"/>
          </a:xfrm>
          <a:prstGeom prst="rect">
            <a:avLst/>
          </a:prstGeom>
          <a:solidFill>
            <a:srgbClr val="FFFFFF"/>
          </a:solidFill>
          <a:ln w="3810">
            <a:solidFill>
              <a:srgbClr val="AAAAAA"/>
            </a:solidFill>
            <a:prstDash val="solid"/>
          </a:ln>
        </p:spPr>
      </p:sp>
      <p:sp>
        <p:nvSpPr>
          <p:cNvPr id="85" name="Text 83"/>
          <p:cNvSpPr/>
          <p:nvPr/>
        </p:nvSpPr>
        <p:spPr>
          <a:xfrm>
            <a:off x="237744" y="5669280"/>
            <a:ext cx="2286000" cy="219456"/>
          </a:xfrm>
          <a:prstGeom prst="rect">
            <a:avLst/>
          </a:prstGeom>
          <a:noFill/>
          <a:ln/>
        </p:spPr>
        <p:txBody>
          <a:bodyPr wrap="square" lIns="38100" tIns="38100" rIns="38100" bIns="38100" rtlCol="0" anchor="ctr"/>
          <a:lstStyle/>
          <a:p>
            <a:pPr algn="l" indent="0" marL="0">
              <a:buNone/>
            </a:pPr>
            <a:r>
              <a:rPr lang="en-US" sz="700" dirty="0">
                <a:solidFill>
                  <a:srgbClr val="1A1A1A"/>
                </a:solidFill>
                <a:latin typeface="Calibri" pitchFamily="34" charset="0"/>
                <a:ea typeface="Calibri" pitchFamily="34" charset="-122"/>
                <a:cs typeface="Calibri" pitchFamily="34" charset="-120"/>
              </a:rPr>
              <a:t>Linear(768→768)</a:t>
            </a:r>
            <a:endParaRPr lang="en-US" sz="700" dirty="0"/>
          </a:p>
        </p:txBody>
      </p:sp>
      <p:sp>
        <p:nvSpPr>
          <p:cNvPr id="86" name="Shape 84"/>
          <p:cNvSpPr/>
          <p:nvPr/>
        </p:nvSpPr>
        <p:spPr>
          <a:xfrm>
            <a:off x="2560320" y="5669280"/>
            <a:ext cx="2194560" cy="219456"/>
          </a:xfrm>
          <a:prstGeom prst="rect">
            <a:avLst/>
          </a:prstGeom>
          <a:solidFill>
            <a:srgbClr val="FFFFFF"/>
          </a:solidFill>
          <a:ln w="3810">
            <a:solidFill>
              <a:srgbClr val="AAAAAA"/>
            </a:solidFill>
            <a:prstDash val="solid"/>
          </a:ln>
        </p:spPr>
      </p:sp>
      <p:sp>
        <p:nvSpPr>
          <p:cNvPr id="87" name="Text 85"/>
          <p:cNvSpPr/>
          <p:nvPr/>
        </p:nvSpPr>
        <p:spPr>
          <a:xfrm>
            <a:off x="2615184" y="5669280"/>
            <a:ext cx="2103120" cy="219456"/>
          </a:xfrm>
          <a:prstGeom prst="rect">
            <a:avLst/>
          </a:prstGeom>
          <a:noFill/>
          <a:ln/>
        </p:spPr>
        <p:txBody>
          <a:bodyPr wrap="square" lIns="38100" tIns="38100" rIns="38100" bIns="38100" rtlCol="0" anchor="ctr"/>
          <a:lstStyle/>
          <a:p>
            <a:pPr algn="l" indent="0" marL="0">
              <a:buNone/>
            </a:pPr>
            <a:r>
              <a:rPr lang="en-US" sz="700" dirty="0">
                <a:solidFill>
                  <a:srgbClr val="1A1A1A"/>
                </a:solidFill>
                <a:latin typeface="Calibri" pitchFamily="34" charset="0"/>
                <a:ea typeface="Calibri" pitchFamily="34" charset="-122"/>
                <a:cs typeface="Calibri" pitchFamily="34" charset="-120"/>
              </a:rPr>
              <a:t>768²+768 = 590,592</a:t>
            </a:r>
            <a:endParaRPr lang="en-US" sz="700" dirty="0"/>
          </a:p>
        </p:txBody>
      </p:sp>
      <p:sp>
        <p:nvSpPr>
          <p:cNvPr id="88" name="Shape 86"/>
          <p:cNvSpPr/>
          <p:nvPr/>
        </p:nvSpPr>
        <p:spPr>
          <a:xfrm>
            <a:off x="4754880" y="5669280"/>
            <a:ext cx="3200400" cy="219456"/>
          </a:xfrm>
          <a:prstGeom prst="rect">
            <a:avLst/>
          </a:prstGeom>
          <a:solidFill>
            <a:srgbClr val="FFFFFF"/>
          </a:solidFill>
          <a:ln w="3810">
            <a:solidFill>
              <a:srgbClr val="AAAAAA"/>
            </a:solidFill>
            <a:prstDash val="solid"/>
          </a:ln>
        </p:spPr>
      </p:sp>
      <p:sp>
        <p:nvSpPr>
          <p:cNvPr id="89" name="Text 87"/>
          <p:cNvSpPr/>
          <p:nvPr/>
        </p:nvSpPr>
        <p:spPr>
          <a:xfrm>
            <a:off x="4809744" y="5669280"/>
            <a:ext cx="3108960" cy="219456"/>
          </a:xfrm>
          <a:prstGeom prst="rect">
            <a:avLst/>
          </a:prstGeom>
          <a:noFill/>
          <a:ln/>
        </p:spPr>
        <p:txBody>
          <a:bodyPr wrap="square" lIns="38100" tIns="38100" rIns="38100" bIns="38100" rtlCol="0" anchor="ctr"/>
          <a:lstStyle/>
          <a:p>
            <a:pPr algn="l" indent="0" marL="0">
              <a:buNone/>
            </a:pPr>
            <a:r>
              <a:rPr lang="en-US" sz="700" dirty="0">
                <a:solidFill>
                  <a:srgbClr val="1A1A1A"/>
                </a:solidFill>
                <a:latin typeface="Calibri" pitchFamily="34" charset="0"/>
                <a:ea typeface="Calibri" pitchFamily="34" charset="-122"/>
                <a:cs typeface="Calibri" pitchFamily="34" charset="-120"/>
              </a:rPr>
              <a:t>Full-space feature mixing</a:t>
            </a:r>
            <a:endParaRPr lang="en-US" sz="700" dirty="0"/>
          </a:p>
        </p:txBody>
      </p:sp>
      <p:sp>
        <p:nvSpPr>
          <p:cNvPr id="90" name="Shape 88"/>
          <p:cNvSpPr/>
          <p:nvPr/>
        </p:nvSpPr>
        <p:spPr>
          <a:xfrm>
            <a:off x="182880" y="5888736"/>
            <a:ext cx="2377440" cy="219456"/>
          </a:xfrm>
          <a:prstGeom prst="rect">
            <a:avLst/>
          </a:prstGeom>
          <a:solidFill>
            <a:srgbClr val="F5F5F5"/>
          </a:solidFill>
          <a:ln w="3810">
            <a:solidFill>
              <a:srgbClr val="AAAAAA"/>
            </a:solidFill>
            <a:prstDash val="solid"/>
          </a:ln>
        </p:spPr>
      </p:sp>
      <p:sp>
        <p:nvSpPr>
          <p:cNvPr id="91" name="Text 89"/>
          <p:cNvSpPr/>
          <p:nvPr/>
        </p:nvSpPr>
        <p:spPr>
          <a:xfrm>
            <a:off x="237744" y="5888736"/>
            <a:ext cx="2286000" cy="219456"/>
          </a:xfrm>
          <a:prstGeom prst="rect">
            <a:avLst/>
          </a:prstGeom>
          <a:noFill/>
          <a:ln/>
        </p:spPr>
        <p:txBody>
          <a:bodyPr wrap="square" lIns="38100" tIns="38100" rIns="38100" bIns="38100" rtlCol="0" anchor="ctr"/>
          <a:lstStyle/>
          <a:p>
            <a:pPr algn="l" indent="0" marL="0">
              <a:buNone/>
            </a:pPr>
            <a:r>
              <a:rPr lang="en-US" sz="700" dirty="0">
                <a:solidFill>
                  <a:srgbClr val="1A1A1A"/>
                </a:solidFill>
                <a:latin typeface="Calibri" pitchFamily="34" charset="0"/>
                <a:ea typeface="Calibri" pitchFamily="34" charset="-122"/>
                <a:cs typeface="Calibri" pitchFamily="34" charset="-120"/>
              </a:rPr>
              <a:t>LayerNorm(768)</a:t>
            </a:r>
            <a:endParaRPr lang="en-US" sz="700" dirty="0"/>
          </a:p>
        </p:txBody>
      </p:sp>
      <p:sp>
        <p:nvSpPr>
          <p:cNvPr id="92" name="Shape 90"/>
          <p:cNvSpPr/>
          <p:nvPr/>
        </p:nvSpPr>
        <p:spPr>
          <a:xfrm>
            <a:off x="2560320" y="5888736"/>
            <a:ext cx="2194560" cy="219456"/>
          </a:xfrm>
          <a:prstGeom prst="rect">
            <a:avLst/>
          </a:prstGeom>
          <a:solidFill>
            <a:srgbClr val="F5F5F5"/>
          </a:solidFill>
          <a:ln w="3810">
            <a:solidFill>
              <a:srgbClr val="AAAAAA"/>
            </a:solidFill>
            <a:prstDash val="solid"/>
          </a:ln>
        </p:spPr>
      </p:sp>
      <p:sp>
        <p:nvSpPr>
          <p:cNvPr id="93" name="Text 91"/>
          <p:cNvSpPr/>
          <p:nvPr/>
        </p:nvSpPr>
        <p:spPr>
          <a:xfrm>
            <a:off x="2615184" y="5888736"/>
            <a:ext cx="2103120" cy="219456"/>
          </a:xfrm>
          <a:prstGeom prst="rect">
            <a:avLst/>
          </a:prstGeom>
          <a:noFill/>
          <a:ln/>
        </p:spPr>
        <p:txBody>
          <a:bodyPr wrap="square" lIns="38100" tIns="38100" rIns="38100" bIns="38100" rtlCol="0" anchor="ctr"/>
          <a:lstStyle/>
          <a:p>
            <a:pPr algn="l" indent="0" marL="0">
              <a:buNone/>
            </a:pPr>
            <a:r>
              <a:rPr lang="en-US" sz="700" dirty="0">
                <a:solidFill>
                  <a:srgbClr val="1A1A1A"/>
                </a:solidFill>
                <a:latin typeface="Calibri" pitchFamily="34" charset="0"/>
                <a:ea typeface="Calibri" pitchFamily="34" charset="-122"/>
                <a:cs typeface="Calibri" pitchFamily="34" charset="-120"/>
              </a:rPr>
              <a:t>2×768 = 1,536</a:t>
            </a:r>
            <a:endParaRPr lang="en-US" sz="700" dirty="0"/>
          </a:p>
        </p:txBody>
      </p:sp>
      <p:sp>
        <p:nvSpPr>
          <p:cNvPr id="94" name="Shape 92"/>
          <p:cNvSpPr/>
          <p:nvPr/>
        </p:nvSpPr>
        <p:spPr>
          <a:xfrm>
            <a:off x="4754880" y="5888736"/>
            <a:ext cx="3200400" cy="219456"/>
          </a:xfrm>
          <a:prstGeom prst="rect">
            <a:avLst/>
          </a:prstGeom>
          <a:solidFill>
            <a:srgbClr val="F5F5F5"/>
          </a:solidFill>
          <a:ln w="3810">
            <a:solidFill>
              <a:srgbClr val="AAAAAA"/>
            </a:solidFill>
            <a:prstDash val="solid"/>
          </a:ln>
        </p:spPr>
      </p:sp>
      <p:sp>
        <p:nvSpPr>
          <p:cNvPr id="95" name="Text 93"/>
          <p:cNvSpPr/>
          <p:nvPr/>
        </p:nvSpPr>
        <p:spPr>
          <a:xfrm>
            <a:off x="4809744" y="5888736"/>
            <a:ext cx="3108960" cy="219456"/>
          </a:xfrm>
          <a:prstGeom prst="rect">
            <a:avLst/>
          </a:prstGeom>
          <a:noFill/>
          <a:ln/>
        </p:spPr>
        <p:txBody>
          <a:bodyPr wrap="square" lIns="38100" tIns="38100" rIns="38100" bIns="38100" rtlCol="0" anchor="ctr"/>
          <a:lstStyle/>
          <a:p>
            <a:pPr algn="l" indent="0" marL="0">
              <a:buNone/>
            </a:pPr>
            <a:r>
              <a:rPr lang="en-US" sz="700" dirty="0">
                <a:solidFill>
                  <a:srgbClr val="1A1A1A"/>
                </a:solidFill>
                <a:latin typeface="Calibri" pitchFamily="34" charset="0"/>
                <a:ea typeface="Calibri" pitchFamily="34" charset="-122"/>
                <a:cs typeface="Calibri" pitchFamily="34" charset="-120"/>
              </a:rPr>
              <a:t>Hidden stabilisation</a:t>
            </a:r>
            <a:endParaRPr lang="en-US" sz="700" dirty="0"/>
          </a:p>
        </p:txBody>
      </p:sp>
      <p:sp>
        <p:nvSpPr>
          <p:cNvPr id="96" name="Shape 94"/>
          <p:cNvSpPr/>
          <p:nvPr/>
        </p:nvSpPr>
        <p:spPr>
          <a:xfrm>
            <a:off x="182880" y="6108192"/>
            <a:ext cx="2377440" cy="219456"/>
          </a:xfrm>
          <a:prstGeom prst="rect">
            <a:avLst/>
          </a:prstGeom>
          <a:solidFill>
            <a:srgbClr val="FFFFFF"/>
          </a:solidFill>
          <a:ln w="3810">
            <a:solidFill>
              <a:srgbClr val="AAAAAA"/>
            </a:solidFill>
            <a:prstDash val="solid"/>
          </a:ln>
        </p:spPr>
      </p:sp>
      <p:sp>
        <p:nvSpPr>
          <p:cNvPr id="97" name="Text 95"/>
          <p:cNvSpPr/>
          <p:nvPr/>
        </p:nvSpPr>
        <p:spPr>
          <a:xfrm>
            <a:off x="237744" y="6108192"/>
            <a:ext cx="2286000" cy="219456"/>
          </a:xfrm>
          <a:prstGeom prst="rect">
            <a:avLst/>
          </a:prstGeom>
          <a:noFill/>
          <a:ln/>
        </p:spPr>
        <p:txBody>
          <a:bodyPr wrap="square" lIns="38100" tIns="38100" rIns="38100" bIns="38100" rtlCol="0" anchor="ctr"/>
          <a:lstStyle/>
          <a:p>
            <a:pPr algn="l" indent="0" marL="0">
              <a:buNone/>
            </a:pPr>
            <a:r>
              <a:rPr lang="en-US" sz="700" dirty="0">
                <a:solidFill>
                  <a:srgbClr val="1A1A1A"/>
                </a:solidFill>
                <a:latin typeface="Calibri" pitchFamily="34" charset="0"/>
                <a:ea typeface="Calibri" pitchFamily="34" charset="-122"/>
                <a:cs typeface="Calibri" pitchFamily="34" charset="-120"/>
              </a:rPr>
              <a:t>Linear(768→512)</a:t>
            </a:r>
            <a:endParaRPr lang="en-US" sz="700" dirty="0"/>
          </a:p>
        </p:txBody>
      </p:sp>
      <p:sp>
        <p:nvSpPr>
          <p:cNvPr id="98" name="Shape 96"/>
          <p:cNvSpPr/>
          <p:nvPr/>
        </p:nvSpPr>
        <p:spPr>
          <a:xfrm>
            <a:off x="2560320" y="6108192"/>
            <a:ext cx="2194560" cy="219456"/>
          </a:xfrm>
          <a:prstGeom prst="rect">
            <a:avLst/>
          </a:prstGeom>
          <a:solidFill>
            <a:srgbClr val="FFFFFF"/>
          </a:solidFill>
          <a:ln w="3810">
            <a:solidFill>
              <a:srgbClr val="AAAAAA"/>
            </a:solidFill>
            <a:prstDash val="solid"/>
          </a:ln>
        </p:spPr>
      </p:sp>
      <p:sp>
        <p:nvSpPr>
          <p:cNvPr id="99" name="Text 97"/>
          <p:cNvSpPr/>
          <p:nvPr/>
        </p:nvSpPr>
        <p:spPr>
          <a:xfrm>
            <a:off x="2615184" y="6108192"/>
            <a:ext cx="2103120" cy="219456"/>
          </a:xfrm>
          <a:prstGeom prst="rect">
            <a:avLst/>
          </a:prstGeom>
          <a:noFill/>
          <a:ln/>
        </p:spPr>
        <p:txBody>
          <a:bodyPr wrap="square" lIns="38100" tIns="38100" rIns="38100" bIns="38100" rtlCol="0" anchor="ctr"/>
          <a:lstStyle/>
          <a:p>
            <a:pPr algn="l" indent="0" marL="0">
              <a:buNone/>
            </a:pPr>
            <a:r>
              <a:rPr lang="en-US" sz="700" dirty="0">
                <a:solidFill>
                  <a:srgbClr val="1A1A1A"/>
                </a:solidFill>
                <a:latin typeface="Calibri" pitchFamily="34" charset="0"/>
                <a:ea typeface="Calibri" pitchFamily="34" charset="-122"/>
                <a:cs typeface="Calibri" pitchFamily="34" charset="-120"/>
              </a:rPr>
              <a:t>768×512+512 = 393,728</a:t>
            </a:r>
            <a:endParaRPr lang="en-US" sz="700" dirty="0"/>
          </a:p>
        </p:txBody>
      </p:sp>
      <p:sp>
        <p:nvSpPr>
          <p:cNvPr id="100" name="Shape 98"/>
          <p:cNvSpPr/>
          <p:nvPr/>
        </p:nvSpPr>
        <p:spPr>
          <a:xfrm>
            <a:off x="4754880" y="6108192"/>
            <a:ext cx="3200400" cy="219456"/>
          </a:xfrm>
          <a:prstGeom prst="rect">
            <a:avLst/>
          </a:prstGeom>
          <a:solidFill>
            <a:srgbClr val="FFFFFF"/>
          </a:solidFill>
          <a:ln w="3810">
            <a:solidFill>
              <a:srgbClr val="AAAAAA"/>
            </a:solidFill>
            <a:prstDash val="solid"/>
          </a:ln>
        </p:spPr>
      </p:sp>
      <p:sp>
        <p:nvSpPr>
          <p:cNvPr id="101" name="Text 99"/>
          <p:cNvSpPr/>
          <p:nvPr/>
        </p:nvSpPr>
        <p:spPr>
          <a:xfrm>
            <a:off x="4809744" y="6108192"/>
            <a:ext cx="3108960" cy="219456"/>
          </a:xfrm>
          <a:prstGeom prst="rect">
            <a:avLst/>
          </a:prstGeom>
          <a:noFill/>
          <a:ln/>
        </p:spPr>
        <p:txBody>
          <a:bodyPr wrap="square" lIns="38100" tIns="38100" rIns="38100" bIns="38100" rtlCol="0" anchor="ctr"/>
          <a:lstStyle/>
          <a:p>
            <a:pPr algn="l" indent="0" marL="0">
              <a:buNone/>
            </a:pPr>
            <a:r>
              <a:rPr lang="en-US" sz="700" dirty="0">
                <a:solidFill>
                  <a:srgbClr val="1A1A1A"/>
                </a:solidFill>
                <a:latin typeface="Calibri" pitchFamily="34" charset="0"/>
                <a:ea typeface="Calibri" pitchFamily="34" charset="-122"/>
                <a:cs typeface="Calibri" pitchFamily="34" charset="-120"/>
              </a:rPr>
              <a:t>Bottleneck compression</a:t>
            </a:r>
            <a:endParaRPr lang="en-US" sz="700" dirty="0"/>
          </a:p>
        </p:txBody>
      </p:sp>
      <p:sp>
        <p:nvSpPr>
          <p:cNvPr id="102" name="Shape 100"/>
          <p:cNvSpPr/>
          <p:nvPr/>
        </p:nvSpPr>
        <p:spPr>
          <a:xfrm>
            <a:off x="182880" y="6327648"/>
            <a:ext cx="2377440" cy="219456"/>
          </a:xfrm>
          <a:prstGeom prst="rect">
            <a:avLst/>
          </a:prstGeom>
          <a:solidFill>
            <a:srgbClr val="F5F5F5"/>
          </a:solidFill>
          <a:ln w="3810">
            <a:solidFill>
              <a:srgbClr val="AAAAAA"/>
            </a:solidFill>
            <a:prstDash val="solid"/>
          </a:ln>
        </p:spPr>
      </p:sp>
      <p:sp>
        <p:nvSpPr>
          <p:cNvPr id="103" name="Text 101"/>
          <p:cNvSpPr/>
          <p:nvPr/>
        </p:nvSpPr>
        <p:spPr>
          <a:xfrm>
            <a:off x="237744" y="6327648"/>
            <a:ext cx="2286000" cy="219456"/>
          </a:xfrm>
          <a:prstGeom prst="rect">
            <a:avLst/>
          </a:prstGeom>
          <a:noFill/>
          <a:ln/>
        </p:spPr>
        <p:txBody>
          <a:bodyPr wrap="square" lIns="38100" tIns="38100" rIns="38100" bIns="38100" rtlCol="0" anchor="ctr"/>
          <a:lstStyle/>
          <a:p>
            <a:pPr algn="l" indent="0" marL="0">
              <a:buNone/>
            </a:pPr>
            <a:r>
              <a:rPr lang="en-US" sz="700" dirty="0">
                <a:solidFill>
                  <a:srgbClr val="1A1A1A"/>
                </a:solidFill>
                <a:latin typeface="Calibri" pitchFamily="34" charset="0"/>
                <a:ea typeface="Calibri" pitchFamily="34" charset="-122"/>
                <a:cs typeface="Calibri" pitchFamily="34" charset="-120"/>
              </a:rPr>
              <a:t>LayerNorm(512)</a:t>
            </a:r>
            <a:endParaRPr lang="en-US" sz="700" dirty="0"/>
          </a:p>
        </p:txBody>
      </p:sp>
      <p:sp>
        <p:nvSpPr>
          <p:cNvPr id="104" name="Shape 102"/>
          <p:cNvSpPr/>
          <p:nvPr/>
        </p:nvSpPr>
        <p:spPr>
          <a:xfrm>
            <a:off x="2560320" y="6327648"/>
            <a:ext cx="2194560" cy="219456"/>
          </a:xfrm>
          <a:prstGeom prst="rect">
            <a:avLst/>
          </a:prstGeom>
          <a:solidFill>
            <a:srgbClr val="F5F5F5"/>
          </a:solidFill>
          <a:ln w="3810">
            <a:solidFill>
              <a:srgbClr val="AAAAAA"/>
            </a:solidFill>
            <a:prstDash val="solid"/>
          </a:ln>
        </p:spPr>
      </p:sp>
      <p:sp>
        <p:nvSpPr>
          <p:cNvPr id="105" name="Text 103"/>
          <p:cNvSpPr/>
          <p:nvPr/>
        </p:nvSpPr>
        <p:spPr>
          <a:xfrm>
            <a:off x="2615184" y="6327648"/>
            <a:ext cx="2103120" cy="219456"/>
          </a:xfrm>
          <a:prstGeom prst="rect">
            <a:avLst/>
          </a:prstGeom>
          <a:noFill/>
          <a:ln/>
        </p:spPr>
        <p:txBody>
          <a:bodyPr wrap="square" lIns="38100" tIns="38100" rIns="38100" bIns="38100" rtlCol="0" anchor="ctr"/>
          <a:lstStyle/>
          <a:p>
            <a:pPr algn="l" indent="0" marL="0">
              <a:buNone/>
            </a:pPr>
            <a:r>
              <a:rPr lang="en-US" sz="700" dirty="0">
                <a:solidFill>
                  <a:srgbClr val="1A1A1A"/>
                </a:solidFill>
                <a:latin typeface="Calibri" pitchFamily="34" charset="0"/>
                <a:ea typeface="Calibri" pitchFamily="34" charset="-122"/>
                <a:cs typeface="Calibri" pitchFamily="34" charset="-120"/>
              </a:rPr>
              <a:t>2×512 = 1,024</a:t>
            </a:r>
            <a:endParaRPr lang="en-US" sz="700" dirty="0"/>
          </a:p>
        </p:txBody>
      </p:sp>
      <p:sp>
        <p:nvSpPr>
          <p:cNvPr id="106" name="Shape 104"/>
          <p:cNvSpPr/>
          <p:nvPr/>
        </p:nvSpPr>
        <p:spPr>
          <a:xfrm>
            <a:off x="4754880" y="6327648"/>
            <a:ext cx="3200400" cy="219456"/>
          </a:xfrm>
          <a:prstGeom prst="rect">
            <a:avLst/>
          </a:prstGeom>
          <a:solidFill>
            <a:srgbClr val="F5F5F5"/>
          </a:solidFill>
          <a:ln w="3810">
            <a:solidFill>
              <a:srgbClr val="AAAAAA"/>
            </a:solidFill>
            <a:prstDash val="solid"/>
          </a:ln>
        </p:spPr>
      </p:sp>
      <p:sp>
        <p:nvSpPr>
          <p:cNvPr id="107" name="Text 105"/>
          <p:cNvSpPr/>
          <p:nvPr/>
        </p:nvSpPr>
        <p:spPr>
          <a:xfrm>
            <a:off x="4809744" y="6327648"/>
            <a:ext cx="3108960" cy="219456"/>
          </a:xfrm>
          <a:prstGeom prst="rect">
            <a:avLst/>
          </a:prstGeom>
          <a:noFill/>
          <a:ln/>
        </p:spPr>
        <p:txBody>
          <a:bodyPr wrap="square" lIns="38100" tIns="38100" rIns="38100" bIns="38100" rtlCol="0" anchor="ctr"/>
          <a:lstStyle/>
          <a:p>
            <a:pPr algn="l" indent="0" marL="0">
              <a:buNone/>
            </a:pPr>
            <a:r>
              <a:rPr lang="en-US" sz="700" dirty="0">
                <a:solidFill>
                  <a:srgbClr val="1A1A1A"/>
                </a:solidFill>
                <a:latin typeface="Calibri" pitchFamily="34" charset="0"/>
                <a:ea typeface="Calibri" pitchFamily="34" charset="-122"/>
                <a:cs typeface="Calibri" pitchFamily="34" charset="-120"/>
              </a:rPr>
              <a:t>Output stabilisation</a:t>
            </a:r>
            <a:endParaRPr lang="en-US" sz="700" dirty="0"/>
          </a:p>
        </p:txBody>
      </p:sp>
      <p:sp>
        <p:nvSpPr>
          <p:cNvPr id="108" name="Shape 106"/>
          <p:cNvSpPr/>
          <p:nvPr/>
        </p:nvSpPr>
        <p:spPr>
          <a:xfrm>
            <a:off x="182880" y="6547104"/>
            <a:ext cx="2377440" cy="219456"/>
          </a:xfrm>
          <a:prstGeom prst="rect">
            <a:avLst/>
          </a:prstGeom>
          <a:solidFill>
            <a:srgbClr val="F3E5F5"/>
          </a:solidFill>
          <a:ln w="3810">
            <a:solidFill>
              <a:srgbClr val="AAAAAA"/>
            </a:solidFill>
            <a:prstDash val="solid"/>
          </a:ln>
        </p:spPr>
      </p:sp>
      <p:sp>
        <p:nvSpPr>
          <p:cNvPr id="109" name="Text 107"/>
          <p:cNvSpPr/>
          <p:nvPr/>
        </p:nvSpPr>
        <p:spPr>
          <a:xfrm>
            <a:off x="237744" y="6547104"/>
            <a:ext cx="2286000" cy="219456"/>
          </a:xfrm>
          <a:prstGeom prst="rect">
            <a:avLst/>
          </a:prstGeom>
          <a:noFill/>
          <a:ln/>
        </p:spPr>
        <p:txBody>
          <a:bodyPr wrap="square" lIns="38100" tIns="38100" rIns="38100" bIns="38100" rtlCol="0" anchor="ctr"/>
          <a:lstStyle/>
          <a:p>
            <a:pPr algn="l" indent="0" marL="0">
              <a:buNone/>
            </a:pPr>
            <a:r>
              <a:rPr lang="en-US" sz="700" b="1" dirty="0">
                <a:solidFill>
                  <a:srgbClr val="7B1FA2"/>
                </a:solidFill>
                <a:latin typeface="Calibri" pitchFamily="34" charset="0"/>
                <a:ea typeface="Calibri" pitchFamily="34" charset="-122"/>
                <a:cs typeface="Calibri" pitchFamily="34" charset="-120"/>
              </a:rPr>
              <a:t>TOTAL TRAINABLE</a:t>
            </a:r>
            <a:endParaRPr lang="en-US" sz="700" dirty="0"/>
          </a:p>
        </p:txBody>
      </p:sp>
      <p:sp>
        <p:nvSpPr>
          <p:cNvPr id="110" name="Shape 108"/>
          <p:cNvSpPr/>
          <p:nvPr/>
        </p:nvSpPr>
        <p:spPr>
          <a:xfrm>
            <a:off x="2560320" y="6547104"/>
            <a:ext cx="2194560" cy="219456"/>
          </a:xfrm>
          <a:prstGeom prst="rect">
            <a:avLst/>
          </a:prstGeom>
          <a:solidFill>
            <a:srgbClr val="F3E5F5"/>
          </a:solidFill>
          <a:ln w="3810">
            <a:solidFill>
              <a:srgbClr val="AAAAAA"/>
            </a:solidFill>
            <a:prstDash val="solid"/>
          </a:ln>
        </p:spPr>
      </p:sp>
      <p:sp>
        <p:nvSpPr>
          <p:cNvPr id="111" name="Text 109"/>
          <p:cNvSpPr/>
          <p:nvPr/>
        </p:nvSpPr>
        <p:spPr>
          <a:xfrm>
            <a:off x="2615184" y="6547104"/>
            <a:ext cx="2103120" cy="219456"/>
          </a:xfrm>
          <a:prstGeom prst="rect">
            <a:avLst/>
          </a:prstGeom>
          <a:noFill/>
          <a:ln/>
        </p:spPr>
        <p:txBody>
          <a:bodyPr wrap="square" lIns="38100" tIns="38100" rIns="38100" bIns="38100" rtlCol="0" anchor="ctr"/>
          <a:lstStyle/>
          <a:p>
            <a:pPr algn="l" indent="0" marL="0">
              <a:buNone/>
            </a:pPr>
            <a:r>
              <a:rPr lang="en-US" sz="700" b="1" dirty="0">
                <a:solidFill>
                  <a:srgbClr val="7B1FA2"/>
                </a:solidFill>
                <a:latin typeface="Calibri" pitchFamily="34" charset="0"/>
                <a:ea typeface="Calibri" pitchFamily="34" charset="-122"/>
                <a:cs typeface="Calibri" pitchFamily="34" charset="-120"/>
              </a:rPr>
              <a:t>~986,880</a:t>
            </a:r>
            <a:endParaRPr lang="en-US" sz="700" dirty="0"/>
          </a:p>
        </p:txBody>
      </p:sp>
      <p:sp>
        <p:nvSpPr>
          <p:cNvPr id="112" name="Shape 110"/>
          <p:cNvSpPr/>
          <p:nvPr/>
        </p:nvSpPr>
        <p:spPr>
          <a:xfrm>
            <a:off x="4754880" y="6547104"/>
            <a:ext cx="3200400" cy="219456"/>
          </a:xfrm>
          <a:prstGeom prst="rect">
            <a:avLst/>
          </a:prstGeom>
          <a:solidFill>
            <a:srgbClr val="F3E5F5"/>
          </a:solidFill>
          <a:ln w="3810">
            <a:solidFill>
              <a:srgbClr val="AAAAAA"/>
            </a:solidFill>
            <a:prstDash val="solid"/>
          </a:ln>
        </p:spPr>
      </p:sp>
      <p:sp>
        <p:nvSpPr>
          <p:cNvPr id="113" name="Text 111"/>
          <p:cNvSpPr/>
          <p:nvPr/>
        </p:nvSpPr>
        <p:spPr>
          <a:xfrm>
            <a:off x="4809744" y="6547104"/>
            <a:ext cx="3108960" cy="219456"/>
          </a:xfrm>
          <a:prstGeom prst="rect">
            <a:avLst/>
          </a:prstGeom>
          <a:noFill/>
          <a:ln/>
        </p:spPr>
        <p:txBody>
          <a:bodyPr wrap="square" lIns="38100" tIns="38100" rIns="38100" bIns="38100" rtlCol="0" anchor="ctr"/>
          <a:lstStyle/>
          <a:p>
            <a:pPr algn="l" indent="0" marL="0">
              <a:buNone/>
            </a:pPr>
            <a:r>
              <a:rPr lang="en-US" sz="700" b="1" dirty="0">
                <a:solidFill>
                  <a:srgbClr val="7B1FA2"/>
                </a:solidFill>
                <a:latin typeface="Calibri" pitchFamily="34" charset="0"/>
                <a:ea typeface="Calibri" pitchFamily="34" charset="-122"/>
                <a:cs typeface="Calibri" pitchFamily="34" charset="-120"/>
              </a:rPr>
              <a:t>~987K (vs 94M frozen backbone)</a:t>
            </a:r>
            <a:endParaRPr lang="en-US" sz="700" dirty="0"/>
          </a:p>
        </p:txBody>
      </p:sp>
      <p:sp>
        <p:nvSpPr>
          <p:cNvPr id="114" name="Shape 112"/>
          <p:cNvSpPr/>
          <p:nvPr/>
        </p:nvSpPr>
        <p:spPr>
          <a:xfrm>
            <a:off x="7973568" y="5230368"/>
            <a:ext cx="4005072" cy="1335024"/>
          </a:xfrm>
          <a:prstGeom prst="rect">
            <a:avLst/>
          </a:prstGeom>
          <a:solidFill>
            <a:srgbClr val="F3E5F5"/>
          </a:solidFill>
          <a:ln w="12700">
            <a:solidFill>
              <a:srgbClr val="7B1FA2"/>
            </a:solidFill>
            <a:prstDash val="solid"/>
          </a:ln>
        </p:spPr>
      </p:sp>
      <p:sp>
        <p:nvSpPr>
          <p:cNvPr id="115" name="Text 113"/>
          <p:cNvSpPr/>
          <p:nvPr/>
        </p:nvSpPr>
        <p:spPr>
          <a:xfrm>
            <a:off x="8065008" y="5230368"/>
            <a:ext cx="3822192" cy="237744"/>
          </a:xfrm>
          <a:prstGeom prst="rect">
            <a:avLst/>
          </a:prstGeom>
          <a:noFill/>
          <a:ln/>
        </p:spPr>
        <p:txBody>
          <a:bodyPr wrap="square" lIns="38100" tIns="38100" rIns="38100" bIns="38100" rtlCol="0" anchor="ctr"/>
          <a:lstStyle/>
          <a:p>
            <a:pPr algn="l" indent="0" marL="0">
              <a:buNone/>
            </a:pPr>
            <a:r>
              <a:rPr lang="en-US" sz="850" b="1" dirty="0">
                <a:solidFill>
                  <a:srgbClr val="7B1FA2"/>
                </a:solidFill>
                <a:latin typeface="Calibri" pitchFamily="34" charset="0"/>
                <a:ea typeface="Calibri" pitchFamily="34" charset="-122"/>
                <a:cs typeface="Calibri" pitchFamily="34" charset="-120"/>
              </a:rPr>
              <a:t>Formal definition:</a:t>
            </a:r>
            <a:endParaRPr lang="en-US" sz="850" dirty="0"/>
          </a:p>
        </p:txBody>
      </p:sp>
      <p:sp>
        <p:nvSpPr>
          <p:cNvPr id="116" name="Text 114"/>
          <p:cNvSpPr/>
          <p:nvPr/>
        </p:nvSpPr>
        <p:spPr>
          <a:xfrm>
            <a:off x="8065008" y="5449824"/>
            <a:ext cx="3822192" cy="1078992"/>
          </a:xfrm>
          <a:prstGeom prst="rect">
            <a:avLst/>
          </a:prstGeom>
          <a:noFill/>
          <a:ln/>
        </p:spPr>
        <p:txBody>
          <a:bodyPr wrap="square" lIns="38100" tIns="38100" rIns="38100" bIns="38100" rtlCol="0" anchor="t"/>
          <a:lstStyle/>
          <a:p>
            <a:pPr algn="l" indent="0" marL="0">
              <a:buNone/>
            </a:pPr>
            <a:r>
              <a:rPr lang="en-US" sz="750" dirty="0">
                <a:solidFill>
                  <a:srgbClr val="1A1A1A"/>
                </a:solidFill>
                <a:latin typeface="Calibri" pitchFamily="34" charset="0"/>
                <a:ea typeface="Calibri" pitchFamily="34" charset="-122"/>
                <a:cs typeface="Calibri" pitchFamily="34" charset="-120"/>
              </a:rPr>
              <a:t>f_θ: ℝ⁷⁶⁸ → S⁵¹¹</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f_θ(x) = g_θ(x) / ‖g_θ(x)‖₂</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g_θ(x) = LN₅₁₂(W₂·GELU(LN₇₆₈(W₁x+b₁))+b₂)</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W₁∈ℝ⁷⁶⁸ˣ⁷⁶⁸  W₂∈ℝ⁵¹²ˣ⁷⁶⁸</a:t>
            </a:r>
            <a:endParaRPr lang="en-US" sz="750" dirty="0"/>
          </a:p>
          <a:p>
            <a:pPr algn="l" indent="0" marL="0">
              <a:buNone/>
            </a:pP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Lemma: ‖ê‖₂=1 → cos(ê_T,ê_A)=ê_T·ê_A</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 [-1,+1]  (cosine sim = inner product)</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61520" cy="502920"/>
          </a:xfrm>
          <a:prstGeom prst="rect">
            <a:avLst/>
          </a:prstGeom>
          <a:solidFill>
            <a:srgbClr val="0F3460"/>
          </a:solidFill>
          <a:ln w="12700">
            <a:solidFill>
              <a:srgbClr val="0F3460"/>
            </a:solidFill>
            <a:prstDash val="solid"/>
          </a:ln>
        </p:spPr>
      </p:sp>
      <p:sp>
        <p:nvSpPr>
          <p:cNvPr id="3" name="Text 1"/>
          <p:cNvSpPr/>
          <p:nvPr/>
        </p:nvSpPr>
        <p:spPr>
          <a:xfrm>
            <a:off x="228600" y="0"/>
            <a:ext cx="10515600" cy="502920"/>
          </a:xfrm>
          <a:prstGeom prst="rect">
            <a:avLst/>
          </a:prstGeom>
          <a:noFill/>
          <a:ln/>
        </p:spPr>
        <p:txBody>
          <a:bodyPr wrap="square" lIns="38100" tIns="38100" rIns="38100" bIns="3810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Pipeline C — Supervised Contrastive Loss: Full Mathematical Treatment</a:t>
            </a:r>
            <a:endParaRPr lang="en-US" sz="1400" dirty="0"/>
          </a:p>
        </p:txBody>
      </p:sp>
      <p:sp>
        <p:nvSpPr>
          <p:cNvPr id="4" name="Text 2"/>
          <p:cNvSpPr/>
          <p:nvPr/>
        </p:nvSpPr>
        <p:spPr>
          <a:xfrm>
            <a:off x="10789920" y="0"/>
            <a:ext cx="1188720" cy="502920"/>
          </a:xfrm>
          <a:prstGeom prst="rect">
            <a:avLst/>
          </a:prstGeom>
          <a:noFill/>
          <a:ln/>
        </p:spPr>
        <p:txBody>
          <a:bodyPr wrap="square" lIns="38100" tIns="38100" rIns="38100" bIns="38100" rtlCol="0" anchor="ctr"/>
          <a:lstStyle/>
          <a:p>
            <a:pPr algn="r" indent="0" marL="0">
              <a:buNone/>
            </a:pPr>
            <a:r>
              <a:rPr lang="en-US" sz="1100" b="1" dirty="0">
                <a:solidFill>
                  <a:srgbClr val="9EC8FF"/>
                </a:solidFill>
                <a:latin typeface="Calibri" pitchFamily="34" charset="0"/>
                <a:ea typeface="Calibri" pitchFamily="34" charset="-122"/>
                <a:cs typeface="Calibri" pitchFamily="34" charset="-120"/>
              </a:rPr>
              <a:t>5/9</a:t>
            </a:r>
            <a:endParaRPr lang="en-US" sz="1100" dirty="0"/>
          </a:p>
        </p:txBody>
      </p:sp>
      <p:sp>
        <p:nvSpPr>
          <p:cNvPr id="5" name="Text 3"/>
          <p:cNvSpPr/>
          <p:nvPr/>
        </p:nvSpPr>
        <p:spPr>
          <a:xfrm>
            <a:off x="228600" y="274320"/>
            <a:ext cx="11704320" cy="237744"/>
          </a:xfrm>
          <a:prstGeom prst="rect">
            <a:avLst/>
          </a:prstGeom>
          <a:noFill/>
          <a:ln/>
        </p:spPr>
        <p:txBody>
          <a:bodyPr wrap="square" lIns="38100" tIns="38100" rIns="38100" bIns="38100" rtlCol="0" anchor="ctr"/>
          <a:lstStyle/>
          <a:p>
            <a:pPr algn="l" indent="0" marL="0">
              <a:buNone/>
            </a:pPr>
            <a:r>
              <a:rPr lang="en-US" sz="750" dirty="0">
                <a:solidFill>
                  <a:srgbClr val="9EC8FF"/>
                </a:solidFill>
                <a:latin typeface="Calibri" pitchFamily="34" charset="0"/>
                <a:ea typeface="Calibri" pitchFamily="34" charset="-122"/>
                <a:cs typeface="Calibri" pitchFamily="34" charset="-120"/>
              </a:rPr>
              <a:t>SupCon (Khosla et al. 2020)  |  τ=0.07  |  B=16  |  Random baseline≈log(15)≈2.71  |  Target &lt; 1.0</a:t>
            </a:r>
            <a:endParaRPr lang="en-US" sz="750" dirty="0"/>
          </a:p>
        </p:txBody>
      </p:sp>
      <p:sp>
        <p:nvSpPr>
          <p:cNvPr id="6" name="Shape 4"/>
          <p:cNvSpPr/>
          <p:nvPr/>
        </p:nvSpPr>
        <p:spPr>
          <a:xfrm>
            <a:off x="0" y="6583680"/>
            <a:ext cx="12161520" cy="274320"/>
          </a:xfrm>
          <a:prstGeom prst="rect">
            <a:avLst/>
          </a:prstGeom>
          <a:solidFill>
            <a:srgbClr val="0F3460"/>
          </a:solidFill>
          <a:ln w="12700">
            <a:solidFill>
              <a:srgbClr val="0F3460"/>
            </a:solidFill>
            <a:prstDash val="solid"/>
          </a:ln>
        </p:spPr>
      </p:sp>
      <p:sp>
        <p:nvSpPr>
          <p:cNvPr id="7" name="Text 5"/>
          <p:cNvSpPr/>
          <p:nvPr/>
        </p:nvSpPr>
        <p:spPr>
          <a:xfrm>
            <a:off x="228600" y="6583680"/>
            <a:ext cx="11704320" cy="274320"/>
          </a:xfrm>
          <a:prstGeom prst="rect">
            <a:avLst/>
          </a:prstGeom>
          <a:noFill/>
          <a:ln/>
        </p:spPr>
        <p:txBody>
          <a:bodyPr wrap="square" lIns="38100" tIns="38100" rIns="38100" bIns="38100" rtlCol="0" anchor="ctr"/>
          <a:lstStyle/>
          <a:p>
            <a:pPr algn="l" indent="0" marL="0">
              <a:buNone/>
            </a:pPr>
            <a:r>
              <a:rPr lang="en-US" sz="600" dirty="0">
                <a:solidFill>
                  <a:srgbClr val="9EC8FF"/>
                </a:solidFill>
                <a:latin typeface="Calibri" pitchFamily="34" charset="0"/>
                <a:ea typeface="Calibri" pitchFamily="34" charset="-122"/>
                <a:cs typeface="Calibri" pitchFamily="34" charset="-120"/>
              </a:rPr>
              <a:t>MIVA-KNIGHT  |  IT 581 Capstone  |  Concordia University of Edmonton  |  Pipeline C — RAVDESS Standalone Audio Emotion Training</a:t>
            </a:r>
            <a:endParaRPr lang="en-US" sz="600" dirty="0"/>
          </a:p>
        </p:txBody>
      </p:sp>
      <p:sp>
        <p:nvSpPr>
          <p:cNvPr id="8" name="Shape 6"/>
          <p:cNvSpPr/>
          <p:nvPr/>
        </p:nvSpPr>
        <p:spPr>
          <a:xfrm>
            <a:off x="182880" y="621792"/>
            <a:ext cx="36576" cy="237744"/>
          </a:xfrm>
          <a:prstGeom prst="rect">
            <a:avLst/>
          </a:prstGeom>
          <a:solidFill>
            <a:srgbClr val="14407A"/>
          </a:solidFill>
          <a:ln w="12700">
            <a:solidFill>
              <a:srgbClr val="14407A"/>
            </a:solidFill>
            <a:prstDash val="solid"/>
          </a:ln>
        </p:spPr>
      </p:sp>
      <p:sp>
        <p:nvSpPr>
          <p:cNvPr id="9" name="Text 7"/>
          <p:cNvSpPr/>
          <p:nvPr/>
        </p:nvSpPr>
        <p:spPr>
          <a:xfrm>
            <a:off x="256032" y="621792"/>
            <a:ext cx="5486400" cy="237744"/>
          </a:xfrm>
          <a:prstGeom prst="rect">
            <a:avLst/>
          </a:prstGeom>
          <a:noFill/>
          <a:ln/>
        </p:spPr>
        <p:txBody>
          <a:bodyPr wrap="square" lIns="38100" tIns="38100" rIns="38100" bIns="38100" rtlCol="0" anchor="ctr"/>
          <a:lstStyle/>
          <a:p>
            <a:pPr algn="l" indent="0" marL="0">
              <a:buNone/>
            </a:pPr>
            <a:r>
              <a:rPr lang="en-US" sz="800" b="1" dirty="0">
                <a:solidFill>
                  <a:srgbClr val="14407A"/>
                </a:solidFill>
                <a:latin typeface="Calibri" pitchFamily="34" charset="0"/>
                <a:ea typeface="Calibri" pitchFamily="34" charset="-122"/>
                <a:cs typeface="Calibri" pitchFamily="34" charset="-120"/>
              </a:rPr>
              <a:t>SupCon vs InfoNCE — Why the Switch Was Necessary</a:t>
            </a:r>
            <a:endParaRPr lang="en-US" sz="800" dirty="0"/>
          </a:p>
        </p:txBody>
      </p:sp>
      <p:sp>
        <p:nvSpPr>
          <p:cNvPr id="10" name="Shape 8"/>
          <p:cNvSpPr/>
          <p:nvPr/>
        </p:nvSpPr>
        <p:spPr>
          <a:xfrm>
            <a:off x="182880" y="859536"/>
            <a:ext cx="2011680" cy="219456"/>
          </a:xfrm>
          <a:prstGeom prst="rect">
            <a:avLst/>
          </a:prstGeom>
          <a:solidFill>
            <a:srgbClr val="0F3460"/>
          </a:solidFill>
          <a:ln w="3810">
            <a:solidFill>
              <a:srgbClr val="AAAAAA"/>
            </a:solidFill>
            <a:prstDash val="solid"/>
          </a:ln>
        </p:spPr>
      </p:sp>
      <p:sp>
        <p:nvSpPr>
          <p:cNvPr id="11" name="Text 9"/>
          <p:cNvSpPr/>
          <p:nvPr/>
        </p:nvSpPr>
        <p:spPr>
          <a:xfrm>
            <a:off x="237744" y="859536"/>
            <a:ext cx="1920240" cy="219456"/>
          </a:xfrm>
          <a:prstGeom prst="rect">
            <a:avLst/>
          </a:prstGeom>
          <a:noFill/>
          <a:ln/>
        </p:spPr>
        <p:txBody>
          <a:bodyPr wrap="square" lIns="38100" tIns="38100" rIns="38100" bIns="38100" rtlCol="0" anchor="ctr"/>
          <a:lstStyle/>
          <a:p>
            <a:pPr algn="l" indent="0" marL="0">
              <a:buNone/>
            </a:pPr>
            <a:endParaRPr lang="en-US" sz="750" dirty="0"/>
          </a:p>
        </p:txBody>
      </p:sp>
      <p:sp>
        <p:nvSpPr>
          <p:cNvPr id="12" name="Shape 10"/>
          <p:cNvSpPr/>
          <p:nvPr/>
        </p:nvSpPr>
        <p:spPr>
          <a:xfrm>
            <a:off x="2194560" y="859536"/>
            <a:ext cx="4389120" cy="219456"/>
          </a:xfrm>
          <a:prstGeom prst="rect">
            <a:avLst/>
          </a:prstGeom>
          <a:solidFill>
            <a:srgbClr val="0F3460"/>
          </a:solidFill>
          <a:ln w="3810">
            <a:solidFill>
              <a:srgbClr val="AAAAAA"/>
            </a:solidFill>
            <a:prstDash val="solid"/>
          </a:ln>
        </p:spPr>
      </p:sp>
      <p:sp>
        <p:nvSpPr>
          <p:cNvPr id="13" name="Text 11"/>
          <p:cNvSpPr/>
          <p:nvPr/>
        </p:nvSpPr>
        <p:spPr>
          <a:xfrm>
            <a:off x="2249424" y="859536"/>
            <a:ext cx="4297680" cy="219456"/>
          </a:xfrm>
          <a:prstGeom prst="rect">
            <a:avLst/>
          </a:prstGeom>
          <a:noFill/>
          <a:ln/>
        </p:spPr>
        <p:txBody>
          <a:bodyPr wrap="square" lIns="38100" tIns="38100" rIns="38100" bIns="38100" rtlCol="0" anchor="ctr"/>
          <a:lstStyle/>
          <a:p>
            <a:pPr algn="l" indent="0" marL="0">
              <a:buNone/>
            </a:pPr>
            <a:r>
              <a:rPr lang="en-US" sz="750" b="1" dirty="0">
                <a:solidFill>
                  <a:srgbClr val="FFFFFF"/>
                </a:solidFill>
                <a:latin typeface="Calibri" pitchFamily="34" charset="0"/>
                <a:ea typeface="Calibri" pitchFamily="34" charset="-122"/>
                <a:cs typeface="Calibri" pitchFamily="34" charset="-120"/>
              </a:rPr>
              <a:t>InfoNCE (Pipelines A + B)</a:t>
            </a:r>
            <a:endParaRPr lang="en-US" sz="750" dirty="0"/>
          </a:p>
        </p:txBody>
      </p:sp>
      <p:sp>
        <p:nvSpPr>
          <p:cNvPr id="14" name="Shape 12"/>
          <p:cNvSpPr/>
          <p:nvPr/>
        </p:nvSpPr>
        <p:spPr>
          <a:xfrm>
            <a:off x="6583680" y="859536"/>
            <a:ext cx="4572000" cy="219456"/>
          </a:xfrm>
          <a:prstGeom prst="rect">
            <a:avLst/>
          </a:prstGeom>
          <a:solidFill>
            <a:srgbClr val="0F3460"/>
          </a:solidFill>
          <a:ln w="3810">
            <a:solidFill>
              <a:srgbClr val="AAAAAA"/>
            </a:solidFill>
            <a:prstDash val="solid"/>
          </a:ln>
        </p:spPr>
      </p:sp>
      <p:sp>
        <p:nvSpPr>
          <p:cNvPr id="15" name="Text 13"/>
          <p:cNvSpPr/>
          <p:nvPr/>
        </p:nvSpPr>
        <p:spPr>
          <a:xfrm>
            <a:off x="6638544" y="859536"/>
            <a:ext cx="4480560" cy="219456"/>
          </a:xfrm>
          <a:prstGeom prst="rect">
            <a:avLst/>
          </a:prstGeom>
          <a:noFill/>
          <a:ln/>
        </p:spPr>
        <p:txBody>
          <a:bodyPr wrap="square" lIns="38100" tIns="38100" rIns="38100" bIns="38100" rtlCol="0" anchor="ctr"/>
          <a:lstStyle/>
          <a:p>
            <a:pPr algn="l" indent="0" marL="0">
              <a:buNone/>
            </a:pPr>
            <a:r>
              <a:rPr lang="en-US" sz="750" b="1" dirty="0">
                <a:solidFill>
                  <a:srgbClr val="FFFFFF"/>
                </a:solidFill>
                <a:latin typeface="Calibri" pitchFamily="34" charset="0"/>
                <a:ea typeface="Calibri" pitchFamily="34" charset="-122"/>
                <a:cs typeface="Calibri" pitchFamily="34" charset="-120"/>
              </a:rPr>
              <a:t>SupCon (Pipeline C)</a:t>
            </a:r>
            <a:endParaRPr lang="en-US" sz="750" dirty="0"/>
          </a:p>
        </p:txBody>
      </p:sp>
      <p:sp>
        <p:nvSpPr>
          <p:cNvPr id="16" name="Shape 14"/>
          <p:cNvSpPr/>
          <p:nvPr/>
        </p:nvSpPr>
        <p:spPr>
          <a:xfrm>
            <a:off x="182880" y="1078992"/>
            <a:ext cx="2011680" cy="219456"/>
          </a:xfrm>
          <a:prstGeom prst="rect">
            <a:avLst/>
          </a:prstGeom>
          <a:solidFill>
            <a:srgbClr val="FFFFFF"/>
          </a:solidFill>
          <a:ln w="3810">
            <a:solidFill>
              <a:srgbClr val="AAAAAA"/>
            </a:solidFill>
            <a:prstDash val="solid"/>
          </a:ln>
        </p:spPr>
      </p:sp>
      <p:sp>
        <p:nvSpPr>
          <p:cNvPr id="17" name="Text 15"/>
          <p:cNvSpPr/>
          <p:nvPr/>
        </p:nvSpPr>
        <p:spPr>
          <a:xfrm>
            <a:off x="237744" y="1078992"/>
            <a:ext cx="1920240" cy="219456"/>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Requires</a:t>
            </a:r>
            <a:endParaRPr lang="en-US" sz="750" dirty="0"/>
          </a:p>
        </p:txBody>
      </p:sp>
      <p:sp>
        <p:nvSpPr>
          <p:cNvPr id="18" name="Shape 16"/>
          <p:cNvSpPr/>
          <p:nvPr/>
        </p:nvSpPr>
        <p:spPr>
          <a:xfrm>
            <a:off x="2194560" y="1078992"/>
            <a:ext cx="4389120" cy="219456"/>
          </a:xfrm>
          <a:prstGeom prst="rect">
            <a:avLst/>
          </a:prstGeom>
          <a:solidFill>
            <a:srgbClr val="FFFFFF"/>
          </a:solidFill>
          <a:ln w="3810">
            <a:solidFill>
              <a:srgbClr val="AAAAAA"/>
            </a:solidFill>
            <a:prstDash val="solid"/>
          </a:ln>
        </p:spPr>
      </p:sp>
      <p:sp>
        <p:nvSpPr>
          <p:cNvPr id="19" name="Text 17"/>
          <p:cNvSpPr/>
          <p:nvPr/>
        </p:nvSpPr>
        <p:spPr>
          <a:xfrm>
            <a:off x="2249424" y="1078992"/>
            <a:ext cx="4297680" cy="219456"/>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Paired samples from 2 modalities</a:t>
            </a:r>
            <a:endParaRPr lang="en-US" sz="750" dirty="0"/>
          </a:p>
        </p:txBody>
      </p:sp>
      <p:sp>
        <p:nvSpPr>
          <p:cNvPr id="20" name="Shape 18"/>
          <p:cNvSpPr/>
          <p:nvPr/>
        </p:nvSpPr>
        <p:spPr>
          <a:xfrm>
            <a:off x="6583680" y="1078992"/>
            <a:ext cx="4572000" cy="219456"/>
          </a:xfrm>
          <a:prstGeom prst="rect">
            <a:avLst/>
          </a:prstGeom>
          <a:solidFill>
            <a:srgbClr val="FFFFFF"/>
          </a:solidFill>
          <a:ln w="3810">
            <a:solidFill>
              <a:srgbClr val="AAAAAA"/>
            </a:solidFill>
            <a:prstDash val="solid"/>
          </a:ln>
        </p:spPr>
      </p:sp>
      <p:sp>
        <p:nvSpPr>
          <p:cNvPr id="21" name="Text 19"/>
          <p:cNvSpPr/>
          <p:nvPr/>
        </p:nvSpPr>
        <p:spPr>
          <a:xfrm>
            <a:off x="6638544" y="1078992"/>
            <a:ext cx="4480560" cy="219456"/>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Only class labels (single modality)</a:t>
            </a:r>
            <a:endParaRPr lang="en-US" sz="750" dirty="0"/>
          </a:p>
        </p:txBody>
      </p:sp>
      <p:sp>
        <p:nvSpPr>
          <p:cNvPr id="22" name="Shape 20"/>
          <p:cNvSpPr/>
          <p:nvPr/>
        </p:nvSpPr>
        <p:spPr>
          <a:xfrm>
            <a:off x="182880" y="1298448"/>
            <a:ext cx="2011680" cy="219456"/>
          </a:xfrm>
          <a:prstGeom prst="rect">
            <a:avLst/>
          </a:prstGeom>
          <a:solidFill>
            <a:srgbClr val="F5F5F5"/>
          </a:solidFill>
          <a:ln w="3810">
            <a:solidFill>
              <a:srgbClr val="AAAAAA"/>
            </a:solidFill>
            <a:prstDash val="solid"/>
          </a:ln>
        </p:spPr>
      </p:sp>
      <p:sp>
        <p:nvSpPr>
          <p:cNvPr id="23" name="Text 21"/>
          <p:cNvSpPr/>
          <p:nvPr/>
        </p:nvSpPr>
        <p:spPr>
          <a:xfrm>
            <a:off x="237744" y="1298448"/>
            <a:ext cx="1920240" cy="219456"/>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Positives per anchor</a:t>
            </a:r>
            <a:endParaRPr lang="en-US" sz="750" dirty="0"/>
          </a:p>
        </p:txBody>
      </p:sp>
      <p:sp>
        <p:nvSpPr>
          <p:cNvPr id="24" name="Shape 22"/>
          <p:cNvSpPr/>
          <p:nvPr/>
        </p:nvSpPr>
        <p:spPr>
          <a:xfrm>
            <a:off x="2194560" y="1298448"/>
            <a:ext cx="4389120" cy="219456"/>
          </a:xfrm>
          <a:prstGeom prst="rect">
            <a:avLst/>
          </a:prstGeom>
          <a:solidFill>
            <a:srgbClr val="F5F5F5"/>
          </a:solidFill>
          <a:ln w="3810">
            <a:solidFill>
              <a:srgbClr val="AAAAAA"/>
            </a:solidFill>
            <a:prstDash val="solid"/>
          </a:ln>
        </p:spPr>
      </p:sp>
      <p:sp>
        <p:nvSpPr>
          <p:cNvPr id="25" name="Text 23"/>
          <p:cNvSpPr/>
          <p:nvPr/>
        </p:nvSpPr>
        <p:spPr>
          <a:xfrm>
            <a:off x="2249424" y="1298448"/>
            <a:ext cx="4297680" cy="219456"/>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Exactly 1 (the cross-modal pair)</a:t>
            </a:r>
            <a:endParaRPr lang="en-US" sz="750" dirty="0"/>
          </a:p>
        </p:txBody>
      </p:sp>
      <p:sp>
        <p:nvSpPr>
          <p:cNvPr id="26" name="Shape 24"/>
          <p:cNvSpPr/>
          <p:nvPr/>
        </p:nvSpPr>
        <p:spPr>
          <a:xfrm>
            <a:off x="6583680" y="1298448"/>
            <a:ext cx="4572000" cy="219456"/>
          </a:xfrm>
          <a:prstGeom prst="rect">
            <a:avLst/>
          </a:prstGeom>
          <a:solidFill>
            <a:srgbClr val="F5F5F5"/>
          </a:solidFill>
          <a:ln w="3810">
            <a:solidFill>
              <a:srgbClr val="AAAAAA"/>
            </a:solidFill>
            <a:prstDash val="solid"/>
          </a:ln>
        </p:spPr>
      </p:sp>
      <p:sp>
        <p:nvSpPr>
          <p:cNvPr id="27" name="Text 25"/>
          <p:cNvSpPr/>
          <p:nvPr/>
        </p:nvSpPr>
        <p:spPr>
          <a:xfrm>
            <a:off x="6638544" y="1298448"/>
            <a:ext cx="4480560" cy="219456"/>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All same-class clips in batch: |𝒫(i)|</a:t>
            </a:r>
            <a:endParaRPr lang="en-US" sz="750" dirty="0"/>
          </a:p>
        </p:txBody>
      </p:sp>
      <p:sp>
        <p:nvSpPr>
          <p:cNvPr id="28" name="Shape 26"/>
          <p:cNvSpPr/>
          <p:nvPr/>
        </p:nvSpPr>
        <p:spPr>
          <a:xfrm>
            <a:off x="182880" y="1517904"/>
            <a:ext cx="2011680" cy="219456"/>
          </a:xfrm>
          <a:prstGeom prst="rect">
            <a:avLst/>
          </a:prstGeom>
          <a:solidFill>
            <a:srgbClr val="FFFFFF"/>
          </a:solidFill>
          <a:ln w="3810">
            <a:solidFill>
              <a:srgbClr val="AAAAAA"/>
            </a:solidFill>
            <a:prstDash val="solid"/>
          </a:ln>
        </p:spPr>
      </p:sp>
      <p:sp>
        <p:nvSpPr>
          <p:cNvPr id="29" name="Text 27"/>
          <p:cNvSpPr/>
          <p:nvPr/>
        </p:nvSpPr>
        <p:spPr>
          <a:xfrm>
            <a:off x="237744" y="1517904"/>
            <a:ext cx="1920240" cy="219456"/>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Works without text?</a:t>
            </a:r>
            <a:endParaRPr lang="en-US" sz="750" dirty="0"/>
          </a:p>
        </p:txBody>
      </p:sp>
      <p:sp>
        <p:nvSpPr>
          <p:cNvPr id="30" name="Shape 28"/>
          <p:cNvSpPr/>
          <p:nvPr/>
        </p:nvSpPr>
        <p:spPr>
          <a:xfrm>
            <a:off x="2194560" y="1517904"/>
            <a:ext cx="4389120" cy="219456"/>
          </a:xfrm>
          <a:prstGeom prst="rect">
            <a:avLst/>
          </a:prstGeom>
          <a:solidFill>
            <a:srgbClr val="FFFFFF"/>
          </a:solidFill>
          <a:ln w="3810">
            <a:solidFill>
              <a:srgbClr val="AAAAAA"/>
            </a:solidFill>
            <a:prstDash val="solid"/>
          </a:ln>
        </p:spPr>
      </p:sp>
      <p:sp>
        <p:nvSpPr>
          <p:cNvPr id="31" name="Text 29"/>
          <p:cNvSpPr/>
          <p:nvPr/>
        </p:nvSpPr>
        <p:spPr>
          <a:xfrm>
            <a:off x="2249424" y="1517904"/>
            <a:ext cx="4297680" cy="219456"/>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No — needs (image, caption) or (audio, text)</a:t>
            </a:r>
            <a:endParaRPr lang="en-US" sz="750" dirty="0"/>
          </a:p>
        </p:txBody>
      </p:sp>
      <p:sp>
        <p:nvSpPr>
          <p:cNvPr id="32" name="Shape 30"/>
          <p:cNvSpPr/>
          <p:nvPr/>
        </p:nvSpPr>
        <p:spPr>
          <a:xfrm>
            <a:off x="6583680" y="1517904"/>
            <a:ext cx="4572000" cy="219456"/>
          </a:xfrm>
          <a:prstGeom prst="rect">
            <a:avLst/>
          </a:prstGeom>
          <a:solidFill>
            <a:srgbClr val="FFFFFF"/>
          </a:solidFill>
          <a:ln w="3810">
            <a:solidFill>
              <a:srgbClr val="AAAAAA"/>
            </a:solidFill>
            <a:prstDash val="solid"/>
          </a:ln>
        </p:spPr>
      </p:sp>
      <p:sp>
        <p:nvSpPr>
          <p:cNvPr id="33" name="Text 31"/>
          <p:cNvSpPr/>
          <p:nvPr/>
        </p:nvSpPr>
        <p:spPr>
          <a:xfrm>
            <a:off x="6638544" y="1517904"/>
            <a:ext cx="4480560" cy="219456"/>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Yes — emotion labels only</a:t>
            </a:r>
            <a:endParaRPr lang="en-US" sz="750" dirty="0"/>
          </a:p>
        </p:txBody>
      </p:sp>
      <p:sp>
        <p:nvSpPr>
          <p:cNvPr id="34" name="Shape 32"/>
          <p:cNvSpPr/>
          <p:nvPr/>
        </p:nvSpPr>
        <p:spPr>
          <a:xfrm>
            <a:off x="182880" y="1737360"/>
            <a:ext cx="2011680" cy="219456"/>
          </a:xfrm>
          <a:prstGeom prst="rect">
            <a:avLst/>
          </a:prstGeom>
          <a:solidFill>
            <a:srgbClr val="F5F5F5"/>
          </a:solidFill>
          <a:ln w="3810">
            <a:solidFill>
              <a:srgbClr val="AAAAAA"/>
            </a:solidFill>
            <a:prstDash val="solid"/>
          </a:ln>
        </p:spPr>
      </p:sp>
      <p:sp>
        <p:nvSpPr>
          <p:cNvPr id="35" name="Text 33"/>
          <p:cNvSpPr/>
          <p:nvPr/>
        </p:nvSpPr>
        <p:spPr>
          <a:xfrm>
            <a:off x="237744" y="1737360"/>
            <a:ext cx="1920240" cy="219456"/>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Natural multi-class?</a:t>
            </a:r>
            <a:endParaRPr lang="en-US" sz="750" dirty="0"/>
          </a:p>
        </p:txBody>
      </p:sp>
      <p:sp>
        <p:nvSpPr>
          <p:cNvPr id="36" name="Shape 34"/>
          <p:cNvSpPr/>
          <p:nvPr/>
        </p:nvSpPr>
        <p:spPr>
          <a:xfrm>
            <a:off x="2194560" y="1737360"/>
            <a:ext cx="4389120" cy="219456"/>
          </a:xfrm>
          <a:prstGeom prst="rect">
            <a:avLst/>
          </a:prstGeom>
          <a:solidFill>
            <a:srgbClr val="F5F5F5"/>
          </a:solidFill>
          <a:ln w="3810">
            <a:solidFill>
              <a:srgbClr val="AAAAAA"/>
            </a:solidFill>
            <a:prstDash val="solid"/>
          </a:ln>
        </p:spPr>
      </p:sp>
      <p:sp>
        <p:nvSpPr>
          <p:cNvPr id="37" name="Text 35"/>
          <p:cNvSpPr/>
          <p:nvPr/>
        </p:nvSpPr>
        <p:spPr>
          <a:xfrm>
            <a:off x="2249424" y="1737360"/>
            <a:ext cx="4297680" cy="219456"/>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Not designed for it</a:t>
            </a:r>
            <a:endParaRPr lang="en-US" sz="750" dirty="0"/>
          </a:p>
        </p:txBody>
      </p:sp>
      <p:sp>
        <p:nvSpPr>
          <p:cNvPr id="38" name="Shape 36"/>
          <p:cNvSpPr/>
          <p:nvPr/>
        </p:nvSpPr>
        <p:spPr>
          <a:xfrm>
            <a:off x="6583680" y="1737360"/>
            <a:ext cx="4572000" cy="219456"/>
          </a:xfrm>
          <a:prstGeom prst="rect">
            <a:avLst/>
          </a:prstGeom>
          <a:solidFill>
            <a:srgbClr val="F5F5F5"/>
          </a:solidFill>
          <a:ln w="3810">
            <a:solidFill>
              <a:srgbClr val="AAAAAA"/>
            </a:solidFill>
            <a:prstDash val="solid"/>
          </a:ln>
        </p:spPr>
      </p:sp>
      <p:sp>
        <p:nvSpPr>
          <p:cNvPr id="39" name="Text 37"/>
          <p:cNvSpPr/>
          <p:nvPr/>
        </p:nvSpPr>
        <p:spPr>
          <a:xfrm>
            <a:off x="6638544" y="1737360"/>
            <a:ext cx="4480560" cy="219456"/>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Designed for arbitrary C classes</a:t>
            </a:r>
            <a:endParaRPr lang="en-US" sz="750" dirty="0"/>
          </a:p>
        </p:txBody>
      </p:sp>
      <p:sp>
        <p:nvSpPr>
          <p:cNvPr id="40" name="Shape 38"/>
          <p:cNvSpPr/>
          <p:nvPr/>
        </p:nvSpPr>
        <p:spPr>
          <a:xfrm>
            <a:off x="182880" y="1956816"/>
            <a:ext cx="2011680" cy="219456"/>
          </a:xfrm>
          <a:prstGeom prst="rect">
            <a:avLst/>
          </a:prstGeom>
          <a:solidFill>
            <a:srgbClr val="FFFFFF"/>
          </a:solidFill>
          <a:ln w="3810">
            <a:solidFill>
              <a:srgbClr val="AAAAAA"/>
            </a:solidFill>
            <a:prstDash val="solid"/>
          </a:ln>
        </p:spPr>
      </p:sp>
      <p:sp>
        <p:nvSpPr>
          <p:cNvPr id="41" name="Text 39"/>
          <p:cNvSpPr/>
          <p:nvPr/>
        </p:nvSpPr>
        <p:spPr>
          <a:xfrm>
            <a:off x="237744" y="1956816"/>
            <a:ext cx="1920240" cy="219456"/>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Negatives definition</a:t>
            </a:r>
            <a:endParaRPr lang="en-US" sz="750" dirty="0"/>
          </a:p>
        </p:txBody>
      </p:sp>
      <p:sp>
        <p:nvSpPr>
          <p:cNvPr id="42" name="Shape 40"/>
          <p:cNvSpPr/>
          <p:nvPr/>
        </p:nvSpPr>
        <p:spPr>
          <a:xfrm>
            <a:off x="2194560" y="1956816"/>
            <a:ext cx="4389120" cy="219456"/>
          </a:xfrm>
          <a:prstGeom prst="rect">
            <a:avLst/>
          </a:prstGeom>
          <a:solidFill>
            <a:srgbClr val="FFFFFF"/>
          </a:solidFill>
          <a:ln w="3810">
            <a:solidFill>
              <a:srgbClr val="AAAAAA"/>
            </a:solidFill>
            <a:prstDash val="solid"/>
          </a:ln>
        </p:spPr>
      </p:sp>
      <p:sp>
        <p:nvSpPr>
          <p:cNvPr id="43" name="Text 41"/>
          <p:cNvSpPr/>
          <p:nvPr/>
        </p:nvSpPr>
        <p:spPr>
          <a:xfrm>
            <a:off x="2249424" y="1956816"/>
            <a:ext cx="4297680" cy="219456"/>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All non-paired samples in batch</a:t>
            </a:r>
            <a:endParaRPr lang="en-US" sz="750" dirty="0"/>
          </a:p>
        </p:txBody>
      </p:sp>
      <p:sp>
        <p:nvSpPr>
          <p:cNvPr id="44" name="Shape 42"/>
          <p:cNvSpPr/>
          <p:nvPr/>
        </p:nvSpPr>
        <p:spPr>
          <a:xfrm>
            <a:off x="6583680" y="1956816"/>
            <a:ext cx="4572000" cy="219456"/>
          </a:xfrm>
          <a:prstGeom prst="rect">
            <a:avLst/>
          </a:prstGeom>
          <a:solidFill>
            <a:srgbClr val="FFFFFF"/>
          </a:solidFill>
          <a:ln w="3810">
            <a:solidFill>
              <a:srgbClr val="AAAAAA"/>
            </a:solidFill>
            <a:prstDash val="solid"/>
          </a:ln>
        </p:spPr>
      </p:sp>
      <p:sp>
        <p:nvSpPr>
          <p:cNvPr id="45" name="Text 43"/>
          <p:cNvSpPr/>
          <p:nvPr/>
        </p:nvSpPr>
        <p:spPr>
          <a:xfrm>
            <a:off x="6638544" y="1956816"/>
            <a:ext cx="4480560" cy="219456"/>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All samples with different label</a:t>
            </a:r>
            <a:endParaRPr lang="en-US" sz="750" dirty="0"/>
          </a:p>
        </p:txBody>
      </p:sp>
      <p:sp>
        <p:nvSpPr>
          <p:cNvPr id="46" name="Shape 44"/>
          <p:cNvSpPr/>
          <p:nvPr/>
        </p:nvSpPr>
        <p:spPr>
          <a:xfrm>
            <a:off x="182880" y="2176272"/>
            <a:ext cx="2011680" cy="219456"/>
          </a:xfrm>
          <a:prstGeom prst="rect">
            <a:avLst/>
          </a:prstGeom>
          <a:solidFill>
            <a:srgbClr val="F5F5F5"/>
          </a:solidFill>
          <a:ln w="3810">
            <a:solidFill>
              <a:srgbClr val="AAAAAA"/>
            </a:solidFill>
            <a:prstDash val="solid"/>
          </a:ln>
        </p:spPr>
      </p:sp>
      <p:sp>
        <p:nvSpPr>
          <p:cNvPr id="47" name="Text 45"/>
          <p:cNvSpPr/>
          <p:nvPr/>
        </p:nvSpPr>
        <p:spPr>
          <a:xfrm>
            <a:off x="237744" y="2176272"/>
            <a:ext cx="1920240" cy="219456"/>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Collapse risk</a:t>
            </a:r>
            <a:endParaRPr lang="en-US" sz="750" dirty="0"/>
          </a:p>
        </p:txBody>
      </p:sp>
      <p:sp>
        <p:nvSpPr>
          <p:cNvPr id="48" name="Shape 46"/>
          <p:cNvSpPr/>
          <p:nvPr/>
        </p:nvSpPr>
        <p:spPr>
          <a:xfrm>
            <a:off x="2194560" y="2176272"/>
            <a:ext cx="4389120" cy="219456"/>
          </a:xfrm>
          <a:prstGeom prst="rect">
            <a:avLst/>
          </a:prstGeom>
          <a:solidFill>
            <a:srgbClr val="F5F5F5"/>
          </a:solidFill>
          <a:ln w="3810">
            <a:solidFill>
              <a:srgbClr val="AAAAAA"/>
            </a:solidFill>
            <a:prstDash val="solid"/>
          </a:ln>
        </p:spPr>
      </p:sp>
      <p:sp>
        <p:nvSpPr>
          <p:cNvPr id="49" name="Text 47"/>
          <p:cNvSpPr/>
          <p:nvPr/>
        </p:nvSpPr>
        <p:spPr>
          <a:xfrm>
            <a:off x="2249424" y="2176272"/>
            <a:ext cx="4297680" cy="219456"/>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High if C classes &gt; 2</a:t>
            </a:r>
            <a:endParaRPr lang="en-US" sz="750" dirty="0"/>
          </a:p>
        </p:txBody>
      </p:sp>
      <p:sp>
        <p:nvSpPr>
          <p:cNvPr id="50" name="Shape 48"/>
          <p:cNvSpPr/>
          <p:nvPr/>
        </p:nvSpPr>
        <p:spPr>
          <a:xfrm>
            <a:off x="6583680" y="2176272"/>
            <a:ext cx="4572000" cy="219456"/>
          </a:xfrm>
          <a:prstGeom prst="rect">
            <a:avLst/>
          </a:prstGeom>
          <a:solidFill>
            <a:srgbClr val="F5F5F5"/>
          </a:solidFill>
          <a:ln w="3810">
            <a:solidFill>
              <a:srgbClr val="AAAAAA"/>
            </a:solidFill>
            <a:prstDash val="solid"/>
          </a:ln>
        </p:spPr>
      </p:sp>
      <p:sp>
        <p:nvSpPr>
          <p:cNvPr id="51" name="Text 49"/>
          <p:cNvSpPr/>
          <p:nvPr/>
        </p:nvSpPr>
        <p:spPr>
          <a:xfrm>
            <a:off x="6638544" y="2176272"/>
            <a:ext cx="4480560" cy="219456"/>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Lower — many positives prevent collapse</a:t>
            </a:r>
            <a:endParaRPr lang="en-US" sz="750" dirty="0"/>
          </a:p>
        </p:txBody>
      </p:sp>
      <p:sp>
        <p:nvSpPr>
          <p:cNvPr id="52" name="Shape 50"/>
          <p:cNvSpPr/>
          <p:nvPr/>
        </p:nvSpPr>
        <p:spPr>
          <a:xfrm>
            <a:off x="182880" y="2395728"/>
            <a:ext cx="2011680" cy="219456"/>
          </a:xfrm>
          <a:prstGeom prst="rect">
            <a:avLst/>
          </a:prstGeom>
          <a:solidFill>
            <a:srgbClr val="FFFFFF"/>
          </a:solidFill>
          <a:ln w="3810">
            <a:solidFill>
              <a:srgbClr val="AAAAAA"/>
            </a:solidFill>
            <a:prstDash val="solid"/>
          </a:ln>
        </p:spPr>
      </p:sp>
      <p:sp>
        <p:nvSpPr>
          <p:cNvPr id="53" name="Text 51"/>
          <p:cNvSpPr/>
          <p:nvPr/>
        </p:nvSpPr>
        <p:spPr>
          <a:xfrm>
            <a:off x="237744" y="2395728"/>
            <a:ext cx="1920240" cy="219456"/>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Used in</a:t>
            </a:r>
            <a:endParaRPr lang="en-US" sz="750" dirty="0"/>
          </a:p>
        </p:txBody>
      </p:sp>
      <p:sp>
        <p:nvSpPr>
          <p:cNvPr id="54" name="Shape 52"/>
          <p:cNvSpPr/>
          <p:nvPr/>
        </p:nvSpPr>
        <p:spPr>
          <a:xfrm>
            <a:off x="2194560" y="2395728"/>
            <a:ext cx="4389120" cy="219456"/>
          </a:xfrm>
          <a:prstGeom prst="rect">
            <a:avLst/>
          </a:prstGeom>
          <a:solidFill>
            <a:srgbClr val="FFFFFF"/>
          </a:solidFill>
          <a:ln w="3810">
            <a:solidFill>
              <a:srgbClr val="AAAAAA"/>
            </a:solidFill>
            <a:prstDash val="solid"/>
          </a:ln>
        </p:spPr>
      </p:sp>
      <p:sp>
        <p:nvSpPr>
          <p:cNvPr id="55" name="Text 53"/>
          <p:cNvSpPr/>
          <p:nvPr/>
        </p:nvSpPr>
        <p:spPr>
          <a:xfrm>
            <a:off x="2249424" y="2395728"/>
            <a:ext cx="4297680" cy="219456"/>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COCO (A), ROCO (B)</a:t>
            </a:r>
            <a:endParaRPr lang="en-US" sz="750" dirty="0"/>
          </a:p>
        </p:txBody>
      </p:sp>
      <p:sp>
        <p:nvSpPr>
          <p:cNvPr id="56" name="Shape 54"/>
          <p:cNvSpPr/>
          <p:nvPr/>
        </p:nvSpPr>
        <p:spPr>
          <a:xfrm>
            <a:off x="6583680" y="2395728"/>
            <a:ext cx="4572000" cy="219456"/>
          </a:xfrm>
          <a:prstGeom prst="rect">
            <a:avLst/>
          </a:prstGeom>
          <a:solidFill>
            <a:srgbClr val="FFFFFF"/>
          </a:solidFill>
          <a:ln w="3810">
            <a:solidFill>
              <a:srgbClr val="AAAAAA"/>
            </a:solidFill>
            <a:prstDash val="solid"/>
          </a:ln>
        </p:spPr>
      </p:sp>
      <p:sp>
        <p:nvSpPr>
          <p:cNvPr id="57" name="Text 55"/>
          <p:cNvSpPr/>
          <p:nvPr/>
        </p:nvSpPr>
        <p:spPr>
          <a:xfrm>
            <a:off x="6638544" y="2395728"/>
            <a:ext cx="4480560" cy="219456"/>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RAVDESS (C) — audio-only emotion</a:t>
            </a:r>
            <a:endParaRPr lang="en-US" sz="750" dirty="0"/>
          </a:p>
        </p:txBody>
      </p:sp>
      <p:sp>
        <p:nvSpPr>
          <p:cNvPr id="58" name="Shape 56"/>
          <p:cNvSpPr/>
          <p:nvPr/>
        </p:nvSpPr>
        <p:spPr>
          <a:xfrm>
            <a:off x="182880" y="2706624"/>
            <a:ext cx="36576" cy="237744"/>
          </a:xfrm>
          <a:prstGeom prst="rect">
            <a:avLst/>
          </a:prstGeom>
          <a:solidFill>
            <a:srgbClr val="1A6B30"/>
          </a:solidFill>
          <a:ln w="12700">
            <a:solidFill>
              <a:srgbClr val="1A6B30"/>
            </a:solidFill>
            <a:prstDash val="solid"/>
          </a:ln>
        </p:spPr>
      </p:sp>
      <p:sp>
        <p:nvSpPr>
          <p:cNvPr id="59" name="Text 57"/>
          <p:cNvSpPr/>
          <p:nvPr/>
        </p:nvSpPr>
        <p:spPr>
          <a:xfrm>
            <a:off x="256032" y="2706624"/>
            <a:ext cx="5486400" cy="237744"/>
          </a:xfrm>
          <a:prstGeom prst="rect">
            <a:avLst/>
          </a:prstGeom>
          <a:noFill/>
          <a:ln/>
        </p:spPr>
        <p:txBody>
          <a:bodyPr wrap="square" lIns="38100" tIns="38100" rIns="38100" bIns="38100" rtlCol="0" anchor="ctr"/>
          <a:lstStyle/>
          <a:p>
            <a:pPr algn="l" indent="0" marL="0">
              <a:buNone/>
            </a:pPr>
            <a:r>
              <a:rPr lang="en-US" sz="800" b="1" dirty="0">
                <a:solidFill>
                  <a:srgbClr val="1A6B30"/>
                </a:solidFill>
                <a:latin typeface="Calibri" pitchFamily="34" charset="0"/>
                <a:ea typeface="Calibri" pitchFamily="34" charset="-122"/>
                <a:cs typeface="Calibri" pitchFamily="34" charset="-120"/>
              </a:rPr>
              <a:t>SupCon Loss — Full Mathematical Formulation (Khosla et al. 2020)</a:t>
            </a:r>
            <a:endParaRPr lang="en-US" sz="800" dirty="0"/>
          </a:p>
        </p:txBody>
      </p:sp>
      <p:sp>
        <p:nvSpPr>
          <p:cNvPr id="60" name="Shape 58"/>
          <p:cNvSpPr/>
          <p:nvPr/>
        </p:nvSpPr>
        <p:spPr>
          <a:xfrm>
            <a:off x="182880" y="2926080"/>
            <a:ext cx="7315200" cy="2542032"/>
          </a:xfrm>
          <a:prstGeom prst="rect">
            <a:avLst/>
          </a:prstGeom>
          <a:solidFill>
            <a:srgbClr val="D8F2DF"/>
          </a:solidFill>
          <a:ln w="12700">
            <a:solidFill>
              <a:srgbClr val="1A6B30"/>
            </a:solidFill>
            <a:prstDash val="solid"/>
          </a:ln>
          <a:effectLst>
            <a:outerShdw sx="100000" sy="100000" kx="0" ky="0" algn="bl" rotWithShape="0" blurRad="38100" dist="25400" dir="8100000">
              <a:srgbClr val="000000">
                <a:alpha val="9000"/>
              </a:srgbClr>
            </a:outerShdw>
          </a:effectLst>
        </p:spPr>
      </p:sp>
      <p:sp>
        <p:nvSpPr>
          <p:cNvPr id="61" name="Text 59"/>
          <p:cNvSpPr/>
          <p:nvPr/>
        </p:nvSpPr>
        <p:spPr>
          <a:xfrm>
            <a:off x="274320" y="2926080"/>
            <a:ext cx="7132320" cy="256032"/>
          </a:xfrm>
          <a:prstGeom prst="rect">
            <a:avLst/>
          </a:prstGeom>
          <a:noFill/>
          <a:ln/>
        </p:spPr>
        <p:txBody>
          <a:bodyPr wrap="square" lIns="38100" tIns="38100" rIns="38100" bIns="38100" rtlCol="0" anchor="ctr"/>
          <a:lstStyle/>
          <a:p>
            <a:pPr algn="l" indent="0" marL="0">
              <a:buNone/>
            </a:pPr>
            <a:r>
              <a:rPr lang="en-US" sz="950" b="1" dirty="0">
                <a:solidFill>
                  <a:srgbClr val="1A6B30"/>
                </a:solidFill>
                <a:latin typeface="Calibri" pitchFamily="34" charset="0"/>
                <a:ea typeface="Calibri" pitchFamily="34" charset="-122"/>
                <a:cs typeface="Calibri" pitchFamily="34" charset="-120"/>
              </a:rPr>
              <a:t>Formal Definitions</a:t>
            </a:r>
            <a:endParaRPr lang="en-US" sz="950" dirty="0"/>
          </a:p>
        </p:txBody>
      </p:sp>
      <p:sp>
        <p:nvSpPr>
          <p:cNvPr id="62" name="Text 60"/>
          <p:cNvSpPr/>
          <p:nvPr/>
        </p:nvSpPr>
        <p:spPr>
          <a:xfrm>
            <a:off x="274320" y="3163824"/>
            <a:ext cx="7132320" cy="201168"/>
          </a:xfrm>
          <a:prstGeom prst="rect">
            <a:avLst/>
          </a:prstGeom>
          <a:noFill/>
          <a:ln/>
        </p:spPr>
        <p:txBody>
          <a:bodyPr wrap="square" lIns="38100" tIns="38100" rIns="38100" bIns="38100" rtlCol="0" anchor="ctr"/>
          <a:lstStyle/>
          <a:p>
            <a:pPr algn="l" indent="0" marL="0">
              <a:buNone/>
            </a:pPr>
            <a:r>
              <a:rPr lang="en-US" sz="800" dirty="0">
                <a:solidFill>
                  <a:srgbClr val="1A1A1A"/>
                </a:solidFill>
                <a:latin typeface="Calibri" pitchFamily="34" charset="0"/>
                <a:ea typeface="Calibri" pitchFamily="34" charset="-122"/>
                <a:cs typeface="Calibri" pitchFamily="34" charset="-120"/>
              </a:rPr>
              <a:t>Let I = {1,...,B} be the batch index set. For anchor i with label y_i:</a:t>
            </a:r>
            <a:endParaRPr lang="en-US" sz="800" dirty="0"/>
          </a:p>
        </p:txBody>
      </p:sp>
      <p:sp>
        <p:nvSpPr>
          <p:cNvPr id="63" name="Text 61"/>
          <p:cNvSpPr/>
          <p:nvPr/>
        </p:nvSpPr>
        <p:spPr>
          <a:xfrm>
            <a:off x="274320" y="3346704"/>
            <a:ext cx="7132320" cy="219456"/>
          </a:xfrm>
          <a:prstGeom prst="rect">
            <a:avLst/>
          </a:prstGeom>
          <a:noFill/>
          <a:ln/>
        </p:spPr>
        <p:txBody>
          <a:bodyPr wrap="square" lIns="38100" tIns="38100" rIns="38100" bIns="38100" rtlCol="0" anchor="ctr"/>
          <a:lstStyle/>
          <a:p>
            <a:pPr algn="l" indent="0" marL="0">
              <a:buNone/>
            </a:pPr>
            <a:r>
              <a:rPr lang="en-US" sz="850" b="1" dirty="0">
                <a:solidFill>
                  <a:srgbClr val="1A6B30"/>
                </a:solidFill>
                <a:latin typeface="Calibri" pitchFamily="34" charset="0"/>
                <a:ea typeface="Calibri" pitchFamily="34" charset="-122"/>
                <a:cs typeface="Calibri" pitchFamily="34" charset="-120"/>
              </a:rPr>
              <a:t>𝒫(i) = { p ∈ I \ {i}  |  y_p = y_i }     ← same-emotion indices, EXCLUDING self</a:t>
            </a:r>
            <a:endParaRPr lang="en-US" sz="850" dirty="0"/>
          </a:p>
        </p:txBody>
      </p:sp>
      <p:sp>
        <p:nvSpPr>
          <p:cNvPr id="64" name="Text 62"/>
          <p:cNvSpPr/>
          <p:nvPr/>
        </p:nvSpPr>
        <p:spPr>
          <a:xfrm>
            <a:off x="274320" y="3547872"/>
            <a:ext cx="7132320" cy="201168"/>
          </a:xfrm>
          <a:prstGeom prst="rect">
            <a:avLst/>
          </a:prstGeom>
          <a:noFill/>
          <a:ln/>
        </p:spPr>
        <p:txBody>
          <a:bodyPr wrap="square" lIns="38100" tIns="38100" rIns="38100" bIns="38100" rtlCol="0" anchor="ctr"/>
          <a:lstStyle/>
          <a:p>
            <a:pPr algn="l" indent="0" marL="0">
              <a:buNone/>
            </a:pPr>
            <a:r>
              <a:rPr lang="en-US" sz="800" dirty="0">
                <a:solidFill>
                  <a:srgbClr val="1A1A1A"/>
                </a:solidFill>
                <a:latin typeface="Calibri" pitchFamily="34" charset="0"/>
                <a:ea typeface="Calibri" pitchFamily="34" charset="-122"/>
                <a:cs typeface="Calibri" pitchFamily="34" charset="-120"/>
              </a:rPr>
              <a:t>A(i) = I \ {i}                              ← ALL other samples (denominator set)</a:t>
            </a:r>
            <a:endParaRPr lang="en-US" sz="800" dirty="0"/>
          </a:p>
        </p:txBody>
      </p:sp>
      <p:sp>
        <p:nvSpPr>
          <p:cNvPr id="65" name="Text 63"/>
          <p:cNvSpPr/>
          <p:nvPr/>
        </p:nvSpPr>
        <p:spPr>
          <a:xfrm>
            <a:off x="274320" y="3749040"/>
            <a:ext cx="7132320" cy="201168"/>
          </a:xfrm>
          <a:prstGeom prst="rect">
            <a:avLst/>
          </a:prstGeom>
          <a:noFill/>
          <a:ln/>
        </p:spPr>
        <p:txBody>
          <a:bodyPr wrap="square" lIns="38100" tIns="38100" rIns="38100" bIns="38100" rtlCol="0" anchor="ctr"/>
          <a:lstStyle/>
          <a:p>
            <a:pPr algn="l" indent="0" marL="0">
              <a:buNone/>
            </a:pPr>
            <a:r>
              <a:rPr lang="en-US" sz="850" b="1" dirty="0">
                <a:solidFill>
                  <a:srgbClr val="1A6B30"/>
                </a:solidFill>
                <a:latin typeface="Calibri" pitchFamily="34" charset="0"/>
                <a:ea typeface="Calibri" pitchFamily="34" charset="-122"/>
                <a:cs typeface="Calibri" pitchFamily="34" charset="-120"/>
              </a:rPr>
              <a:t>Supervised Contrastive Loss:</a:t>
            </a:r>
            <a:endParaRPr lang="en-US" sz="850" dirty="0"/>
          </a:p>
        </p:txBody>
      </p:sp>
      <p:sp>
        <p:nvSpPr>
          <p:cNvPr id="66" name="Text 64"/>
          <p:cNvSpPr/>
          <p:nvPr/>
        </p:nvSpPr>
        <p:spPr>
          <a:xfrm>
            <a:off x="274320" y="3931920"/>
            <a:ext cx="7132320" cy="274320"/>
          </a:xfrm>
          <a:prstGeom prst="rect">
            <a:avLst/>
          </a:prstGeom>
          <a:noFill/>
          <a:ln/>
        </p:spPr>
        <p:txBody>
          <a:bodyPr wrap="square" lIns="38100" tIns="38100" rIns="38100" bIns="38100" rtlCol="0" anchor="ctr"/>
          <a:lstStyle/>
          <a:p>
            <a:pPr algn="ctr" indent="0" marL="0">
              <a:buNone/>
            </a:pPr>
            <a:r>
              <a:rPr lang="en-US" sz="950" b="1" dirty="0">
                <a:solidFill>
                  <a:srgbClr val="1A6B30"/>
                </a:solidFill>
                <a:latin typeface="Calibri" pitchFamily="34" charset="0"/>
                <a:ea typeface="Calibri" pitchFamily="34" charset="-122"/>
                <a:cs typeface="Calibri" pitchFamily="34" charset="-120"/>
              </a:rPr>
              <a:t>L_SupCon = Σᵢ  (−1/|𝒫(i)|)  ·  Σ_{p∈𝒫(i)}  log [ exp(êᵢ·ê_p / τ) / Σ_{a∈A(i)} exp(êᵢ·ê_a / τ) ]</a:t>
            </a:r>
            <a:endParaRPr lang="en-US" sz="950" dirty="0"/>
          </a:p>
        </p:txBody>
      </p:sp>
      <p:sp>
        <p:nvSpPr>
          <p:cNvPr id="67" name="Text 65"/>
          <p:cNvSpPr/>
          <p:nvPr/>
        </p:nvSpPr>
        <p:spPr>
          <a:xfrm>
            <a:off x="274320" y="4206240"/>
            <a:ext cx="7132320" cy="310896"/>
          </a:xfrm>
          <a:prstGeom prst="rect">
            <a:avLst/>
          </a:prstGeom>
          <a:noFill/>
          <a:ln/>
        </p:spPr>
        <p:txBody>
          <a:bodyPr wrap="square" lIns="38100" tIns="38100" rIns="38100" bIns="38100" rtlCol="0" anchor="t"/>
          <a:lstStyle/>
          <a:p>
            <a:pPr algn="l" indent="0" marL="0">
              <a:buNone/>
            </a:pPr>
            <a:r>
              <a:rPr lang="en-US" sz="750" dirty="0">
                <a:solidFill>
                  <a:srgbClr val="444444"/>
                </a:solidFill>
                <a:latin typeface="Calibri" pitchFamily="34" charset="0"/>
                <a:ea typeface="Calibri" pitchFamily="34" charset="-122"/>
                <a:cs typeface="Calibri" pitchFamily="34" charset="-120"/>
              </a:rPr>
              <a:t>where êᵢ = F.normalize(eᵢ, p=2, dim=1)  (L2-normalised embedding)</a:t>
            </a:r>
            <a:endParaRPr lang="en-US" sz="750" dirty="0"/>
          </a:p>
          <a:p>
            <a:pPr algn="l" indent="0" marL="0">
              <a:buNone/>
            </a:pPr>
            <a:r>
              <a:rPr lang="en-US" sz="750" dirty="0">
                <a:solidFill>
                  <a:srgbClr val="444444"/>
                </a:solidFill>
                <a:latin typeface="Calibri" pitchFamily="34" charset="0"/>
                <a:ea typeface="Calibri" pitchFamily="34" charset="-122"/>
                <a:cs typeface="Calibri" pitchFamily="34" charset="-120"/>
              </a:rPr>
              <a:t>τ = 0.07 (temperature — same as InfoNCE in Pipelines A+B for consistency)</a:t>
            </a:r>
            <a:endParaRPr lang="en-US" sz="750" dirty="0"/>
          </a:p>
          <a:p>
            <a:pPr algn="l" indent="0" marL="0">
              <a:buNone/>
            </a:pPr>
            <a:r>
              <a:rPr lang="en-US" sz="750" dirty="0">
                <a:solidFill>
                  <a:srgbClr val="444444"/>
                </a:solidFill>
                <a:latin typeface="Calibri" pitchFamily="34" charset="0"/>
                <a:ea typeface="Calibri" pitchFamily="34" charset="-122"/>
                <a:cs typeface="Calibri" pitchFamily="34" charset="-120"/>
              </a:rPr>
              <a:t>Denominator: ALL other B-1 samples (not just negatives — critical difference from InfoNCE)</a:t>
            </a:r>
            <a:endParaRPr lang="en-US" sz="750" dirty="0"/>
          </a:p>
        </p:txBody>
      </p:sp>
      <p:sp>
        <p:nvSpPr>
          <p:cNvPr id="68" name="Shape 66"/>
          <p:cNvSpPr/>
          <p:nvPr/>
        </p:nvSpPr>
        <p:spPr>
          <a:xfrm>
            <a:off x="182880" y="5541264"/>
            <a:ext cx="36576" cy="237744"/>
          </a:xfrm>
          <a:prstGeom prst="rect">
            <a:avLst/>
          </a:prstGeom>
          <a:solidFill>
            <a:srgbClr val="7B1FA2"/>
          </a:solidFill>
          <a:ln w="12700">
            <a:solidFill>
              <a:srgbClr val="7B1FA2"/>
            </a:solidFill>
            <a:prstDash val="solid"/>
          </a:ln>
        </p:spPr>
      </p:sp>
      <p:sp>
        <p:nvSpPr>
          <p:cNvPr id="69" name="Text 67"/>
          <p:cNvSpPr/>
          <p:nvPr/>
        </p:nvSpPr>
        <p:spPr>
          <a:xfrm>
            <a:off x="256032" y="5541264"/>
            <a:ext cx="5486400" cy="237744"/>
          </a:xfrm>
          <a:prstGeom prst="rect">
            <a:avLst/>
          </a:prstGeom>
          <a:noFill/>
          <a:ln/>
        </p:spPr>
        <p:txBody>
          <a:bodyPr wrap="square" lIns="38100" tIns="38100" rIns="38100" bIns="38100" rtlCol="0" anchor="ctr"/>
          <a:lstStyle/>
          <a:p>
            <a:pPr algn="l" indent="0" marL="0">
              <a:buNone/>
            </a:pPr>
            <a:r>
              <a:rPr lang="en-US" sz="800" b="1" dirty="0">
                <a:solidFill>
                  <a:srgbClr val="7B1FA2"/>
                </a:solidFill>
                <a:latin typeface="Calibri" pitchFamily="34" charset="0"/>
                <a:ea typeface="Calibri" pitchFamily="34" charset="-122"/>
                <a:cs typeface="Calibri" pitchFamily="34" charset="-120"/>
              </a:rPr>
              <a:t>Step-by-Step Computation (supcon_loss implementation)</a:t>
            </a:r>
            <a:endParaRPr lang="en-US" sz="800" dirty="0"/>
          </a:p>
        </p:txBody>
      </p:sp>
      <p:sp>
        <p:nvSpPr>
          <p:cNvPr id="70" name="Shape 68"/>
          <p:cNvSpPr/>
          <p:nvPr/>
        </p:nvSpPr>
        <p:spPr>
          <a:xfrm>
            <a:off x="182880" y="5742432"/>
            <a:ext cx="7315200" cy="804672"/>
          </a:xfrm>
          <a:prstGeom prst="rect">
            <a:avLst/>
          </a:prstGeom>
          <a:solidFill>
            <a:srgbClr val="1E1E2E"/>
          </a:solidFill>
          <a:ln w="10160">
            <a:solidFill>
              <a:srgbClr val="AAAAAA"/>
            </a:solidFill>
            <a:prstDash val="solid"/>
          </a:ln>
        </p:spPr>
      </p:sp>
      <p:sp>
        <p:nvSpPr>
          <p:cNvPr id="71" name="Text 69"/>
          <p:cNvSpPr/>
          <p:nvPr/>
        </p:nvSpPr>
        <p:spPr>
          <a:xfrm>
            <a:off x="274320" y="5779008"/>
            <a:ext cx="7132320" cy="162763"/>
          </a:xfrm>
          <a:prstGeom prst="rect">
            <a:avLst/>
          </a:prstGeom>
          <a:noFill/>
          <a:ln/>
        </p:spPr>
        <p:txBody>
          <a:bodyPr wrap="square" lIns="38100" tIns="38100" rIns="38100" bIns="38100" rtlCol="0" anchor="ctr"/>
          <a:lstStyle/>
          <a:p>
            <a:pPr algn="l" indent="0" marL="0">
              <a:buNone/>
            </a:pPr>
            <a:r>
              <a:rPr lang="en-US" sz="680" dirty="0">
                <a:solidFill>
                  <a:srgbClr val="34D399"/>
                </a:solidFill>
                <a:latin typeface="Consolas" pitchFamily="34" charset="0"/>
                <a:ea typeface="Consolas" pitchFamily="34" charset="-122"/>
                <a:cs typeface="Consolas" pitchFamily="34" charset="-120"/>
              </a:rPr>
              <a:t>1: embs ← F.normalize(embs, p=2, dim=1)    # ensure L2-norm = 1</a:t>
            </a:r>
            <a:endParaRPr lang="en-US" sz="680" dirty="0"/>
          </a:p>
        </p:txBody>
      </p:sp>
      <p:sp>
        <p:nvSpPr>
          <p:cNvPr id="72" name="Text 70"/>
          <p:cNvSpPr/>
          <p:nvPr/>
        </p:nvSpPr>
        <p:spPr>
          <a:xfrm>
            <a:off x="274320" y="5877763"/>
            <a:ext cx="7132320" cy="162763"/>
          </a:xfrm>
          <a:prstGeom prst="rect">
            <a:avLst/>
          </a:prstGeom>
          <a:noFill/>
          <a:ln/>
        </p:spPr>
        <p:txBody>
          <a:bodyPr wrap="square" lIns="38100" tIns="38100" rIns="38100" bIns="38100" rtlCol="0" anchor="ctr"/>
          <a:lstStyle/>
          <a:p>
            <a:pPr algn="l" indent="0" marL="0">
              <a:buNone/>
            </a:pPr>
            <a:r>
              <a:rPr lang="en-US" sz="680" dirty="0">
                <a:solidFill>
                  <a:srgbClr val="34D399"/>
                </a:solidFill>
                <a:latin typeface="Consolas" pitchFamily="34" charset="0"/>
                <a:ea typeface="Consolas" pitchFamily="34" charset="-122"/>
                <a:cs typeface="Consolas" pitchFamily="34" charset="-120"/>
              </a:rPr>
              <a:t>2: sim[i,j] = (êᵢ · êⱼ) / τ               # similarity matrix [B,B]</a:t>
            </a:r>
            <a:endParaRPr lang="en-US" sz="680" dirty="0"/>
          </a:p>
        </p:txBody>
      </p:sp>
      <p:sp>
        <p:nvSpPr>
          <p:cNvPr id="73" name="Text 71"/>
          <p:cNvSpPr/>
          <p:nvPr/>
        </p:nvSpPr>
        <p:spPr>
          <a:xfrm>
            <a:off x="274320" y="5976518"/>
            <a:ext cx="7132320" cy="162763"/>
          </a:xfrm>
          <a:prstGeom prst="rect">
            <a:avLst/>
          </a:prstGeom>
          <a:noFill/>
          <a:ln/>
        </p:spPr>
        <p:txBody>
          <a:bodyPr wrap="square" lIns="38100" tIns="38100" rIns="38100" bIns="38100" rtlCol="0" anchor="ctr"/>
          <a:lstStyle/>
          <a:p>
            <a:pPr algn="l" indent="0" marL="0">
              <a:buNone/>
            </a:pPr>
            <a:r>
              <a:rPr lang="en-US" sz="680" dirty="0">
                <a:solidFill>
                  <a:srgbClr val="94A3B8"/>
                </a:solidFill>
                <a:latin typeface="Consolas" pitchFamily="34" charset="0"/>
                <a:ea typeface="Consolas" pitchFamily="34" charset="-122"/>
                <a:cs typeface="Consolas" pitchFamily="34" charset="-120"/>
              </a:rPr>
              <a:t>3: pos_mask = (labels_i==labels_j) * (1-I_B)  # positives, no self</a:t>
            </a:r>
            <a:endParaRPr lang="en-US" sz="680" dirty="0"/>
          </a:p>
        </p:txBody>
      </p:sp>
      <p:sp>
        <p:nvSpPr>
          <p:cNvPr id="74" name="Text 72"/>
          <p:cNvSpPr/>
          <p:nvPr/>
        </p:nvSpPr>
        <p:spPr>
          <a:xfrm>
            <a:off x="274320" y="6075274"/>
            <a:ext cx="7132320" cy="162763"/>
          </a:xfrm>
          <a:prstGeom prst="rect">
            <a:avLst/>
          </a:prstGeom>
          <a:noFill/>
          <a:ln/>
        </p:spPr>
        <p:txBody>
          <a:bodyPr wrap="square" lIns="38100" tIns="38100" rIns="38100" bIns="38100" rtlCol="0" anchor="ctr"/>
          <a:lstStyle/>
          <a:p>
            <a:pPr algn="l" indent="0" marL="0">
              <a:buNone/>
            </a:pPr>
            <a:r>
              <a:rPr lang="en-US" sz="680" dirty="0">
                <a:solidFill>
                  <a:srgbClr val="94A3B8"/>
                </a:solidFill>
                <a:latin typeface="Consolas" pitchFamily="34" charset="0"/>
                <a:ea typeface="Consolas" pitchFamily="34" charset="-122"/>
                <a:cs typeface="Consolas" pitchFamily="34" charset="-120"/>
              </a:rPr>
              <a:t>4: sim ← sim - sim.max(dim=1).values        # numerical stability (log-sum-exp trick)</a:t>
            </a:r>
            <a:endParaRPr lang="en-US" sz="680" dirty="0"/>
          </a:p>
        </p:txBody>
      </p:sp>
      <p:sp>
        <p:nvSpPr>
          <p:cNvPr id="75" name="Text 73"/>
          <p:cNvSpPr/>
          <p:nvPr/>
        </p:nvSpPr>
        <p:spPr>
          <a:xfrm>
            <a:off x="274320" y="6174029"/>
            <a:ext cx="7132320" cy="162763"/>
          </a:xfrm>
          <a:prstGeom prst="rect">
            <a:avLst/>
          </a:prstGeom>
          <a:noFill/>
          <a:ln/>
        </p:spPr>
        <p:txBody>
          <a:bodyPr wrap="square" lIns="38100" tIns="38100" rIns="38100" bIns="38100" rtlCol="0" anchor="ctr"/>
          <a:lstStyle/>
          <a:p>
            <a:pPr algn="l" indent="0" marL="0">
              <a:buNone/>
            </a:pPr>
            <a:r>
              <a:rPr lang="en-US" sz="680" dirty="0">
                <a:solidFill>
                  <a:srgbClr val="94A3B8"/>
                </a:solidFill>
                <a:latin typeface="Consolas" pitchFamily="34" charset="0"/>
                <a:ea typeface="Consolas" pitchFamily="34" charset="-122"/>
                <a:cs typeface="Consolas" pitchFamily="34" charset="-120"/>
              </a:rPr>
              <a:t>5: log_prob = sim - log(Σⱼ exp(sim)*(1-I_B))  # log-softmax per row</a:t>
            </a:r>
            <a:endParaRPr lang="en-US" sz="680" dirty="0"/>
          </a:p>
        </p:txBody>
      </p:sp>
      <p:sp>
        <p:nvSpPr>
          <p:cNvPr id="76" name="Text 74"/>
          <p:cNvSpPr/>
          <p:nvPr/>
        </p:nvSpPr>
        <p:spPr>
          <a:xfrm>
            <a:off x="274320" y="6272784"/>
            <a:ext cx="7132320" cy="162763"/>
          </a:xfrm>
          <a:prstGeom prst="rect">
            <a:avLst/>
          </a:prstGeom>
          <a:noFill/>
          <a:ln/>
        </p:spPr>
        <p:txBody>
          <a:bodyPr wrap="square" lIns="38100" tIns="38100" rIns="38100" bIns="38100" rtlCol="0" anchor="ctr"/>
          <a:lstStyle/>
          <a:p>
            <a:pPr algn="l" indent="0" marL="0">
              <a:buNone/>
            </a:pPr>
            <a:r>
              <a:rPr lang="en-US" sz="680" dirty="0">
                <a:solidFill>
                  <a:srgbClr val="94A3B8"/>
                </a:solidFill>
                <a:latin typeface="Consolas" pitchFamily="34" charset="0"/>
                <a:ea typeface="Consolas" pitchFamily="34" charset="-122"/>
                <a:cs typeface="Consolas" pitchFamily="34" charset="-120"/>
              </a:rPr>
              <a:t>6: loss_i = -(pos_mask * log_prob).sum(dim=1) / n_positives[i]  # per anchor</a:t>
            </a:r>
            <a:endParaRPr lang="en-US" sz="680" dirty="0"/>
          </a:p>
        </p:txBody>
      </p:sp>
      <p:sp>
        <p:nvSpPr>
          <p:cNvPr id="77" name="Text 75"/>
          <p:cNvSpPr/>
          <p:nvPr/>
        </p:nvSpPr>
        <p:spPr>
          <a:xfrm>
            <a:off x="274320" y="6371539"/>
            <a:ext cx="7132320" cy="162763"/>
          </a:xfrm>
          <a:prstGeom prst="rect">
            <a:avLst/>
          </a:prstGeom>
          <a:noFill/>
          <a:ln/>
        </p:spPr>
        <p:txBody>
          <a:bodyPr wrap="square" lIns="38100" tIns="38100" rIns="38100" bIns="38100" rtlCol="0" anchor="ctr"/>
          <a:lstStyle/>
          <a:p>
            <a:pPr algn="l" indent="0" marL="0">
              <a:buNone/>
            </a:pPr>
            <a:r>
              <a:rPr lang="en-US" sz="680" dirty="0">
                <a:solidFill>
                  <a:srgbClr val="94A3B8"/>
                </a:solidFill>
                <a:latin typeface="Consolas" pitchFamily="34" charset="0"/>
                <a:ea typeface="Consolas" pitchFamily="34" charset="-122"/>
                <a:cs typeface="Consolas" pitchFamily="34" charset="-120"/>
              </a:rPr>
              <a:t>7: valid = (n_positives &gt; 0)  # guard: skip anchors with no positives in batch</a:t>
            </a:r>
            <a:endParaRPr lang="en-US" sz="680" dirty="0"/>
          </a:p>
        </p:txBody>
      </p:sp>
      <p:sp>
        <p:nvSpPr>
          <p:cNvPr id="78" name="Text 76"/>
          <p:cNvSpPr/>
          <p:nvPr/>
        </p:nvSpPr>
        <p:spPr>
          <a:xfrm>
            <a:off x="274320" y="6470294"/>
            <a:ext cx="7132320" cy="162763"/>
          </a:xfrm>
          <a:prstGeom prst="rect">
            <a:avLst/>
          </a:prstGeom>
          <a:noFill/>
          <a:ln/>
        </p:spPr>
        <p:txBody>
          <a:bodyPr wrap="square" lIns="38100" tIns="38100" rIns="38100" bIns="38100" rtlCol="0" anchor="ctr"/>
          <a:lstStyle/>
          <a:p>
            <a:pPr algn="l" indent="0" marL="0">
              <a:buNone/>
            </a:pPr>
            <a:r>
              <a:rPr lang="en-US" sz="680" dirty="0">
                <a:solidFill>
                  <a:srgbClr val="34D399"/>
                </a:solidFill>
                <a:latin typeface="Consolas" pitchFamily="34" charset="0"/>
                <a:ea typeface="Consolas" pitchFamily="34" charset="-122"/>
                <a:cs typeface="Consolas" pitchFamily="34" charset="-120"/>
              </a:rPr>
              <a:t>8: return loss[valid].mean()   # guard return 0.0 if no valid anchors (no crash)</a:t>
            </a:r>
            <a:endParaRPr lang="en-US" sz="680" dirty="0"/>
          </a:p>
        </p:txBody>
      </p:sp>
      <p:sp>
        <p:nvSpPr>
          <p:cNvPr id="79" name="Shape 77"/>
          <p:cNvSpPr/>
          <p:nvPr/>
        </p:nvSpPr>
        <p:spPr>
          <a:xfrm>
            <a:off x="7626096" y="2926080"/>
            <a:ext cx="4352544" cy="3621024"/>
          </a:xfrm>
          <a:prstGeom prst="rect">
            <a:avLst/>
          </a:prstGeom>
          <a:solidFill>
            <a:srgbClr val="D7E4F5"/>
          </a:solidFill>
          <a:ln w="10160">
            <a:solidFill>
              <a:srgbClr val="14407A"/>
            </a:solidFill>
            <a:prstDash val="solid"/>
          </a:ln>
          <a:effectLst>
            <a:outerShdw sx="100000" sy="100000" kx="0" ky="0" algn="bl" rotWithShape="0" blurRad="38100" dist="25400" dir="8100000">
              <a:srgbClr val="000000">
                <a:alpha val="9000"/>
              </a:srgbClr>
            </a:outerShdw>
          </a:effectLst>
        </p:spPr>
      </p:sp>
      <p:sp>
        <p:nvSpPr>
          <p:cNvPr id="80" name="Text 78"/>
          <p:cNvSpPr/>
          <p:nvPr/>
        </p:nvSpPr>
        <p:spPr>
          <a:xfrm>
            <a:off x="7717536" y="2926080"/>
            <a:ext cx="4169664" cy="256032"/>
          </a:xfrm>
          <a:prstGeom prst="rect">
            <a:avLst/>
          </a:prstGeom>
          <a:noFill/>
          <a:ln/>
        </p:spPr>
        <p:txBody>
          <a:bodyPr wrap="square" lIns="38100" tIns="38100" rIns="38100" bIns="38100" rtlCol="0" anchor="ctr"/>
          <a:lstStyle/>
          <a:p>
            <a:pPr algn="l" indent="0" marL="0">
              <a:buNone/>
            </a:pPr>
            <a:r>
              <a:rPr lang="en-US" sz="900" b="1" dirty="0">
                <a:solidFill>
                  <a:srgbClr val="14407A"/>
                </a:solidFill>
                <a:latin typeface="Calibri" pitchFamily="34" charset="0"/>
                <a:ea typeface="Calibri" pitchFamily="34" charset="-122"/>
                <a:cs typeface="Calibri" pitchFamily="34" charset="-120"/>
              </a:rPr>
              <a:t>Random baseline &amp; temperature</a:t>
            </a:r>
            <a:endParaRPr lang="en-US" sz="900" dirty="0"/>
          </a:p>
        </p:txBody>
      </p:sp>
      <p:sp>
        <p:nvSpPr>
          <p:cNvPr id="81" name="Text 79"/>
          <p:cNvSpPr/>
          <p:nvPr/>
        </p:nvSpPr>
        <p:spPr>
          <a:xfrm>
            <a:off x="7717536" y="3163824"/>
            <a:ext cx="4169664" cy="1335024"/>
          </a:xfrm>
          <a:prstGeom prst="rect">
            <a:avLst/>
          </a:prstGeom>
          <a:noFill/>
          <a:ln/>
        </p:spPr>
        <p:txBody>
          <a:bodyPr wrap="square" lIns="38100" tIns="38100" rIns="38100" bIns="38100" rtlCol="0" anchor="t"/>
          <a:lstStyle/>
          <a:p>
            <a:pPr algn="l" indent="0" marL="0">
              <a:buNone/>
            </a:pPr>
            <a:r>
              <a:rPr lang="en-US" sz="800" dirty="0">
                <a:solidFill>
                  <a:srgbClr val="1A1A1A"/>
                </a:solidFill>
                <a:latin typeface="Calibri" pitchFamily="34" charset="0"/>
                <a:ea typeface="Calibri" pitchFamily="34" charset="-122"/>
                <a:cs typeface="Calibri" pitchFamily="34" charset="-120"/>
              </a:rPr>
              <a:t>Random baseline theorem:</a:t>
            </a:r>
            <a:endParaRPr lang="en-US" sz="800" dirty="0"/>
          </a:p>
          <a:p>
            <a:pPr algn="l" indent="0" marL="0">
              <a:buNone/>
            </a:pPr>
            <a:r>
              <a:rPr lang="en-US" sz="800" dirty="0">
                <a:solidFill>
                  <a:srgbClr val="1A1A1A"/>
                </a:solidFill>
                <a:latin typeface="Calibri" pitchFamily="34" charset="0"/>
                <a:ea typeface="Calibri" pitchFamily="34" charset="-122"/>
                <a:cs typeface="Calibri" pitchFamily="34" charset="-120"/>
              </a:rPr>
              <a:t>For B=16, 8 balanced emotions:</a:t>
            </a:r>
            <a:endParaRPr lang="en-US" sz="800" dirty="0"/>
          </a:p>
          <a:p>
            <a:pPr algn="l" indent="0" marL="0">
              <a:buNone/>
            </a:pPr>
            <a:r>
              <a:rPr lang="en-US" sz="800" dirty="0">
                <a:solidFill>
                  <a:srgbClr val="1A1A1A"/>
                </a:solidFill>
                <a:latin typeface="Calibri" pitchFamily="34" charset="0"/>
                <a:ea typeface="Calibri" pitchFamily="34" charset="-122"/>
                <a:cs typeface="Calibri" pitchFamily="34" charset="-120"/>
              </a:rPr>
              <a:t>|𝒫(i)| ≈ 1 positive, 14 negatives.</a:t>
            </a:r>
            <a:endParaRPr lang="en-US" sz="800" dirty="0"/>
          </a:p>
          <a:p>
            <a:pPr algn="l" indent="0" marL="0">
              <a:buNone/>
            </a:pPr>
            <a:r>
              <a:rPr lang="en-US" sz="800" dirty="0">
                <a:solidFill>
                  <a:srgbClr val="1A1A1A"/>
                </a:solidFill>
                <a:latin typeface="Calibri" pitchFamily="34" charset="0"/>
                <a:ea typeface="Calibri" pitchFamily="34" charset="-122"/>
                <a:cs typeface="Calibri" pitchFamily="34" charset="-120"/>
              </a:rPr>
              <a:t>If all similarities equal:</a:t>
            </a:r>
            <a:endParaRPr lang="en-US" sz="800" dirty="0"/>
          </a:p>
          <a:p>
            <a:pPr algn="l" indent="0" marL="0">
              <a:buNone/>
            </a:pPr>
            <a:r>
              <a:rPr lang="en-US" sz="800" dirty="0">
                <a:solidFill>
                  <a:srgbClr val="1A1A1A"/>
                </a:solidFill>
                <a:latin typeface="Calibri" pitchFamily="34" charset="0"/>
                <a:ea typeface="Calibri" pitchFamily="34" charset="-122"/>
                <a:cs typeface="Calibri" pitchFamily="34" charset="-120"/>
              </a:rPr>
              <a:t>-log(1/15) = log(15) ≈ 2.71</a:t>
            </a:r>
            <a:endParaRPr lang="en-US" sz="800" dirty="0"/>
          </a:p>
          <a:p>
            <a:pPr algn="l" indent="0" marL="0">
              <a:buNone/>
            </a:pPr>
            <a:endParaRPr lang="en-US" sz="800" dirty="0"/>
          </a:p>
          <a:p>
            <a:pPr algn="l" indent="0" marL="0">
              <a:buNone/>
            </a:pPr>
            <a:r>
              <a:rPr lang="en-US" sz="800" dirty="0">
                <a:solidFill>
                  <a:srgbClr val="1A1A1A"/>
                </a:solidFill>
                <a:latin typeface="Calibri" pitchFamily="34" charset="0"/>
                <a:ea typeface="Calibri" pitchFamily="34" charset="-122"/>
                <a:cs typeface="Calibri" pitchFamily="34" charset="-120"/>
              </a:rPr>
              <a:t>More precisely: log(B-1) = log(15) ≈ 2.71</a:t>
            </a:r>
            <a:endParaRPr lang="en-US" sz="800" dirty="0"/>
          </a:p>
          <a:p>
            <a:pPr algn="l" indent="0" marL="0">
              <a:buNone/>
            </a:pPr>
            <a:endParaRPr lang="en-US" sz="800" dirty="0"/>
          </a:p>
          <a:p>
            <a:pPr algn="l" indent="0" marL="0">
              <a:buNone/>
            </a:pPr>
            <a:r>
              <a:rPr lang="en-US" sz="800" dirty="0">
                <a:solidFill>
                  <a:srgbClr val="1A1A1A"/>
                </a:solidFill>
                <a:latin typeface="Calibri" pitchFamily="34" charset="0"/>
                <a:ea typeface="Calibri" pitchFamily="34" charset="-122"/>
                <a:cs typeface="Calibri" pitchFamily="34" charset="-120"/>
              </a:rPr>
              <a:t>Target after 30 epochs: &lt; 1.0</a:t>
            </a:r>
            <a:endParaRPr lang="en-US" sz="800" dirty="0"/>
          </a:p>
        </p:txBody>
      </p:sp>
      <p:sp>
        <p:nvSpPr>
          <p:cNvPr id="82" name="Text 80"/>
          <p:cNvSpPr/>
          <p:nvPr/>
        </p:nvSpPr>
        <p:spPr>
          <a:xfrm>
            <a:off x="7717536" y="4535424"/>
            <a:ext cx="4169664" cy="1975104"/>
          </a:xfrm>
          <a:prstGeom prst="rect">
            <a:avLst/>
          </a:prstGeom>
          <a:noFill/>
          <a:ln/>
        </p:spPr>
        <p:txBody>
          <a:bodyPr wrap="square" lIns="38100" tIns="38100" rIns="38100" bIns="38100" rtlCol="0" anchor="t"/>
          <a:lstStyle/>
          <a:p>
            <a:pPr algn="l" indent="0" marL="0">
              <a:buNone/>
            </a:pPr>
            <a:r>
              <a:rPr lang="en-US" sz="800" dirty="0">
                <a:solidFill>
                  <a:srgbClr val="1A1A1A"/>
                </a:solidFill>
                <a:latin typeface="Calibri" pitchFamily="34" charset="0"/>
                <a:ea typeface="Calibri" pitchFamily="34" charset="-122"/>
                <a:cs typeface="Calibri" pitchFamily="34" charset="-120"/>
              </a:rPr>
              <a:t>Temperature effect:</a:t>
            </a:r>
            <a:endParaRPr lang="en-US" sz="800" dirty="0"/>
          </a:p>
          <a:p>
            <a:pPr algn="l" indent="0" marL="0">
              <a:buNone/>
            </a:pPr>
            <a:r>
              <a:rPr lang="en-US" sz="800" dirty="0">
                <a:solidFill>
                  <a:srgbClr val="1A1A1A"/>
                </a:solidFill>
                <a:latin typeface="Calibri" pitchFamily="34" charset="0"/>
                <a:ea typeface="Calibri" pitchFamily="34" charset="-122"/>
                <a:cs typeface="Calibri" pitchFamily="34" charset="-120"/>
              </a:rPr>
              <a:t>|∂L/∂S_ij| ∝ 1/τ</a:t>
            </a:r>
            <a:endParaRPr lang="en-US" sz="800" dirty="0"/>
          </a:p>
          <a:p>
            <a:pPr algn="l" indent="0" marL="0">
              <a:buNone/>
            </a:pPr>
            <a:endParaRPr lang="en-US" sz="800" dirty="0"/>
          </a:p>
          <a:p>
            <a:pPr algn="l" indent="0" marL="0">
              <a:buNone/>
            </a:pPr>
            <a:r>
              <a:rPr lang="en-US" sz="800" dirty="0">
                <a:solidFill>
                  <a:srgbClr val="1A1A1A"/>
                </a:solidFill>
                <a:latin typeface="Calibri" pitchFamily="34" charset="0"/>
                <a:ea typeface="Calibri" pitchFamily="34" charset="-122"/>
                <a:cs typeface="Calibri" pitchFamily="34" charset="-120"/>
              </a:rPr>
              <a:t>τ=0.07 (sharp):</a:t>
            </a:r>
            <a:endParaRPr lang="en-US" sz="800" dirty="0"/>
          </a:p>
          <a:p>
            <a:pPr algn="l" indent="0" marL="0">
              <a:buNone/>
            </a:pPr>
            <a:r>
              <a:rPr lang="en-US" sz="800" dirty="0">
                <a:solidFill>
                  <a:srgbClr val="1A1A1A"/>
                </a:solidFill>
                <a:latin typeface="Calibri" pitchFamily="34" charset="0"/>
                <a:ea typeface="Calibri" pitchFamily="34" charset="-122"/>
                <a:cs typeface="Calibri" pitchFamily="34" charset="-120"/>
              </a:rPr>
              <a:t>→ large gradients</a:t>
            </a:r>
            <a:endParaRPr lang="en-US" sz="800" dirty="0"/>
          </a:p>
          <a:p>
            <a:pPr algn="l" indent="0" marL="0">
              <a:buNone/>
            </a:pPr>
            <a:r>
              <a:rPr lang="en-US" sz="800" dirty="0">
                <a:solidFill>
                  <a:srgbClr val="1A1A1A"/>
                </a:solidFill>
                <a:latin typeface="Calibri" pitchFamily="34" charset="0"/>
                <a:ea typeface="Calibri" pitchFamily="34" charset="-122"/>
                <a:cs typeface="Calibri" pitchFamily="34" charset="-120"/>
              </a:rPr>
              <a:t>→ tight clusters per emotion</a:t>
            </a:r>
            <a:endParaRPr lang="en-US" sz="800" dirty="0"/>
          </a:p>
          <a:p>
            <a:pPr algn="l" indent="0" marL="0">
              <a:buNone/>
            </a:pPr>
            <a:r>
              <a:rPr lang="en-US" sz="800" dirty="0">
                <a:solidFill>
                  <a:srgbClr val="1A1A1A"/>
                </a:solidFill>
                <a:latin typeface="Calibri" pitchFamily="34" charset="0"/>
                <a:ea typeface="Calibri" pitchFamily="34" charset="-122"/>
                <a:cs typeface="Calibri" pitchFamily="34" charset="-120"/>
              </a:rPr>
              <a:t>→ clear centroid separation</a:t>
            </a:r>
            <a:endParaRPr lang="en-US" sz="800" dirty="0"/>
          </a:p>
          <a:p>
            <a:pPr algn="l" indent="0" marL="0">
              <a:buNone/>
            </a:pPr>
            <a:endParaRPr lang="en-US" sz="800" dirty="0"/>
          </a:p>
          <a:p>
            <a:pPr algn="l" indent="0" marL="0">
              <a:buNone/>
            </a:pPr>
            <a:r>
              <a:rPr lang="en-US" sz="800" dirty="0">
                <a:solidFill>
                  <a:srgbClr val="1A1A1A"/>
                </a:solidFill>
                <a:latin typeface="Calibri" pitchFamily="34" charset="0"/>
                <a:ea typeface="Calibri" pitchFamily="34" charset="-122"/>
                <a:cs typeface="Calibri" pitchFamily="34" charset="-120"/>
              </a:rPr>
              <a:t>τ=1.0 (flat):</a:t>
            </a:r>
            <a:endParaRPr lang="en-US" sz="800" dirty="0"/>
          </a:p>
          <a:p>
            <a:pPr algn="l" indent="0" marL="0">
              <a:buNone/>
            </a:pPr>
            <a:r>
              <a:rPr lang="en-US" sz="800" dirty="0">
                <a:solidFill>
                  <a:srgbClr val="1A1A1A"/>
                </a:solidFill>
                <a:latin typeface="Calibri" pitchFamily="34" charset="0"/>
                <a:ea typeface="Calibri" pitchFamily="34" charset="-122"/>
                <a:cs typeface="Calibri" pitchFamily="34" charset="-120"/>
              </a:rPr>
              <a:t>→ near-uniform softmax</a:t>
            </a:r>
            <a:endParaRPr lang="en-US" sz="800" dirty="0"/>
          </a:p>
          <a:p>
            <a:pPr algn="l" indent="0" marL="0">
              <a:buNone/>
            </a:pPr>
            <a:r>
              <a:rPr lang="en-US" sz="800" dirty="0">
                <a:solidFill>
                  <a:srgbClr val="1A1A1A"/>
                </a:solidFill>
                <a:latin typeface="Calibri" pitchFamily="34" charset="0"/>
                <a:ea typeface="Calibri" pitchFamily="34" charset="-122"/>
                <a:cs typeface="Calibri" pitchFamily="34" charset="-120"/>
              </a:rPr>
              <a:t>→ ≈ uniform distribution</a:t>
            </a:r>
            <a:endParaRPr lang="en-US" sz="800" dirty="0"/>
          </a:p>
          <a:p>
            <a:pPr algn="l" indent="0" marL="0">
              <a:buNone/>
            </a:pPr>
            <a:r>
              <a:rPr lang="en-US" sz="800" dirty="0">
                <a:solidFill>
                  <a:srgbClr val="1A1A1A"/>
                </a:solidFill>
                <a:latin typeface="Calibri" pitchFamily="34" charset="0"/>
                <a:ea typeface="Calibri" pitchFamily="34" charset="-122"/>
                <a:cs typeface="Calibri" pitchFamily="34" charset="-120"/>
              </a:rPr>
              <a:t>→ very weak learning signal</a:t>
            </a:r>
            <a:endParaRPr lang="en-US" sz="800" dirty="0"/>
          </a:p>
          <a:p>
            <a:pPr algn="l" indent="0" marL="0">
              <a:buNone/>
            </a:pPr>
            <a:endParaRPr lang="en-US" sz="800" dirty="0"/>
          </a:p>
          <a:p>
            <a:pPr algn="l" indent="0" marL="0">
              <a:buNone/>
            </a:pPr>
            <a:r>
              <a:rPr lang="en-US" sz="800" dirty="0">
                <a:solidFill>
                  <a:srgbClr val="1A1A1A"/>
                </a:solidFill>
                <a:latin typeface="Calibri" pitchFamily="34" charset="0"/>
                <a:ea typeface="Calibri" pitchFamily="34" charset="-122"/>
                <a:cs typeface="Calibri" pitchFamily="34" charset="-120"/>
              </a:rPr>
              <a:t>τ=0.07 matches InfoNCE A+B</a:t>
            </a:r>
            <a:endParaRPr lang="en-US" sz="800" dirty="0"/>
          </a:p>
          <a:p>
            <a:pPr algn="l" indent="0" marL="0">
              <a:buNone/>
            </a:pPr>
            <a:r>
              <a:rPr lang="en-US" sz="800" dirty="0">
                <a:solidFill>
                  <a:srgbClr val="1A1A1A"/>
                </a:solidFill>
                <a:latin typeface="Calibri" pitchFamily="34" charset="0"/>
                <a:ea typeface="Calibri" pitchFamily="34" charset="-122"/>
                <a:cs typeface="Calibri" pitchFamily="34" charset="-120"/>
              </a:rPr>
              <a:t>→ consistent across pipelines</a:t>
            </a:r>
            <a:endParaRPr lang="en-US" sz="800" dirty="0"/>
          </a:p>
        </p:txBody>
      </p:sp>
      <p:sp>
        <p:nvSpPr>
          <p:cNvPr id="83" name="Shape 81"/>
          <p:cNvSpPr/>
          <p:nvPr/>
        </p:nvSpPr>
        <p:spPr>
          <a:xfrm>
            <a:off x="182880" y="6583680"/>
            <a:ext cx="7315200" cy="274320"/>
          </a:xfrm>
          <a:prstGeom prst="rect">
            <a:avLst/>
          </a:prstGeom>
          <a:solidFill>
            <a:srgbClr val="D8F2DF"/>
          </a:solidFill>
          <a:ln w="10160">
            <a:solidFill>
              <a:srgbClr val="1A6B30"/>
            </a:solidFill>
            <a:prstDash val="solid"/>
          </a:ln>
        </p:spPr>
      </p:sp>
      <p:sp>
        <p:nvSpPr>
          <p:cNvPr id="84" name="Text 82"/>
          <p:cNvSpPr/>
          <p:nvPr/>
        </p:nvSpPr>
        <p:spPr>
          <a:xfrm>
            <a:off x="274320" y="6583680"/>
            <a:ext cx="7132320" cy="274320"/>
          </a:xfrm>
          <a:prstGeom prst="rect">
            <a:avLst/>
          </a:prstGeom>
          <a:noFill/>
          <a:ln/>
        </p:spPr>
        <p:txBody>
          <a:bodyPr wrap="square" lIns="38100" tIns="38100" rIns="38100" bIns="38100" rtlCol="0" anchor="ctr"/>
          <a:lstStyle/>
          <a:p>
            <a:pPr algn="l" indent="0" marL="0">
              <a:buNone/>
            </a:pPr>
            <a:r>
              <a:rPr lang="en-US" sz="750" dirty="0">
                <a:solidFill>
                  <a:srgbClr val="1A6B30"/>
                </a:solidFill>
                <a:latin typeface="Calibri" pitchFamily="34" charset="0"/>
                <a:ea typeface="Calibri" pitchFamily="34" charset="-122"/>
                <a:cs typeface="Calibri" pitchFamily="34" charset="-120"/>
              </a:rPr>
              <a:t>Lemma — Positive Pair Existence: SupCon requires ∃ anchor i with |𝒫(i)|&gt;0. With B=16, 8 balanced emotions, drop_last=True: E[n_c]≈2/class → 8×2×1=16 positive pairs per batch guaranteed.</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61520" cy="502920"/>
          </a:xfrm>
          <a:prstGeom prst="rect">
            <a:avLst/>
          </a:prstGeom>
          <a:solidFill>
            <a:srgbClr val="0F3460"/>
          </a:solidFill>
          <a:ln w="12700">
            <a:solidFill>
              <a:srgbClr val="0F3460"/>
            </a:solidFill>
            <a:prstDash val="solid"/>
          </a:ln>
        </p:spPr>
      </p:sp>
      <p:sp>
        <p:nvSpPr>
          <p:cNvPr id="3" name="Text 1"/>
          <p:cNvSpPr/>
          <p:nvPr/>
        </p:nvSpPr>
        <p:spPr>
          <a:xfrm>
            <a:off x="228600" y="0"/>
            <a:ext cx="10515600" cy="502920"/>
          </a:xfrm>
          <a:prstGeom prst="rect">
            <a:avLst/>
          </a:prstGeom>
          <a:noFill/>
          <a:ln/>
        </p:spPr>
        <p:txBody>
          <a:bodyPr wrap="square" lIns="38100" tIns="38100" rIns="38100" bIns="3810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Pipeline C — Training Configuration, LR Schedule &amp; Full Training Loop</a:t>
            </a:r>
            <a:endParaRPr lang="en-US" sz="1400" dirty="0"/>
          </a:p>
        </p:txBody>
      </p:sp>
      <p:sp>
        <p:nvSpPr>
          <p:cNvPr id="4" name="Text 2"/>
          <p:cNvSpPr/>
          <p:nvPr/>
        </p:nvSpPr>
        <p:spPr>
          <a:xfrm>
            <a:off x="10789920" y="0"/>
            <a:ext cx="1188720" cy="502920"/>
          </a:xfrm>
          <a:prstGeom prst="rect">
            <a:avLst/>
          </a:prstGeom>
          <a:noFill/>
          <a:ln/>
        </p:spPr>
        <p:txBody>
          <a:bodyPr wrap="square" lIns="38100" tIns="38100" rIns="38100" bIns="38100" rtlCol="0" anchor="ctr"/>
          <a:lstStyle/>
          <a:p>
            <a:pPr algn="r" indent="0" marL="0">
              <a:buNone/>
            </a:pPr>
            <a:r>
              <a:rPr lang="en-US" sz="1100" b="1" dirty="0">
                <a:solidFill>
                  <a:srgbClr val="9EC8FF"/>
                </a:solidFill>
                <a:latin typeface="Calibri" pitchFamily="34" charset="0"/>
                <a:ea typeface="Calibri" pitchFamily="34" charset="-122"/>
                <a:cs typeface="Calibri" pitchFamily="34" charset="-120"/>
              </a:rPr>
              <a:t>6/9</a:t>
            </a:r>
            <a:endParaRPr lang="en-US" sz="1100" dirty="0"/>
          </a:p>
        </p:txBody>
      </p:sp>
      <p:sp>
        <p:nvSpPr>
          <p:cNvPr id="5" name="Text 3"/>
          <p:cNvSpPr/>
          <p:nvPr/>
        </p:nvSpPr>
        <p:spPr>
          <a:xfrm>
            <a:off x="228600" y="274320"/>
            <a:ext cx="11704320" cy="237744"/>
          </a:xfrm>
          <a:prstGeom prst="rect">
            <a:avLst/>
          </a:prstGeom>
          <a:noFill/>
          <a:ln/>
        </p:spPr>
        <p:txBody>
          <a:bodyPr wrap="square" lIns="38100" tIns="38100" rIns="38100" bIns="38100" rtlCol="0" anchor="ctr"/>
          <a:lstStyle/>
          <a:p>
            <a:pPr algn="l" indent="0" marL="0">
              <a:buNone/>
            </a:pPr>
            <a:r>
              <a:rPr lang="en-US" sz="750" dirty="0">
                <a:solidFill>
                  <a:srgbClr val="9EC8FF"/>
                </a:solidFill>
                <a:latin typeface="Calibri" pitchFamily="34" charset="0"/>
                <a:ea typeface="Calibri" pitchFamily="34" charset="-122"/>
                <a:cs typeface="Calibri" pitchFamily="34" charset="-120"/>
              </a:rPr>
              <a:t>AdamW  |  LR=1e-4  |  Warmup 10% + cosine decay  |  grad clip 1.0  |  30 epochs  |  ~27 min on T4</a:t>
            </a:r>
            <a:endParaRPr lang="en-US" sz="750" dirty="0"/>
          </a:p>
        </p:txBody>
      </p:sp>
      <p:sp>
        <p:nvSpPr>
          <p:cNvPr id="6" name="Shape 4"/>
          <p:cNvSpPr/>
          <p:nvPr/>
        </p:nvSpPr>
        <p:spPr>
          <a:xfrm>
            <a:off x="0" y="6583680"/>
            <a:ext cx="12161520" cy="274320"/>
          </a:xfrm>
          <a:prstGeom prst="rect">
            <a:avLst/>
          </a:prstGeom>
          <a:solidFill>
            <a:srgbClr val="0F3460"/>
          </a:solidFill>
          <a:ln w="12700">
            <a:solidFill>
              <a:srgbClr val="0F3460"/>
            </a:solidFill>
            <a:prstDash val="solid"/>
          </a:ln>
        </p:spPr>
      </p:sp>
      <p:sp>
        <p:nvSpPr>
          <p:cNvPr id="7" name="Text 5"/>
          <p:cNvSpPr/>
          <p:nvPr/>
        </p:nvSpPr>
        <p:spPr>
          <a:xfrm>
            <a:off x="228600" y="6583680"/>
            <a:ext cx="11704320" cy="274320"/>
          </a:xfrm>
          <a:prstGeom prst="rect">
            <a:avLst/>
          </a:prstGeom>
          <a:noFill/>
          <a:ln/>
        </p:spPr>
        <p:txBody>
          <a:bodyPr wrap="square" lIns="38100" tIns="38100" rIns="38100" bIns="38100" rtlCol="0" anchor="ctr"/>
          <a:lstStyle/>
          <a:p>
            <a:pPr algn="l" indent="0" marL="0">
              <a:buNone/>
            </a:pPr>
            <a:r>
              <a:rPr lang="en-US" sz="600" dirty="0">
                <a:solidFill>
                  <a:srgbClr val="9EC8FF"/>
                </a:solidFill>
                <a:latin typeface="Calibri" pitchFamily="34" charset="0"/>
                <a:ea typeface="Calibri" pitchFamily="34" charset="-122"/>
                <a:cs typeface="Calibri" pitchFamily="34" charset="-120"/>
              </a:rPr>
              <a:t>MIVA-KNIGHT  |  IT 581 Capstone  |  Concordia University of Edmonton  |  Pipeline C — RAVDESS Standalone Audio Emotion Training</a:t>
            </a:r>
            <a:endParaRPr lang="en-US" sz="600" dirty="0"/>
          </a:p>
        </p:txBody>
      </p:sp>
      <p:sp>
        <p:nvSpPr>
          <p:cNvPr id="8" name="Shape 6"/>
          <p:cNvSpPr/>
          <p:nvPr/>
        </p:nvSpPr>
        <p:spPr>
          <a:xfrm>
            <a:off x="182880" y="621792"/>
            <a:ext cx="36576" cy="237744"/>
          </a:xfrm>
          <a:prstGeom prst="rect">
            <a:avLst/>
          </a:prstGeom>
          <a:solidFill>
            <a:srgbClr val="14407A"/>
          </a:solidFill>
          <a:ln w="12700">
            <a:solidFill>
              <a:srgbClr val="14407A"/>
            </a:solidFill>
            <a:prstDash val="solid"/>
          </a:ln>
        </p:spPr>
      </p:sp>
      <p:sp>
        <p:nvSpPr>
          <p:cNvPr id="9" name="Text 7"/>
          <p:cNvSpPr/>
          <p:nvPr/>
        </p:nvSpPr>
        <p:spPr>
          <a:xfrm>
            <a:off x="256032" y="621792"/>
            <a:ext cx="5486400" cy="237744"/>
          </a:xfrm>
          <a:prstGeom prst="rect">
            <a:avLst/>
          </a:prstGeom>
          <a:noFill/>
          <a:ln/>
        </p:spPr>
        <p:txBody>
          <a:bodyPr wrap="square" lIns="38100" tIns="38100" rIns="38100" bIns="38100" rtlCol="0" anchor="ctr"/>
          <a:lstStyle/>
          <a:p>
            <a:pPr algn="l" indent="0" marL="0">
              <a:buNone/>
            </a:pPr>
            <a:r>
              <a:rPr lang="en-US" sz="800" b="1" dirty="0">
                <a:solidFill>
                  <a:srgbClr val="14407A"/>
                </a:solidFill>
                <a:latin typeface="Calibri" pitchFamily="34" charset="0"/>
                <a:ea typeface="Calibri" pitchFamily="34" charset="-122"/>
                <a:cs typeface="Calibri" pitchFamily="34" charset="-120"/>
              </a:rPr>
              <a:t>Training Configuration</a:t>
            </a:r>
            <a:endParaRPr lang="en-US" sz="800" dirty="0"/>
          </a:p>
        </p:txBody>
      </p:sp>
      <p:sp>
        <p:nvSpPr>
          <p:cNvPr id="10" name="Shape 8"/>
          <p:cNvSpPr/>
          <p:nvPr/>
        </p:nvSpPr>
        <p:spPr>
          <a:xfrm>
            <a:off x="182880" y="859536"/>
            <a:ext cx="2560320" cy="219456"/>
          </a:xfrm>
          <a:prstGeom prst="rect">
            <a:avLst/>
          </a:prstGeom>
          <a:solidFill>
            <a:srgbClr val="0F3460"/>
          </a:solidFill>
          <a:ln w="3810">
            <a:solidFill>
              <a:srgbClr val="AAAAAA"/>
            </a:solidFill>
            <a:prstDash val="solid"/>
          </a:ln>
        </p:spPr>
      </p:sp>
      <p:sp>
        <p:nvSpPr>
          <p:cNvPr id="11" name="Text 9"/>
          <p:cNvSpPr/>
          <p:nvPr/>
        </p:nvSpPr>
        <p:spPr>
          <a:xfrm>
            <a:off x="237744" y="859536"/>
            <a:ext cx="2468880" cy="219456"/>
          </a:xfrm>
          <a:prstGeom prst="rect">
            <a:avLst/>
          </a:prstGeom>
          <a:noFill/>
          <a:ln/>
        </p:spPr>
        <p:txBody>
          <a:bodyPr wrap="square" lIns="38100" tIns="38100" rIns="38100" bIns="38100" rtlCol="0" anchor="ctr"/>
          <a:lstStyle/>
          <a:p>
            <a:pPr algn="l" indent="0" marL="0">
              <a:buNone/>
            </a:pPr>
            <a:r>
              <a:rPr lang="en-US" sz="700" b="1" dirty="0">
                <a:solidFill>
                  <a:srgbClr val="FFFFFF"/>
                </a:solidFill>
                <a:latin typeface="Calibri" pitchFamily="34" charset="0"/>
                <a:ea typeface="Calibri" pitchFamily="34" charset="-122"/>
                <a:cs typeface="Calibri" pitchFamily="34" charset="-120"/>
              </a:rPr>
              <a:t>Hyperparameter</a:t>
            </a:r>
            <a:endParaRPr lang="en-US" sz="700" dirty="0"/>
          </a:p>
        </p:txBody>
      </p:sp>
      <p:sp>
        <p:nvSpPr>
          <p:cNvPr id="12" name="Shape 10"/>
          <p:cNvSpPr/>
          <p:nvPr/>
        </p:nvSpPr>
        <p:spPr>
          <a:xfrm>
            <a:off x="2743200" y="859536"/>
            <a:ext cx="1280160" cy="219456"/>
          </a:xfrm>
          <a:prstGeom prst="rect">
            <a:avLst/>
          </a:prstGeom>
          <a:solidFill>
            <a:srgbClr val="0F3460"/>
          </a:solidFill>
          <a:ln w="3810">
            <a:solidFill>
              <a:srgbClr val="AAAAAA"/>
            </a:solidFill>
            <a:prstDash val="solid"/>
          </a:ln>
        </p:spPr>
      </p:sp>
      <p:sp>
        <p:nvSpPr>
          <p:cNvPr id="13" name="Text 11"/>
          <p:cNvSpPr/>
          <p:nvPr/>
        </p:nvSpPr>
        <p:spPr>
          <a:xfrm>
            <a:off x="2798064" y="859536"/>
            <a:ext cx="1188720" cy="219456"/>
          </a:xfrm>
          <a:prstGeom prst="rect">
            <a:avLst/>
          </a:prstGeom>
          <a:noFill/>
          <a:ln/>
        </p:spPr>
        <p:txBody>
          <a:bodyPr wrap="square" lIns="38100" tIns="38100" rIns="38100" bIns="38100" rtlCol="0" anchor="ctr"/>
          <a:lstStyle/>
          <a:p>
            <a:pPr algn="l" indent="0" marL="0">
              <a:buNone/>
            </a:pPr>
            <a:r>
              <a:rPr lang="en-US" sz="700" b="1" dirty="0">
                <a:solidFill>
                  <a:srgbClr val="FFFFFF"/>
                </a:solidFill>
                <a:latin typeface="Calibri" pitchFamily="34" charset="0"/>
                <a:ea typeface="Calibri" pitchFamily="34" charset="-122"/>
                <a:cs typeface="Calibri" pitchFamily="34" charset="-120"/>
              </a:rPr>
              <a:t>Value</a:t>
            </a:r>
            <a:endParaRPr lang="en-US" sz="700" dirty="0"/>
          </a:p>
        </p:txBody>
      </p:sp>
      <p:sp>
        <p:nvSpPr>
          <p:cNvPr id="14" name="Shape 12"/>
          <p:cNvSpPr/>
          <p:nvPr/>
        </p:nvSpPr>
        <p:spPr>
          <a:xfrm>
            <a:off x="4023360" y="859536"/>
            <a:ext cx="7955280" cy="219456"/>
          </a:xfrm>
          <a:prstGeom prst="rect">
            <a:avLst/>
          </a:prstGeom>
          <a:solidFill>
            <a:srgbClr val="0F3460"/>
          </a:solidFill>
          <a:ln w="3810">
            <a:solidFill>
              <a:srgbClr val="AAAAAA"/>
            </a:solidFill>
            <a:prstDash val="solid"/>
          </a:ln>
        </p:spPr>
      </p:sp>
      <p:sp>
        <p:nvSpPr>
          <p:cNvPr id="15" name="Text 13"/>
          <p:cNvSpPr/>
          <p:nvPr/>
        </p:nvSpPr>
        <p:spPr>
          <a:xfrm>
            <a:off x="4078224" y="859536"/>
            <a:ext cx="7863840" cy="219456"/>
          </a:xfrm>
          <a:prstGeom prst="rect">
            <a:avLst/>
          </a:prstGeom>
          <a:noFill/>
          <a:ln/>
        </p:spPr>
        <p:txBody>
          <a:bodyPr wrap="square" lIns="38100" tIns="38100" rIns="38100" bIns="38100" rtlCol="0" anchor="ctr"/>
          <a:lstStyle/>
          <a:p>
            <a:pPr algn="l" indent="0" marL="0">
              <a:buNone/>
            </a:pPr>
            <a:r>
              <a:rPr lang="en-US" sz="700" b="1" dirty="0">
                <a:solidFill>
                  <a:srgbClr val="FFFFFF"/>
                </a:solidFill>
                <a:latin typeface="Calibri" pitchFamily="34" charset="0"/>
                <a:ea typeface="Calibri" pitchFamily="34" charset="-122"/>
                <a:cs typeface="Calibri" pitchFamily="34" charset="-120"/>
              </a:rPr>
              <a:t>Rationale</a:t>
            </a:r>
            <a:endParaRPr lang="en-US" sz="700" dirty="0"/>
          </a:p>
        </p:txBody>
      </p:sp>
      <p:sp>
        <p:nvSpPr>
          <p:cNvPr id="16" name="Shape 14"/>
          <p:cNvSpPr/>
          <p:nvPr/>
        </p:nvSpPr>
        <p:spPr>
          <a:xfrm>
            <a:off x="182880" y="1078992"/>
            <a:ext cx="2560320" cy="219456"/>
          </a:xfrm>
          <a:prstGeom prst="rect">
            <a:avLst/>
          </a:prstGeom>
          <a:solidFill>
            <a:srgbClr val="FFFFFF"/>
          </a:solidFill>
          <a:ln w="3810">
            <a:solidFill>
              <a:srgbClr val="AAAAAA"/>
            </a:solidFill>
            <a:prstDash val="solid"/>
          </a:ln>
        </p:spPr>
      </p:sp>
      <p:sp>
        <p:nvSpPr>
          <p:cNvPr id="17" name="Text 15"/>
          <p:cNvSpPr/>
          <p:nvPr/>
        </p:nvSpPr>
        <p:spPr>
          <a:xfrm>
            <a:off x="237744" y="1078992"/>
            <a:ext cx="2468880" cy="219456"/>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EMBED_DIM</a:t>
            </a:r>
            <a:endParaRPr lang="en-US" sz="750" dirty="0"/>
          </a:p>
        </p:txBody>
      </p:sp>
      <p:sp>
        <p:nvSpPr>
          <p:cNvPr id="18" name="Shape 16"/>
          <p:cNvSpPr/>
          <p:nvPr/>
        </p:nvSpPr>
        <p:spPr>
          <a:xfrm>
            <a:off x="2743200" y="1078992"/>
            <a:ext cx="1280160" cy="219456"/>
          </a:xfrm>
          <a:prstGeom prst="rect">
            <a:avLst/>
          </a:prstGeom>
          <a:solidFill>
            <a:srgbClr val="FFFFFF"/>
          </a:solidFill>
          <a:ln w="3810">
            <a:solidFill>
              <a:srgbClr val="AAAAAA"/>
            </a:solidFill>
            <a:prstDash val="solid"/>
          </a:ln>
        </p:spPr>
      </p:sp>
      <p:sp>
        <p:nvSpPr>
          <p:cNvPr id="19" name="Text 17"/>
          <p:cNvSpPr/>
          <p:nvPr/>
        </p:nvSpPr>
        <p:spPr>
          <a:xfrm>
            <a:off x="2798064" y="1078992"/>
            <a:ext cx="1188720" cy="219456"/>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512</a:t>
            </a:r>
            <a:endParaRPr lang="en-US" sz="750" dirty="0"/>
          </a:p>
        </p:txBody>
      </p:sp>
      <p:sp>
        <p:nvSpPr>
          <p:cNvPr id="20" name="Shape 18"/>
          <p:cNvSpPr/>
          <p:nvPr/>
        </p:nvSpPr>
        <p:spPr>
          <a:xfrm>
            <a:off x="4023360" y="1078992"/>
            <a:ext cx="7955280" cy="219456"/>
          </a:xfrm>
          <a:prstGeom prst="rect">
            <a:avLst/>
          </a:prstGeom>
          <a:solidFill>
            <a:srgbClr val="FFFFFF"/>
          </a:solidFill>
          <a:ln w="3810">
            <a:solidFill>
              <a:srgbClr val="AAAAAA"/>
            </a:solidFill>
            <a:prstDash val="solid"/>
          </a:ln>
        </p:spPr>
      </p:sp>
      <p:sp>
        <p:nvSpPr>
          <p:cNvPr id="21" name="Text 19"/>
          <p:cNvSpPr/>
          <p:nvPr/>
        </p:nvSpPr>
        <p:spPr>
          <a:xfrm>
            <a:off x="4078224" y="1078992"/>
            <a:ext cx="7863840" cy="219456"/>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Shared embedding dimension across all MIVA-KNIGHT pipelines</a:t>
            </a:r>
            <a:endParaRPr lang="en-US" sz="750" dirty="0"/>
          </a:p>
        </p:txBody>
      </p:sp>
      <p:sp>
        <p:nvSpPr>
          <p:cNvPr id="22" name="Shape 20"/>
          <p:cNvSpPr/>
          <p:nvPr/>
        </p:nvSpPr>
        <p:spPr>
          <a:xfrm>
            <a:off x="182880" y="1298448"/>
            <a:ext cx="2560320" cy="219456"/>
          </a:xfrm>
          <a:prstGeom prst="rect">
            <a:avLst/>
          </a:prstGeom>
          <a:solidFill>
            <a:srgbClr val="F5F5F5"/>
          </a:solidFill>
          <a:ln w="3810">
            <a:solidFill>
              <a:srgbClr val="AAAAAA"/>
            </a:solidFill>
            <a:prstDash val="solid"/>
          </a:ln>
        </p:spPr>
      </p:sp>
      <p:sp>
        <p:nvSpPr>
          <p:cNvPr id="23" name="Text 21"/>
          <p:cNvSpPr/>
          <p:nvPr/>
        </p:nvSpPr>
        <p:spPr>
          <a:xfrm>
            <a:off x="237744" y="1298448"/>
            <a:ext cx="2468880" cy="219456"/>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WAV2VEC_DIM</a:t>
            </a:r>
            <a:endParaRPr lang="en-US" sz="750" dirty="0"/>
          </a:p>
        </p:txBody>
      </p:sp>
      <p:sp>
        <p:nvSpPr>
          <p:cNvPr id="24" name="Shape 22"/>
          <p:cNvSpPr/>
          <p:nvPr/>
        </p:nvSpPr>
        <p:spPr>
          <a:xfrm>
            <a:off x="2743200" y="1298448"/>
            <a:ext cx="1280160" cy="219456"/>
          </a:xfrm>
          <a:prstGeom prst="rect">
            <a:avLst/>
          </a:prstGeom>
          <a:solidFill>
            <a:srgbClr val="F5F5F5"/>
          </a:solidFill>
          <a:ln w="3810">
            <a:solidFill>
              <a:srgbClr val="AAAAAA"/>
            </a:solidFill>
            <a:prstDash val="solid"/>
          </a:ln>
        </p:spPr>
      </p:sp>
      <p:sp>
        <p:nvSpPr>
          <p:cNvPr id="25" name="Text 23"/>
          <p:cNvSpPr/>
          <p:nvPr/>
        </p:nvSpPr>
        <p:spPr>
          <a:xfrm>
            <a:off x="2798064" y="1298448"/>
            <a:ext cx="1188720" cy="219456"/>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768</a:t>
            </a:r>
            <a:endParaRPr lang="en-US" sz="750" dirty="0"/>
          </a:p>
        </p:txBody>
      </p:sp>
      <p:sp>
        <p:nvSpPr>
          <p:cNvPr id="26" name="Shape 24"/>
          <p:cNvSpPr/>
          <p:nvPr/>
        </p:nvSpPr>
        <p:spPr>
          <a:xfrm>
            <a:off x="4023360" y="1298448"/>
            <a:ext cx="7955280" cy="219456"/>
          </a:xfrm>
          <a:prstGeom prst="rect">
            <a:avLst/>
          </a:prstGeom>
          <a:solidFill>
            <a:srgbClr val="F5F5F5"/>
          </a:solidFill>
          <a:ln w="3810">
            <a:solidFill>
              <a:srgbClr val="AAAAAA"/>
            </a:solidFill>
            <a:prstDash val="solid"/>
          </a:ln>
        </p:spPr>
      </p:sp>
      <p:sp>
        <p:nvSpPr>
          <p:cNvPr id="27" name="Text 25"/>
          <p:cNvSpPr/>
          <p:nvPr/>
        </p:nvSpPr>
        <p:spPr>
          <a:xfrm>
            <a:off x="4078224" y="1298448"/>
            <a:ext cx="7863840" cy="219456"/>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Correct Wav2Vec 2.0 base output dim (bug fix from 512)</a:t>
            </a:r>
            <a:endParaRPr lang="en-US" sz="750" dirty="0"/>
          </a:p>
        </p:txBody>
      </p:sp>
      <p:sp>
        <p:nvSpPr>
          <p:cNvPr id="28" name="Shape 26"/>
          <p:cNvSpPr/>
          <p:nvPr/>
        </p:nvSpPr>
        <p:spPr>
          <a:xfrm>
            <a:off x="182880" y="1517904"/>
            <a:ext cx="2560320" cy="219456"/>
          </a:xfrm>
          <a:prstGeom prst="rect">
            <a:avLst/>
          </a:prstGeom>
          <a:solidFill>
            <a:srgbClr val="FFFFFF"/>
          </a:solidFill>
          <a:ln w="3810">
            <a:solidFill>
              <a:srgbClr val="AAAAAA"/>
            </a:solidFill>
            <a:prstDash val="solid"/>
          </a:ln>
        </p:spPr>
      </p:sp>
      <p:sp>
        <p:nvSpPr>
          <p:cNvPr id="29" name="Text 27"/>
          <p:cNvSpPr/>
          <p:nvPr/>
        </p:nvSpPr>
        <p:spPr>
          <a:xfrm>
            <a:off x="237744" y="1517904"/>
            <a:ext cx="2468880" cy="219456"/>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NUM_EPOCHS</a:t>
            </a:r>
            <a:endParaRPr lang="en-US" sz="750" dirty="0"/>
          </a:p>
        </p:txBody>
      </p:sp>
      <p:sp>
        <p:nvSpPr>
          <p:cNvPr id="30" name="Shape 28"/>
          <p:cNvSpPr/>
          <p:nvPr/>
        </p:nvSpPr>
        <p:spPr>
          <a:xfrm>
            <a:off x="2743200" y="1517904"/>
            <a:ext cx="1280160" cy="219456"/>
          </a:xfrm>
          <a:prstGeom prst="rect">
            <a:avLst/>
          </a:prstGeom>
          <a:solidFill>
            <a:srgbClr val="FFFFFF"/>
          </a:solidFill>
          <a:ln w="3810">
            <a:solidFill>
              <a:srgbClr val="AAAAAA"/>
            </a:solidFill>
            <a:prstDash val="solid"/>
          </a:ln>
        </p:spPr>
      </p:sp>
      <p:sp>
        <p:nvSpPr>
          <p:cNvPr id="31" name="Text 29"/>
          <p:cNvSpPr/>
          <p:nvPr/>
        </p:nvSpPr>
        <p:spPr>
          <a:xfrm>
            <a:off x="2798064" y="1517904"/>
            <a:ext cx="1188720" cy="219456"/>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30</a:t>
            </a:r>
            <a:endParaRPr lang="en-US" sz="750" dirty="0"/>
          </a:p>
        </p:txBody>
      </p:sp>
      <p:sp>
        <p:nvSpPr>
          <p:cNvPr id="32" name="Shape 30"/>
          <p:cNvSpPr/>
          <p:nvPr/>
        </p:nvSpPr>
        <p:spPr>
          <a:xfrm>
            <a:off x="4023360" y="1517904"/>
            <a:ext cx="7955280" cy="219456"/>
          </a:xfrm>
          <a:prstGeom prst="rect">
            <a:avLst/>
          </a:prstGeom>
          <a:solidFill>
            <a:srgbClr val="FFFFFF"/>
          </a:solidFill>
          <a:ln w="3810">
            <a:solidFill>
              <a:srgbClr val="AAAAAA"/>
            </a:solidFill>
            <a:prstDash val="solid"/>
          </a:ln>
        </p:spPr>
      </p:sp>
      <p:sp>
        <p:nvSpPr>
          <p:cNvPr id="33" name="Text 31"/>
          <p:cNvSpPr/>
          <p:nvPr/>
        </p:nvSpPr>
        <p:spPr>
          <a:xfrm>
            <a:off x="4078224" y="1517904"/>
            <a:ext cx="7863840" cy="219456"/>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1,440 samples is small; needs more passes than COCO (15 epochs)</a:t>
            </a:r>
            <a:endParaRPr lang="en-US" sz="750" dirty="0"/>
          </a:p>
        </p:txBody>
      </p:sp>
      <p:sp>
        <p:nvSpPr>
          <p:cNvPr id="34" name="Shape 32"/>
          <p:cNvSpPr/>
          <p:nvPr/>
        </p:nvSpPr>
        <p:spPr>
          <a:xfrm>
            <a:off x="182880" y="1737360"/>
            <a:ext cx="2560320" cy="219456"/>
          </a:xfrm>
          <a:prstGeom prst="rect">
            <a:avLst/>
          </a:prstGeom>
          <a:solidFill>
            <a:srgbClr val="F5F5F5"/>
          </a:solidFill>
          <a:ln w="3810">
            <a:solidFill>
              <a:srgbClr val="AAAAAA"/>
            </a:solidFill>
            <a:prstDash val="solid"/>
          </a:ln>
        </p:spPr>
      </p:sp>
      <p:sp>
        <p:nvSpPr>
          <p:cNvPr id="35" name="Text 33"/>
          <p:cNvSpPr/>
          <p:nvPr/>
        </p:nvSpPr>
        <p:spPr>
          <a:xfrm>
            <a:off x="237744" y="1737360"/>
            <a:ext cx="2468880" cy="219456"/>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BATCH_SIZE</a:t>
            </a:r>
            <a:endParaRPr lang="en-US" sz="750" dirty="0"/>
          </a:p>
        </p:txBody>
      </p:sp>
      <p:sp>
        <p:nvSpPr>
          <p:cNvPr id="36" name="Shape 34"/>
          <p:cNvSpPr/>
          <p:nvPr/>
        </p:nvSpPr>
        <p:spPr>
          <a:xfrm>
            <a:off x="2743200" y="1737360"/>
            <a:ext cx="1280160" cy="219456"/>
          </a:xfrm>
          <a:prstGeom prst="rect">
            <a:avLst/>
          </a:prstGeom>
          <a:solidFill>
            <a:srgbClr val="F5F5F5"/>
          </a:solidFill>
          <a:ln w="3810">
            <a:solidFill>
              <a:srgbClr val="AAAAAA"/>
            </a:solidFill>
            <a:prstDash val="solid"/>
          </a:ln>
        </p:spPr>
      </p:sp>
      <p:sp>
        <p:nvSpPr>
          <p:cNvPr id="37" name="Text 35"/>
          <p:cNvSpPr/>
          <p:nvPr/>
        </p:nvSpPr>
        <p:spPr>
          <a:xfrm>
            <a:off x="2798064" y="1737360"/>
            <a:ext cx="1188720" cy="219456"/>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16</a:t>
            </a:r>
            <a:endParaRPr lang="en-US" sz="750" dirty="0"/>
          </a:p>
        </p:txBody>
      </p:sp>
      <p:sp>
        <p:nvSpPr>
          <p:cNvPr id="38" name="Shape 36"/>
          <p:cNvSpPr/>
          <p:nvPr/>
        </p:nvSpPr>
        <p:spPr>
          <a:xfrm>
            <a:off x="4023360" y="1737360"/>
            <a:ext cx="7955280" cy="219456"/>
          </a:xfrm>
          <a:prstGeom prst="rect">
            <a:avLst/>
          </a:prstGeom>
          <a:solidFill>
            <a:srgbClr val="F5F5F5"/>
          </a:solidFill>
          <a:ln w="3810">
            <a:solidFill>
              <a:srgbClr val="AAAAAA"/>
            </a:solidFill>
            <a:prstDash val="solid"/>
          </a:ln>
        </p:spPr>
      </p:sp>
      <p:sp>
        <p:nvSpPr>
          <p:cNvPr id="39" name="Text 37"/>
          <p:cNvSpPr/>
          <p:nvPr/>
        </p:nvSpPr>
        <p:spPr>
          <a:xfrm>
            <a:off x="4078224" y="1737360"/>
            <a:ext cx="7863840" cy="219456"/>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~2 clips per emotion per batch — minimum for SupCon positive pairs</a:t>
            </a:r>
            <a:endParaRPr lang="en-US" sz="750" dirty="0"/>
          </a:p>
        </p:txBody>
      </p:sp>
      <p:sp>
        <p:nvSpPr>
          <p:cNvPr id="40" name="Shape 38"/>
          <p:cNvSpPr/>
          <p:nvPr/>
        </p:nvSpPr>
        <p:spPr>
          <a:xfrm>
            <a:off x="182880" y="1956816"/>
            <a:ext cx="2560320" cy="219456"/>
          </a:xfrm>
          <a:prstGeom prst="rect">
            <a:avLst/>
          </a:prstGeom>
          <a:solidFill>
            <a:srgbClr val="FFFFFF"/>
          </a:solidFill>
          <a:ln w="3810">
            <a:solidFill>
              <a:srgbClr val="AAAAAA"/>
            </a:solidFill>
            <a:prstDash val="solid"/>
          </a:ln>
        </p:spPr>
      </p:sp>
      <p:sp>
        <p:nvSpPr>
          <p:cNvPr id="41" name="Text 39"/>
          <p:cNvSpPr/>
          <p:nvPr/>
        </p:nvSpPr>
        <p:spPr>
          <a:xfrm>
            <a:off x="237744" y="1956816"/>
            <a:ext cx="2468880" cy="219456"/>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TEMPERATURE</a:t>
            </a:r>
            <a:endParaRPr lang="en-US" sz="750" dirty="0"/>
          </a:p>
        </p:txBody>
      </p:sp>
      <p:sp>
        <p:nvSpPr>
          <p:cNvPr id="42" name="Shape 40"/>
          <p:cNvSpPr/>
          <p:nvPr/>
        </p:nvSpPr>
        <p:spPr>
          <a:xfrm>
            <a:off x="2743200" y="1956816"/>
            <a:ext cx="1280160" cy="219456"/>
          </a:xfrm>
          <a:prstGeom prst="rect">
            <a:avLst/>
          </a:prstGeom>
          <a:solidFill>
            <a:srgbClr val="FFFFFF"/>
          </a:solidFill>
          <a:ln w="3810">
            <a:solidFill>
              <a:srgbClr val="AAAAAA"/>
            </a:solidFill>
            <a:prstDash val="solid"/>
          </a:ln>
        </p:spPr>
      </p:sp>
      <p:sp>
        <p:nvSpPr>
          <p:cNvPr id="43" name="Text 41"/>
          <p:cNvSpPr/>
          <p:nvPr/>
        </p:nvSpPr>
        <p:spPr>
          <a:xfrm>
            <a:off x="2798064" y="1956816"/>
            <a:ext cx="1188720" cy="219456"/>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0.07</a:t>
            </a:r>
            <a:endParaRPr lang="en-US" sz="750" dirty="0"/>
          </a:p>
        </p:txBody>
      </p:sp>
      <p:sp>
        <p:nvSpPr>
          <p:cNvPr id="44" name="Shape 42"/>
          <p:cNvSpPr/>
          <p:nvPr/>
        </p:nvSpPr>
        <p:spPr>
          <a:xfrm>
            <a:off x="4023360" y="1956816"/>
            <a:ext cx="7955280" cy="219456"/>
          </a:xfrm>
          <a:prstGeom prst="rect">
            <a:avLst/>
          </a:prstGeom>
          <a:solidFill>
            <a:srgbClr val="FFFFFF"/>
          </a:solidFill>
          <a:ln w="3810">
            <a:solidFill>
              <a:srgbClr val="AAAAAA"/>
            </a:solidFill>
            <a:prstDash val="solid"/>
          </a:ln>
        </p:spPr>
      </p:sp>
      <p:sp>
        <p:nvSpPr>
          <p:cNvPr id="45" name="Text 43"/>
          <p:cNvSpPr/>
          <p:nvPr/>
        </p:nvSpPr>
        <p:spPr>
          <a:xfrm>
            <a:off x="4078224" y="1956816"/>
            <a:ext cx="7863840" cy="219456"/>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Same as InfoNCE in A+B — consistent gradient sharpness</a:t>
            </a:r>
            <a:endParaRPr lang="en-US" sz="750" dirty="0"/>
          </a:p>
        </p:txBody>
      </p:sp>
      <p:sp>
        <p:nvSpPr>
          <p:cNvPr id="46" name="Shape 44"/>
          <p:cNvSpPr/>
          <p:nvPr/>
        </p:nvSpPr>
        <p:spPr>
          <a:xfrm>
            <a:off x="182880" y="2176272"/>
            <a:ext cx="2560320" cy="219456"/>
          </a:xfrm>
          <a:prstGeom prst="rect">
            <a:avLst/>
          </a:prstGeom>
          <a:solidFill>
            <a:srgbClr val="F5F5F5"/>
          </a:solidFill>
          <a:ln w="3810">
            <a:solidFill>
              <a:srgbClr val="AAAAAA"/>
            </a:solidFill>
            <a:prstDash val="solid"/>
          </a:ln>
        </p:spPr>
      </p:sp>
      <p:sp>
        <p:nvSpPr>
          <p:cNvPr id="47" name="Text 45"/>
          <p:cNvSpPr/>
          <p:nvPr/>
        </p:nvSpPr>
        <p:spPr>
          <a:xfrm>
            <a:off x="237744" y="2176272"/>
            <a:ext cx="2468880" cy="219456"/>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LEARNING_RATE</a:t>
            </a:r>
            <a:endParaRPr lang="en-US" sz="750" dirty="0"/>
          </a:p>
        </p:txBody>
      </p:sp>
      <p:sp>
        <p:nvSpPr>
          <p:cNvPr id="48" name="Shape 46"/>
          <p:cNvSpPr/>
          <p:nvPr/>
        </p:nvSpPr>
        <p:spPr>
          <a:xfrm>
            <a:off x="2743200" y="2176272"/>
            <a:ext cx="1280160" cy="219456"/>
          </a:xfrm>
          <a:prstGeom prst="rect">
            <a:avLst/>
          </a:prstGeom>
          <a:solidFill>
            <a:srgbClr val="F5F5F5"/>
          </a:solidFill>
          <a:ln w="3810">
            <a:solidFill>
              <a:srgbClr val="AAAAAA"/>
            </a:solidFill>
            <a:prstDash val="solid"/>
          </a:ln>
        </p:spPr>
      </p:sp>
      <p:sp>
        <p:nvSpPr>
          <p:cNvPr id="49" name="Text 47"/>
          <p:cNvSpPr/>
          <p:nvPr/>
        </p:nvSpPr>
        <p:spPr>
          <a:xfrm>
            <a:off x="2798064" y="2176272"/>
            <a:ext cx="1188720" cy="219456"/>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1e-4</a:t>
            </a:r>
            <a:endParaRPr lang="en-US" sz="750" dirty="0"/>
          </a:p>
        </p:txBody>
      </p:sp>
      <p:sp>
        <p:nvSpPr>
          <p:cNvPr id="50" name="Shape 48"/>
          <p:cNvSpPr/>
          <p:nvPr/>
        </p:nvSpPr>
        <p:spPr>
          <a:xfrm>
            <a:off x="4023360" y="2176272"/>
            <a:ext cx="7955280" cy="219456"/>
          </a:xfrm>
          <a:prstGeom prst="rect">
            <a:avLst/>
          </a:prstGeom>
          <a:solidFill>
            <a:srgbClr val="F5F5F5"/>
          </a:solidFill>
          <a:ln w="3810">
            <a:solidFill>
              <a:srgbClr val="AAAAAA"/>
            </a:solidFill>
            <a:prstDash val="solid"/>
          </a:ln>
        </p:spPr>
      </p:sp>
      <p:sp>
        <p:nvSpPr>
          <p:cNvPr id="51" name="Text 49"/>
          <p:cNvSpPr/>
          <p:nvPr/>
        </p:nvSpPr>
        <p:spPr>
          <a:xfrm>
            <a:off x="4078224" y="2176272"/>
            <a:ext cx="7863840" cy="219456"/>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Conservative for projection head; warmup prevents early instability</a:t>
            </a:r>
            <a:endParaRPr lang="en-US" sz="750" dirty="0"/>
          </a:p>
        </p:txBody>
      </p:sp>
      <p:sp>
        <p:nvSpPr>
          <p:cNvPr id="52" name="Shape 50"/>
          <p:cNvSpPr/>
          <p:nvPr/>
        </p:nvSpPr>
        <p:spPr>
          <a:xfrm>
            <a:off x="182880" y="2395728"/>
            <a:ext cx="2560320" cy="219456"/>
          </a:xfrm>
          <a:prstGeom prst="rect">
            <a:avLst/>
          </a:prstGeom>
          <a:solidFill>
            <a:srgbClr val="FFFFFF"/>
          </a:solidFill>
          <a:ln w="3810">
            <a:solidFill>
              <a:srgbClr val="AAAAAA"/>
            </a:solidFill>
            <a:prstDash val="solid"/>
          </a:ln>
        </p:spPr>
      </p:sp>
      <p:sp>
        <p:nvSpPr>
          <p:cNvPr id="53" name="Text 51"/>
          <p:cNvSpPr/>
          <p:nvPr/>
        </p:nvSpPr>
        <p:spPr>
          <a:xfrm>
            <a:off x="237744" y="2395728"/>
            <a:ext cx="2468880" cy="219456"/>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WEIGHT_DECAY</a:t>
            </a:r>
            <a:endParaRPr lang="en-US" sz="750" dirty="0"/>
          </a:p>
        </p:txBody>
      </p:sp>
      <p:sp>
        <p:nvSpPr>
          <p:cNvPr id="54" name="Shape 52"/>
          <p:cNvSpPr/>
          <p:nvPr/>
        </p:nvSpPr>
        <p:spPr>
          <a:xfrm>
            <a:off x="2743200" y="2395728"/>
            <a:ext cx="1280160" cy="219456"/>
          </a:xfrm>
          <a:prstGeom prst="rect">
            <a:avLst/>
          </a:prstGeom>
          <a:solidFill>
            <a:srgbClr val="FFFFFF"/>
          </a:solidFill>
          <a:ln w="3810">
            <a:solidFill>
              <a:srgbClr val="AAAAAA"/>
            </a:solidFill>
            <a:prstDash val="solid"/>
          </a:ln>
        </p:spPr>
      </p:sp>
      <p:sp>
        <p:nvSpPr>
          <p:cNvPr id="55" name="Text 53"/>
          <p:cNvSpPr/>
          <p:nvPr/>
        </p:nvSpPr>
        <p:spPr>
          <a:xfrm>
            <a:off x="2798064" y="2395728"/>
            <a:ext cx="1188720" cy="219456"/>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0.01</a:t>
            </a:r>
            <a:endParaRPr lang="en-US" sz="750" dirty="0"/>
          </a:p>
        </p:txBody>
      </p:sp>
      <p:sp>
        <p:nvSpPr>
          <p:cNvPr id="56" name="Shape 54"/>
          <p:cNvSpPr/>
          <p:nvPr/>
        </p:nvSpPr>
        <p:spPr>
          <a:xfrm>
            <a:off x="4023360" y="2395728"/>
            <a:ext cx="7955280" cy="219456"/>
          </a:xfrm>
          <a:prstGeom prst="rect">
            <a:avLst/>
          </a:prstGeom>
          <a:solidFill>
            <a:srgbClr val="FFFFFF"/>
          </a:solidFill>
          <a:ln w="3810">
            <a:solidFill>
              <a:srgbClr val="AAAAAA"/>
            </a:solidFill>
            <a:prstDash val="solid"/>
          </a:ln>
        </p:spPr>
      </p:sp>
      <p:sp>
        <p:nvSpPr>
          <p:cNvPr id="57" name="Text 55"/>
          <p:cNvSpPr/>
          <p:nvPr/>
        </p:nvSpPr>
        <p:spPr>
          <a:xfrm>
            <a:off x="4078224" y="2395728"/>
            <a:ext cx="7863840" cy="219456"/>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AdamW decoupled L2 regularisation</a:t>
            </a:r>
            <a:endParaRPr lang="en-US" sz="750" dirty="0"/>
          </a:p>
        </p:txBody>
      </p:sp>
      <p:sp>
        <p:nvSpPr>
          <p:cNvPr id="58" name="Shape 56"/>
          <p:cNvSpPr/>
          <p:nvPr/>
        </p:nvSpPr>
        <p:spPr>
          <a:xfrm>
            <a:off x="182880" y="2615184"/>
            <a:ext cx="2560320" cy="219456"/>
          </a:xfrm>
          <a:prstGeom prst="rect">
            <a:avLst/>
          </a:prstGeom>
          <a:solidFill>
            <a:srgbClr val="F5F5F5"/>
          </a:solidFill>
          <a:ln w="3810">
            <a:solidFill>
              <a:srgbClr val="AAAAAA"/>
            </a:solidFill>
            <a:prstDash val="solid"/>
          </a:ln>
        </p:spPr>
      </p:sp>
      <p:sp>
        <p:nvSpPr>
          <p:cNvPr id="59" name="Text 57"/>
          <p:cNvSpPr/>
          <p:nvPr/>
        </p:nvSpPr>
        <p:spPr>
          <a:xfrm>
            <a:off x="237744" y="2615184"/>
            <a:ext cx="2468880" cy="219456"/>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GRAD_CLIP</a:t>
            </a:r>
            <a:endParaRPr lang="en-US" sz="750" dirty="0"/>
          </a:p>
        </p:txBody>
      </p:sp>
      <p:sp>
        <p:nvSpPr>
          <p:cNvPr id="60" name="Shape 58"/>
          <p:cNvSpPr/>
          <p:nvPr/>
        </p:nvSpPr>
        <p:spPr>
          <a:xfrm>
            <a:off x="2743200" y="2615184"/>
            <a:ext cx="1280160" cy="219456"/>
          </a:xfrm>
          <a:prstGeom prst="rect">
            <a:avLst/>
          </a:prstGeom>
          <a:solidFill>
            <a:srgbClr val="F5F5F5"/>
          </a:solidFill>
          <a:ln w="3810">
            <a:solidFill>
              <a:srgbClr val="AAAAAA"/>
            </a:solidFill>
            <a:prstDash val="solid"/>
          </a:ln>
        </p:spPr>
      </p:sp>
      <p:sp>
        <p:nvSpPr>
          <p:cNvPr id="61" name="Text 59"/>
          <p:cNvSpPr/>
          <p:nvPr/>
        </p:nvSpPr>
        <p:spPr>
          <a:xfrm>
            <a:off x="2798064" y="2615184"/>
            <a:ext cx="1188720" cy="219456"/>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1.0</a:t>
            </a:r>
            <a:endParaRPr lang="en-US" sz="750" dirty="0"/>
          </a:p>
        </p:txBody>
      </p:sp>
      <p:sp>
        <p:nvSpPr>
          <p:cNvPr id="62" name="Shape 60"/>
          <p:cNvSpPr/>
          <p:nvPr/>
        </p:nvSpPr>
        <p:spPr>
          <a:xfrm>
            <a:off x="4023360" y="2615184"/>
            <a:ext cx="7955280" cy="219456"/>
          </a:xfrm>
          <a:prstGeom prst="rect">
            <a:avLst/>
          </a:prstGeom>
          <a:solidFill>
            <a:srgbClr val="F5F5F5"/>
          </a:solidFill>
          <a:ln w="3810">
            <a:solidFill>
              <a:srgbClr val="AAAAAA"/>
            </a:solidFill>
            <a:prstDash val="solid"/>
          </a:ln>
        </p:spPr>
      </p:sp>
      <p:sp>
        <p:nvSpPr>
          <p:cNvPr id="63" name="Text 61"/>
          <p:cNvSpPr/>
          <p:nvPr/>
        </p:nvSpPr>
        <p:spPr>
          <a:xfrm>
            <a:off x="4078224" y="2615184"/>
            <a:ext cx="7863840" cy="219456"/>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Caps gradient ‖∇‖₂ — prevents early LayerNorm spike</a:t>
            </a:r>
            <a:endParaRPr lang="en-US" sz="750" dirty="0"/>
          </a:p>
        </p:txBody>
      </p:sp>
      <p:sp>
        <p:nvSpPr>
          <p:cNvPr id="64" name="Shape 62"/>
          <p:cNvSpPr/>
          <p:nvPr/>
        </p:nvSpPr>
        <p:spPr>
          <a:xfrm>
            <a:off x="182880" y="2834640"/>
            <a:ext cx="2560320" cy="219456"/>
          </a:xfrm>
          <a:prstGeom prst="rect">
            <a:avLst/>
          </a:prstGeom>
          <a:solidFill>
            <a:srgbClr val="FFFFFF"/>
          </a:solidFill>
          <a:ln w="3810">
            <a:solidFill>
              <a:srgbClr val="AAAAAA"/>
            </a:solidFill>
            <a:prstDash val="solid"/>
          </a:ln>
        </p:spPr>
      </p:sp>
      <p:sp>
        <p:nvSpPr>
          <p:cNvPr id="65" name="Text 63"/>
          <p:cNvSpPr/>
          <p:nvPr/>
        </p:nvSpPr>
        <p:spPr>
          <a:xfrm>
            <a:off x="237744" y="2834640"/>
            <a:ext cx="2468880" cy="219456"/>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SEED</a:t>
            </a:r>
            <a:endParaRPr lang="en-US" sz="750" dirty="0"/>
          </a:p>
        </p:txBody>
      </p:sp>
      <p:sp>
        <p:nvSpPr>
          <p:cNvPr id="66" name="Shape 64"/>
          <p:cNvSpPr/>
          <p:nvPr/>
        </p:nvSpPr>
        <p:spPr>
          <a:xfrm>
            <a:off x="2743200" y="2834640"/>
            <a:ext cx="1280160" cy="219456"/>
          </a:xfrm>
          <a:prstGeom prst="rect">
            <a:avLst/>
          </a:prstGeom>
          <a:solidFill>
            <a:srgbClr val="FFFFFF"/>
          </a:solidFill>
          <a:ln w="3810">
            <a:solidFill>
              <a:srgbClr val="AAAAAA"/>
            </a:solidFill>
            <a:prstDash val="solid"/>
          </a:ln>
        </p:spPr>
      </p:sp>
      <p:sp>
        <p:nvSpPr>
          <p:cNvPr id="67" name="Text 65"/>
          <p:cNvSpPr/>
          <p:nvPr/>
        </p:nvSpPr>
        <p:spPr>
          <a:xfrm>
            <a:off x="2798064" y="2834640"/>
            <a:ext cx="1188720" cy="219456"/>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42</a:t>
            </a:r>
            <a:endParaRPr lang="en-US" sz="750" dirty="0"/>
          </a:p>
        </p:txBody>
      </p:sp>
      <p:sp>
        <p:nvSpPr>
          <p:cNvPr id="68" name="Shape 66"/>
          <p:cNvSpPr/>
          <p:nvPr/>
        </p:nvSpPr>
        <p:spPr>
          <a:xfrm>
            <a:off x="4023360" y="2834640"/>
            <a:ext cx="7955280" cy="219456"/>
          </a:xfrm>
          <a:prstGeom prst="rect">
            <a:avLst/>
          </a:prstGeom>
          <a:solidFill>
            <a:srgbClr val="FFFFFF"/>
          </a:solidFill>
          <a:ln w="3810">
            <a:solidFill>
              <a:srgbClr val="AAAAAA"/>
            </a:solidFill>
            <a:prstDash val="solid"/>
          </a:ln>
        </p:spPr>
      </p:sp>
      <p:sp>
        <p:nvSpPr>
          <p:cNvPr id="69" name="Text 67"/>
          <p:cNvSpPr/>
          <p:nvPr/>
        </p:nvSpPr>
        <p:spPr>
          <a:xfrm>
            <a:off x="4078224" y="2834640"/>
            <a:ext cx="7863840" cy="219456"/>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Used across all MIVA-KNIGHT notebooks for reproducibility</a:t>
            </a:r>
            <a:endParaRPr lang="en-US" sz="750" dirty="0"/>
          </a:p>
        </p:txBody>
      </p:sp>
      <p:sp>
        <p:nvSpPr>
          <p:cNvPr id="70" name="Shape 68"/>
          <p:cNvSpPr/>
          <p:nvPr/>
        </p:nvSpPr>
        <p:spPr>
          <a:xfrm>
            <a:off x="182880" y="3054096"/>
            <a:ext cx="2560320" cy="219456"/>
          </a:xfrm>
          <a:prstGeom prst="rect">
            <a:avLst/>
          </a:prstGeom>
          <a:solidFill>
            <a:srgbClr val="F5F5F5"/>
          </a:solidFill>
          <a:ln w="3810">
            <a:solidFill>
              <a:srgbClr val="AAAAAA"/>
            </a:solidFill>
            <a:prstDash val="solid"/>
          </a:ln>
        </p:spPr>
      </p:sp>
      <p:sp>
        <p:nvSpPr>
          <p:cNvPr id="71" name="Text 69"/>
          <p:cNvSpPr/>
          <p:nvPr/>
        </p:nvSpPr>
        <p:spPr>
          <a:xfrm>
            <a:off x="237744" y="3054096"/>
            <a:ext cx="2468880" cy="219456"/>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DROP_LAST</a:t>
            </a:r>
            <a:endParaRPr lang="en-US" sz="750" dirty="0"/>
          </a:p>
        </p:txBody>
      </p:sp>
      <p:sp>
        <p:nvSpPr>
          <p:cNvPr id="72" name="Shape 70"/>
          <p:cNvSpPr/>
          <p:nvPr/>
        </p:nvSpPr>
        <p:spPr>
          <a:xfrm>
            <a:off x="2743200" y="3054096"/>
            <a:ext cx="1280160" cy="219456"/>
          </a:xfrm>
          <a:prstGeom prst="rect">
            <a:avLst/>
          </a:prstGeom>
          <a:solidFill>
            <a:srgbClr val="F5F5F5"/>
          </a:solidFill>
          <a:ln w="3810">
            <a:solidFill>
              <a:srgbClr val="AAAAAA"/>
            </a:solidFill>
            <a:prstDash val="solid"/>
          </a:ln>
        </p:spPr>
      </p:sp>
      <p:sp>
        <p:nvSpPr>
          <p:cNvPr id="73" name="Text 71"/>
          <p:cNvSpPr/>
          <p:nvPr/>
        </p:nvSpPr>
        <p:spPr>
          <a:xfrm>
            <a:off x="2798064" y="3054096"/>
            <a:ext cx="1188720" cy="219456"/>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True</a:t>
            </a:r>
            <a:endParaRPr lang="en-US" sz="750" dirty="0"/>
          </a:p>
        </p:txBody>
      </p:sp>
      <p:sp>
        <p:nvSpPr>
          <p:cNvPr id="74" name="Shape 72"/>
          <p:cNvSpPr/>
          <p:nvPr/>
        </p:nvSpPr>
        <p:spPr>
          <a:xfrm>
            <a:off x="4023360" y="3054096"/>
            <a:ext cx="7955280" cy="219456"/>
          </a:xfrm>
          <a:prstGeom prst="rect">
            <a:avLst/>
          </a:prstGeom>
          <a:solidFill>
            <a:srgbClr val="F5F5F5"/>
          </a:solidFill>
          <a:ln w="3810">
            <a:solidFill>
              <a:srgbClr val="AAAAAA"/>
            </a:solidFill>
            <a:prstDash val="solid"/>
          </a:ln>
        </p:spPr>
      </p:sp>
      <p:sp>
        <p:nvSpPr>
          <p:cNvPr id="75" name="Text 73"/>
          <p:cNvSpPr/>
          <p:nvPr/>
        </p:nvSpPr>
        <p:spPr>
          <a:xfrm>
            <a:off x="4078224" y="3054096"/>
            <a:ext cx="7863840" cy="219456"/>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Prevents final batch with &lt;2 clips per emotion (SupCon guard)</a:t>
            </a:r>
            <a:endParaRPr lang="en-US" sz="750" dirty="0"/>
          </a:p>
        </p:txBody>
      </p:sp>
      <p:sp>
        <p:nvSpPr>
          <p:cNvPr id="76" name="Shape 74"/>
          <p:cNvSpPr/>
          <p:nvPr/>
        </p:nvSpPr>
        <p:spPr>
          <a:xfrm>
            <a:off x="182880" y="3273552"/>
            <a:ext cx="2560320" cy="219456"/>
          </a:xfrm>
          <a:prstGeom prst="rect">
            <a:avLst/>
          </a:prstGeom>
          <a:solidFill>
            <a:srgbClr val="FFFFFF"/>
          </a:solidFill>
          <a:ln w="3810">
            <a:solidFill>
              <a:srgbClr val="AAAAAA"/>
            </a:solidFill>
            <a:prstDash val="solid"/>
          </a:ln>
        </p:spPr>
      </p:sp>
      <p:sp>
        <p:nvSpPr>
          <p:cNvPr id="77" name="Text 75"/>
          <p:cNvSpPr/>
          <p:nvPr/>
        </p:nvSpPr>
        <p:spPr>
          <a:xfrm>
            <a:off x="237744" y="3273552"/>
            <a:ext cx="2468880" cy="219456"/>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num_workers</a:t>
            </a:r>
            <a:endParaRPr lang="en-US" sz="750" dirty="0"/>
          </a:p>
        </p:txBody>
      </p:sp>
      <p:sp>
        <p:nvSpPr>
          <p:cNvPr id="78" name="Shape 76"/>
          <p:cNvSpPr/>
          <p:nvPr/>
        </p:nvSpPr>
        <p:spPr>
          <a:xfrm>
            <a:off x="2743200" y="3273552"/>
            <a:ext cx="1280160" cy="219456"/>
          </a:xfrm>
          <a:prstGeom prst="rect">
            <a:avLst/>
          </a:prstGeom>
          <a:solidFill>
            <a:srgbClr val="FFFFFF"/>
          </a:solidFill>
          <a:ln w="3810">
            <a:solidFill>
              <a:srgbClr val="AAAAAA"/>
            </a:solidFill>
            <a:prstDash val="solid"/>
          </a:ln>
        </p:spPr>
      </p:sp>
      <p:sp>
        <p:nvSpPr>
          <p:cNvPr id="79" name="Text 77"/>
          <p:cNvSpPr/>
          <p:nvPr/>
        </p:nvSpPr>
        <p:spPr>
          <a:xfrm>
            <a:off x="2798064" y="3273552"/>
            <a:ext cx="1188720" cy="219456"/>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0</a:t>
            </a:r>
            <a:endParaRPr lang="en-US" sz="750" dirty="0"/>
          </a:p>
        </p:txBody>
      </p:sp>
      <p:sp>
        <p:nvSpPr>
          <p:cNvPr id="80" name="Shape 78"/>
          <p:cNvSpPr/>
          <p:nvPr/>
        </p:nvSpPr>
        <p:spPr>
          <a:xfrm>
            <a:off x="4023360" y="3273552"/>
            <a:ext cx="7955280" cy="219456"/>
          </a:xfrm>
          <a:prstGeom prst="rect">
            <a:avLst/>
          </a:prstGeom>
          <a:solidFill>
            <a:srgbClr val="FFFFFF"/>
          </a:solidFill>
          <a:ln w="3810">
            <a:solidFill>
              <a:srgbClr val="AAAAAA"/>
            </a:solidFill>
            <a:prstDash val="solid"/>
          </a:ln>
        </p:spPr>
      </p:sp>
      <p:sp>
        <p:nvSpPr>
          <p:cNvPr id="81" name="Text 79"/>
          <p:cNvSpPr/>
          <p:nvPr/>
        </p:nvSpPr>
        <p:spPr>
          <a:xfrm>
            <a:off x="4078224" y="3273552"/>
            <a:ext cx="7863840" cy="219456"/>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Avoids Colab subprocess fork error on T4</a:t>
            </a:r>
            <a:endParaRPr lang="en-US" sz="750" dirty="0"/>
          </a:p>
        </p:txBody>
      </p:sp>
      <p:sp>
        <p:nvSpPr>
          <p:cNvPr id="82" name="Shape 80"/>
          <p:cNvSpPr/>
          <p:nvPr/>
        </p:nvSpPr>
        <p:spPr>
          <a:xfrm>
            <a:off x="182880" y="3584448"/>
            <a:ext cx="36576" cy="237744"/>
          </a:xfrm>
          <a:prstGeom prst="rect">
            <a:avLst/>
          </a:prstGeom>
          <a:solidFill>
            <a:srgbClr val="8A5200"/>
          </a:solidFill>
          <a:ln w="12700">
            <a:solidFill>
              <a:srgbClr val="8A5200"/>
            </a:solidFill>
            <a:prstDash val="solid"/>
          </a:ln>
        </p:spPr>
      </p:sp>
      <p:sp>
        <p:nvSpPr>
          <p:cNvPr id="83" name="Text 81"/>
          <p:cNvSpPr/>
          <p:nvPr/>
        </p:nvSpPr>
        <p:spPr>
          <a:xfrm>
            <a:off x="256032" y="3584448"/>
            <a:ext cx="5486400" cy="237744"/>
          </a:xfrm>
          <a:prstGeom prst="rect">
            <a:avLst/>
          </a:prstGeom>
          <a:noFill/>
          <a:ln/>
        </p:spPr>
        <p:txBody>
          <a:bodyPr wrap="square" lIns="38100" tIns="38100" rIns="38100" bIns="38100" rtlCol="0" anchor="ctr"/>
          <a:lstStyle/>
          <a:p>
            <a:pPr algn="l" indent="0" marL="0">
              <a:buNone/>
            </a:pPr>
            <a:r>
              <a:rPr lang="en-US" sz="800" b="1" dirty="0">
                <a:solidFill>
                  <a:srgbClr val="8A5200"/>
                </a:solidFill>
                <a:latin typeface="Calibri" pitchFamily="34" charset="0"/>
                <a:ea typeface="Calibri" pitchFamily="34" charset="-122"/>
                <a:cs typeface="Calibri" pitchFamily="34" charset="-120"/>
              </a:rPr>
              <a:t>LR Schedule — Linear Warmup + Cosine Decay</a:t>
            </a:r>
            <a:endParaRPr lang="en-US" sz="800" dirty="0"/>
          </a:p>
        </p:txBody>
      </p:sp>
      <p:sp>
        <p:nvSpPr>
          <p:cNvPr id="84" name="Shape 82"/>
          <p:cNvSpPr/>
          <p:nvPr/>
        </p:nvSpPr>
        <p:spPr>
          <a:xfrm>
            <a:off x="182880" y="3803904"/>
            <a:ext cx="5120640" cy="2578608"/>
          </a:xfrm>
          <a:prstGeom prst="rect">
            <a:avLst/>
          </a:prstGeom>
          <a:solidFill>
            <a:srgbClr val="FFF0CC"/>
          </a:solidFill>
          <a:ln w="10160">
            <a:solidFill>
              <a:srgbClr val="8A5200"/>
            </a:solidFill>
            <a:prstDash val="solid"/>
          </a:ln>
          <a:effectLst>
            <a:outerShdw sx="100000" sy="100000" kx="0" ky="0" algn="bl" rotWithShape="0" blurRad="38100" dist="25400" dir="8100000">
              <a:srgbClr val="000000">
                <a:alpha val="9000"/>
              </a:srgbClr>
            </a:outerShdw>
          </a:effectLst>
        </p:spPr>
      </p:sp>
      <p:sp>
        <p:nvSpPr>
          <p:cNvPr id="85" name="Text 83"/>
          <p:cNvSpPr/>
          <p:nvPr/>
        </p:nvSpPr>
        <p:spPr>
          <a:xfrm>
            <a:off x="274320" y="3803904"/>
            <a:ext cx="4937760" cy="256032"/>
          </a:xfrm>
          <a:prstGeom prst="rect">
            <a:avLst/>
          </a:prstGeom>
          <a:noFill/>
          <a:ln/>
        </p:spPr>
        <p:txBody>
          <a:bodyPr wrap="square" lIns="38100" tIns="38100" rIns="38100" bIns="38100" rtlCol="0" anchor="ctr"/>
          <a:lstStyle/>
          <a:p>
            <a:pPr algn="l" indent="0" marL="0">
              <a:buNone/>
            </a:pPr>
            <a:r>
              <a:rPr lang="en-US" sz="900" b="1" dirty="0">
                <a:solidFill>
                  <a:srgbClr val="8A5200"/>
                </a:solidFill>
                <a:latin typeface="Calibri" pitchFamily="34" charset="0"/>
                <a:ea typeface="Calibri" pitchFamily="34" charset="-122"/>
                <a:cs typeface="Calibri" pitchFamily="34" charset="-120"/>
              </a:rPr>
              <a:t>LambdaLR: two-phase schedule</a:t>
            </a:r>
            <a:endParaRPr lang="en-US" sz="900" dirty="0"/>
          </a:p>
        </p:txBody>
      </p:sp>
      <p:sp>
        <p:nvSpPr>
          <p:cNvPr id="86" name="Text 84"/>
          <p:cNvSpPr/>
          <p:nvPr/>
        </p:nvSpPr>
        <p:spPr>
          <a:xfrm>
            <a:off x="274320" y="4041648"/>
            <a:ext cx="4937760" cy="2304288"/>
          </a:xfrm>
          <a:prstGeom prst="rect">
            <a:avLst/>
          </a:prstGeom>
          <a:noFill/>
          <a:ln/>
        </p:spPr>
        <p:txBody>
          <a:bodyPr wrap="square" lIns="38100" tIns="38100" rIns="38100" bIns="38100" rtlCol="0" anchor="t"/>
          <a:lstStyle/>
          <a:p>
            <a:pPr algn="l" indent="0" marL="0">
              <a:buNone/>
            </a:pPr>
            <a:r>
              <a:rPr lang="en-US" sz="750" dirty="0">
                <a:solidFill>
                  <a:srgbClr val="1A1A1A"/>
                </a:solidFill>
                <a:latin typeface="Calibri" pitchFamily="34" charset="0"/>
                <a:ea typeface="Calibri" pitchFamily="34" charset="-122"/>
                <a:cs typeface="Calibri" pitchFamily="34" charset="-120"/>
              </a:rPr>
              <a:t>Phase 1 — Linear Warmup (first 10% = 270 steps):</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η(t) = η₀ × (t / warmup_steps)</a:t>
            </a:r>
            <a:endParaRPr lang="en-US" sz="750" dirty="0"/>
          </a:p>
          <a:p>
            <a:pPr algn="l" indent="0" marL="0">
              <a:buNone/>
            </a:pP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Phase 2 — Cosine Decay (steps 270..2700):</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η(t) = η₀ × ½ × (1 + cos(π × progress))</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progress = (t − warmup_steps) / (total_steps − warmup_steps)</a:t>
            </a:r>
            <a:endParaRPr lang="en-US" sz="750" dirty="0"/>
          </a:p>
          <a:p>
            <a:pPr algn="l" indent="0" marL="0">
              <a:buNone/>
            </a:pP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where:</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  total_steps  = 90 batches/epoch × 30 epochs = 2,700</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  warmup_steps = 2,700 ÷ 10 = 270 steps</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  η₀ = 1e-4 (AdamW initial LR)</a:t>
            </a:r>
            <a:endParaRPr lang="en-US" sz="750" dirty="0"/>
          </a:p>
          <a:p>
            <a:pPr algn="l" indent="0" marL="0">
              <a:buNone/>
            </a:pP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Why warmup? Random init = large unstructured gradients.</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Linear ramp prevents catastrophic first-batch updates.</a:t>
            </a:r>
            <a:endParaRPr lang="en-US" sz="750" dirty="0"/>
          </a:p>
          <a:p>
            <a:pPr algn="l" indent="0" marL="0">
              <a:buNone/>
            </a:pP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Why cosine? Smooth LR reduction — large when far from</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optimum, tiny near convergence. Avoids hard step drops.</a:t>
            </a:r>
            <a:endParaRPr lang="en-US" sz="750" dirty="0"/>
          </a:p>
          <a:p>
            <a:pPr algn="l" indent="0" marL="0">
              <a:buNone/>
            </a:pP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AdamW: θ_{t+1} = θ_t − η_t·m̂_t/(√v̂_t+ε) − η_t·λ·θ_t</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(last term = decoupled weight decay, λ=0.01)</a:t>
            </a:r>
            <a:endParaRPr lang="en-US" sz="750" dirty="0"/>
          </a:p>
        </p:txBody>
      </p:sp>
      <p:sp>
        <p:nvSpPr>
          <p:cNvPr id="87" name="Shape 85"/>
          <p:cNvSpPr/>
          <p:nvPr/>
        </p:nvSpPr>
        <p:spPr>
          <a:xfrm>
            <a:off x="5468112" y="3584448"/>
            <a:ext cx="36576" cy="237744"/>
          </a:xfrm>
          <a:prstGeom prst="rect">
            <a:avLst/>
          </a:prstGeom>
          <a:solidFill>
            <a:srgbClr val="7B1FA2"/>
          </a:solidFill>
          <a:ln w="12700">
            <a:solidFill>
              <a:srgbClr val="7B1FA2"/>
            </a:solidFill>
            <a:prstDash val="solid"/>
          </a:ln>
        </p:spPr>
      </p:sp>
      <p:sp>
        <p:nvSpPr>
          <p:cNvPr id="88" name="Text 86"/>
          <p:cNvSpPr/>
          <p:nvPr/>
        </p:nvSpPr>
        <p:spPr>
          <a:xfrm>
            <a:off x="5541264" y="3584448"/>
            <a:ext cx="5486400" cy="237744"/>
          </a:xfrm>
          <a:prstGeom prst="rect">
            <a:avLst/>
          </a:prstGeom>
          <a:noFill/>
          <a:ln/>
        </p:spPr>
        <p:txBody>
          <a:bodyPr wrap="square" lIns="38100" tIns="38100" rIns="38100" bIns="38100" rtlCol="0" anchor="ctr"/>
          <a:lstStyle/>
          <a:p>
            <a:pPr algn="l" indent="0" marL="0">
              <a:buNone/>
            </a:pPr>
            <a:r>
              <a:rPr lang="en-US" sz="800" b="1" dirty="0">
                <a:solidFill>
                  <a:srgbClr val="7B1FA2"/>
                </a:solidFill>
                <a:latin typeface="Calibri" pitchFamily="34" charset="0"/>
                <a:ea typeface="Calibri" pitchFamily="34" charset="-122"/>
                <a:cs typeface="Calibri" pitchFamily="34" charset="-120"/>
              </a:rPr>
              <a:t>Full Training Loop Algorithm</a:t>
            </a:r>
            <a:endParaRPr lang="en-US" sz="800" dirty="0"/>
          </a:p>
        </p:txBody>
      </p:sp>
      <p:sp>
        <p:nvSpPr>
          <p:cNvPr id="89" name="Shape 87"/>
          <p:cNvSpPr/>
          <p:nvPr/>
        </p:nvSpPr>
        <p:spPr>
          <a:xfrm>
            <a:off x="5468112" y="3803904"/>
            <a:ext cx="6510528" cy="2578608"/>
          </a:xfrm>
          <a:prstGeom prst="rect">
            <a:avLst/>
          </a:prstGeom>
          <a:solidFill>
            <a:srgbClr val="1E1E2E"/>
          </a:solidFill>
          <a:ln w="10160">
            <a:solidFill>
              <a:srgbClr val="AAAAAA"/>
            </a:solidFill>
            <a:prstDash val="solid"/>
          </a:ln>
        </p:spPr>
      </p:sp>
      <p:sp>
        <p:nvSpPr>
          <p:cNvPr id="90" name="Text 88"/>
          <p:cNvSpPr/>
          <p:nvPr/>
        </p:nvSpPr>
        <p:spPr>
          <a:xfrm>
            <a:off x="5559552" y="3840480"/>
            <a:ext cx="6327648" cy="162763"/>
          </a:xfrm>
          <a:prstGeom prst="rect">
            <a:avLst/>
          </a:prstGeom>
          <a:noFill/>
          <a:ln/>
        </p:spPr>
        <p:txBody>
          <a:bodyPr wrap="square" lIns="38100" tIns="38100" rIns="38100" bIns="38100" rtlCol="0" anchor="ctr"/>
          <a:lstStyle/>
          <a:p>
            <a:pPr algn="l" indent="0" marL="0">
              <a:buNone/>
            </a:pPr>
            <a:r>
              <a:rPr lang="en-US" sz="680" dirty="0">
                <a:solidFill>
                  <a:srgbClr val="A78BFA"/>
                </a:solidFill>
                <a:latin typeface="Consolas" pitchFamily="34" charset="0"/>
                <a:ea typeface="Consolas" pitchFamily="34" charset="-122"/>
                <a:cs typeface="Consolas" pitchFamily="34" charset="-120"/>
              </a:rPr>
              <a:t>Algorithm: PIPELINE_C_TRAINING (Cell 14)</a:t>
            </a:r>
            <a:endParaRPr lang="en-US" sz="680" dirty="0"/>
          </a:p>
        </p:txBody>
      </p:sp>
      <p:sp>
        <p:nvSpPr>
          <p:cNvPr id="91" name="Text 89"/>
          <p:cNvSpPr/>
          <p:nvPr/>
        </p:nvSpPr>
        <p:spPr>
          <a:xfrm>
            <a:off x="5559552" y="3955694"/>
            <a:ext cx="6327648" cy="162763"/>
          </a:xfrm>
          <a:prstGeom prst="rect">
            <a:avLst/>
          </a:prstGeom>
          <a:noFill/>
          <a:ln/>
        </p:spPr>
        <p:txBody>
          <a:bodyPr wrap="square" lIns="38100" tIns="38100" rIns="38100" bIns="38100" rtlCol="0" anchor="ctr"/>
          <a:lstStyle/>
          <a:p>
            <a:pPr algn="l" indent="0" marL="0">
              <a:buNone/>
            </a:pPr>
            <a:r>
              <a:rPr lang="en-US" sz="680" dirty="0">
                <a:solidFill>
                  <a:srgbClr val="E2E8F0"/>
                </a:solidFill>
                <a:latin typeface="Consolas" pitchFamily="34" charset="0"/>
                <a:ea typeface="Consolas" pitchFamily="34" charset="-122"/>
                <a:cs typeface="Consolas" pitchFamily="34" charset="-120"/>
              </a:rPr>
              <a:t>Config: B=16, epochs=30, LR=1e-4, τ=0.07, warmup=10%</a:t>
            </a:r>
            <a:endParaRPr lang="en-US" sz="680" dirty="0"/>
          </a:p>
        </p:txBody>
      </p:sp>
      <p:sp>
        <p:nvSpPr>
          <p:cNvPr id="92" name="Text 90"/>
          <p:cNvSpPr/>
          <p:nvPr/>
        </p:nvSpPr>
        <p:spPr>
          <a:xfrm>
            <a:off x="5559552" y="4070909"/>
            <a:ext cx="6327648" cy="162763"/>
          </a:xfrm>
          <a:prstGeom prst="rect">
            <a:avLst/>
          </a:prstGeom>
          <a:noFill/>
          <a:ln/>
        </p:spPr>
        <p:txBody>
          <a:bodyPr wrap="square" lIns="38100" tIns="38100" rIns="38100" bIns="38100" rtlCol="0" anchor="ctr"/>
          <a:lstStyle/>
          <a:p>
            <a:pPr algn="l" indent="0" marL="0">
              <a:buNone/>
            </a:pPr>
            <a:endParaRPr lang="en-US" sz="680" dirty="0"/>
          </a:p>
        </p:txBody>
      </p:sp>
      <p:sp>
        <p:nvSpPr>
          <p:cNvPr id="93" name="Text 91"/>
          <p:cNvSpPr/>
          <p:nvPr/>
        </p:nvSpPr>
        <p:spPr>
          <a:xfrm>
            <a:off x="5559552" y="4186123"/>
            <a:ext cx="6327648" cy="162763"/>
          </a:xfrm>
          <a:prstGeom prst="rect">
            <a:avLst/>
          </a:prstGeom>
          <a:noFill/>
          <a:ln/>
        </p:spPr>
        <p:txBody>
          <a:bodyPr wrap="square" lIns="38100" tIns="38100" rIns="38100" bIns="38100" rtlCol="0" anchor="ctr"/>
          <a:lstStyle/>
          <a:p>
            <a:pPr algn="l" indent="0" marL="0">
              <a:buNone/>
            </a:pPr>
            <a:r>
              <a:rPr lang="en-US" sz="680" dirty="0">
                <a:solidFill>
                  <a:srgbClr val="94A3B8"/>
                </a:solidFill>
                <a:latin typeface="Consolas" pitchFamily="34" charset="0"/>
                <a:ea typeface="Consolas" pitchFamily="34" charset="-122"/>
                <a:cs typeface="Consolas" pitchFamily="34" charset="-120"/>
              </a:rPr>
              <a:t>start_epoch, all_losses, all_accs ← load_checkpoint()  # resume</a:t>
            </a:r>
            <a:endParaRPr lang="en-US" sz="680" dirty="0"/>
          </a:p>
        </p:txBody>
      </p:sp>
      <p:sp>
        <p:nvSpPr>
          <p:cNvPr id="94" name="Text 92"/>
          <p:cNvSpPr/>
          <p:nvPr/>
        </p:nvSpPr>
        <p:spPr>
          <a:xfrm>
            <a:off x="5559552" y="4301338"/>
            <a:ext cx="6327648" cy="162763"/>
          </a:xfrm>
          <a:prstGeom prst="rect">
            <a:avLst/>
          </a:prstGeom>
          <a:noFill/>
          <a:ln/>
        </p:spPr>
        <p:txBody>
          <a:bodyPr wrap="square" lIns="38100" tIns="38100" rIns="38100" bIns="38100" rtlCol="0" anchor="ctr"/>
          <a:lstStyle/>
          <a:p>
            <a:pPr algn="l" indent="0" marL="0">
              <a:buNone/>
            </a:pPr>
            <a:r>
              <a:rPr lang="en-US" sz="680" dirty="0">
                <a:solidFill>
                  <a:srgbClr val="94A3B8"/>
                </a:solidFill>
                <a:latin typeface="Consolas" pitchFamily="34" charset="0"/>
                <a:ea typeface="Consolas" pitchFamily="34" charset="-122"/>
                <a:cs typeface="Consolas" pitchFamily="34" charset="-120"/>
              </a:rPr>
              <a:t>best_acc ← max(all_accs) if all_accs else 0.0</a:t>
            </a:r>
            <a:endParaRPr lang="en-US" sz="680" dirty="0"/>
          </a:p>
        </p:txBody>
      </p:sp>
      <p:sp>
        <p:nvSpPr>
          <p:cNvPr id="95" name="Text 93"/>
          <p:cNvSpPr/>
          <p:nvPr/>
        </p:nvSpPr>
        <p:spPr>
          <a:xfrm>
            <a:off x="5559552" y="4416552"/>
            <a:ext cx="6327648" cy="162763"/>
          </a:xfrm>
          <a:prstGeom prst="rect">
            <a:avLst/>
          </a:prstGeom>
          <a:noFill/>
          <a:ln/>
        </p:spPr>
        <p:txBody>
          <a:bodyPr wrap="square" lIns="38100" tIns="38100" rIns="38100" bIns="38100" rtlCol="0" anchor="ctr"/>
          <a:lstStyle/>
          <a:p>
            <a:pPr algn="l" indent="0" marL="0">
              <a:buNone/>
            </a:pPr>
            <a:endParaRPr lang="en-US" sz="680" dirty="0"/>
          </a:p>
        </p:txBody>
      </p:sp>
      <p:sp>
        <p:nvSpPr>
          <p:cNvPr id="96" name="Text 94"/>
          <p:cNvSpPr/>
          <p:nvPr/>
        </p:nvSpPr>
        <p:spPr>
          <a:xfrm>
            <a:off x="5559552" y="4531766"/>
            <a:ext cx="6327648" cy="162763"/>
          </a:xfrm>
          <a:prstGeom prst="rect">
            <a:avLst/>
          </a:prstGeom>
          <a:noFill/>
          <a:ln/>
        </p:spPr>
        <p:txBody>
          <a:bodyPr wrap="square" lIns="38100" tIns="38100" rIns="38100" bIns="38100" rtlCol="0" anchor="ctr"/>
          <a:lstStyle/>
          <a:p>
            <a:pPr algn="l" indent="0" marL="0">
              <a:buNone/>
            </a:pPr>
            <a:r>
              <a:rPr lang="en-US" sz="680" dirty="0">
                <a:solidFill>
                  <a:srgbClr val="94A3B8"/>
                </a:solidFill>
                <a:latin typeface="Consolas" pitchFamily="34" charset="0"/>
                <a:ea typeface="Consolas" pitchFamily="34" charset="-122"/>
                <a:cs typeface="Consolas" pitchFamily="34" charset="-120"/>
              </a:rPr>
              <a:t>FOR epoch = start_epoch TO 29:</a:t>
            </a:r>
            <a:endParaRPr lang="en-US" sz="680" dirty="0"/>
          </a:p>
        </p:txBody>
      </p:sp>
      <p:sp>
        <p:nvSpPr>
          <p:cNvPr id="97" name="Text 95"/>
          <p:cNvSpPr/>
          <p:nvPr/>
        </p:nvSpPr>
        <p:spPr>
          <a:xfrm>
            <a:off x="5559552" y="4646981"/>
            <a:ext cx="6327648" cy="162763"/>
          </a:xfrm>
          <a:prstGeom prst="rect">
            <a:avLst/>
          </a:prstGeom>
          <a:noFill/>
          <a:ln/>
        </p:spPr>
        <p:txBody>
          <a:bodyPr wrap="square" lIns="38100" tIns="38100" rIns="38100" bIns="38100" rtlCol="0" anchor="ctr"/>
          <a:lstStyle/>
          <a:p>
            <a:pPr algn="l" indent="0" marL="0">
              <a:buNone/>
            </a:pPr>
            <a:r>
              <a:rPr lang="en-US" sz="680" dirty="0">
                <a:solidFill>
                  <a:srgbClr val="94A3B8"/>
                </a:solidFill>
                <a:latin typeface="Consolas" pitchFamily="34" charset="0"/>
                <a:ea typeface="Consolas" pitchFamily="34" charset="-122"/>
                <a:cs typeface="Consolas" pitchFamily="34" charset="-120"/>
              </a:rPr>
              <a:t>  audio_proj.train()</a:t>
            </a:r>
            <a:endParaRPr lang="en-US" sz="680" dirty="0"/>
          </a:p>
        </p:txBody>
      </p:sp>
      <p:sp>
        <p:nvSpPr>
          <p:cNvPr id="98" name="Text 96"/>
          <p:cNvSpPr/>
          <p:nvPr/>
        </p:nvSpPr>
        <p:spPr>
          <a:xfrm>
            <a:off x="5559552" y="4762195"/>
            <a:ext cx="6327648" cy="162763"/>
          </a:xfrm>
          <a:prstGeom prst="rect">
            <a:avLst/>
          </a:prstGeom>
          <a:noFill/>
          <a:ln/>
        </p:spPr>
        <p:txBody>
          <a:bodyPr wrap="square" lIns="38100" tIns="38100" rIns="38100" bIns="38100" rtlCol="0" anchor="ctr"/>
          <a:lstStyle/>
          <a:p>
            <a:pPr algn="l" indent="0" marL="0">
              <a:buNone/>
            </a:pPr>
            <a:r>
              <a:rPr lang="en-US" sz="680" dirty="0">
                <a:solidFill>
                  <a:srgbClr val="94A3B8"/>
                </a:solidFill>
                <a:latin typeface="Consolas" pitchFamily="34" charset="0"/>
                <a:ea typeface="Consolas" pitchFamily="34" charset="-122"/>
                <a:cs typeface="Consolas" pitchFamily="34" charset="-120"/>
              </a:rPr>
              <a:t>  epoch_losses ← []</a:t>
            </a:r>
            <a:endParaRPr lang="en-US" sz="680" dirty="0"/>
          </a:p>
        </p:txBody>
      </p:sp>
      <p:sp>
        <p:nvSpPr>
          <p:cNvPr id="99" name="Text 97"/>
          <p:cNvSpPr/>
          <p:nvPr/>
        </p:nvSpPr>
        <p:spPr>
          <a:xfrm>
            <a:off x="5559552" y="4877410"/>
            <a:ext cx="6327648" cy="162763"/>
          </a:xfrm>
          <a:prstGeom prst="rect">
            <a:avLst/>
          </a:prstGeom>
          <a:noFill/>
          <a:ln/>
        </p:spPr>
        <p:txBody>
          <a:bodyPr wrap="square" lIns="38100" tIns="38100" rIns="38100" bIns="38100" rtlCol="0" anchor="ctr"/>
          <a:lstStyle/>
          <a:p>
            <a:pPr algn="l" indent="0" marL="0">
              <a:buNone/>
            </a:pPr>
            <a:r>
              <a:rPr lang="en-US" sz="680" dirty="0">
                <a:solidFill>
                  <a:srgbClr val="94A3B8"/>
                </a:solidFill>
                <a:latin typeface="Consolas" pitchFamily="34" charset="0"/>
                <a:ea typeface="Consolas" pitchFamily="34" charset="-122"/>
                <a:cs typeface="Consolas" pitchFamily="34" charset="-120"/>
              </a:rPr>
              <a:t>  FOR (embs[B,768], labels[B]) in audio_loader:</a:t>
            </a:r>
            <a:endParaRPr lang="en-US" sz="680" dirty="0"/>
          </a:p>
        </p:txBody>
      </p:sp>
      <p:sp>
        <p:nvSpPr>
          <p:cNvPr id="100" name="Text 98"/>
          <p:cNvSpPr/>
          <p:nvPr/>
        </p:nvSpPr>
        <p:spPr>
          <a:xfrm>
            <a:off x="5559552" y="4992624"/>
            <a:ext cx="6327648" cy="162763"/>
          </a:xfrm>
          <a:prstGeom prst="rect">
            <a:avLst/>
          </a:prstGeom>
          <a:noFill/>
          <a:ln/>
        </p:spPr>
        <p:txBody>
          <a:bodyPr wrap="square" lIns="38100" tIns="38100" rIns="38100" bIns="38100" rtlCol="0" anchor="ctr"/>
          <a:lstStyle/>
          <a:p>
            <a:pPr algn="l" indent="0" marL="0">
              <a:buNone/>
            </a:pPr>
            <a:r>
              <a:rPr lang="en-US" sz="680" dirty="0">
                <a:solidFill>
                  <a:srgbClr val="94A3B8"/>
                </a:solidFill>
                <a:latin typeface="Consolas" pitchFamily="34" charset="0"/>
                <a:ea typeface="Consolas" pitchFamily="34" charset="-122"/>
                <a:cs typeface="Consolas" pitchFamily="34" charset="-120"/>
              </a:rPr>
              <a:t>    embs, labels ← embs.to(device), labels.to(device)</a:t>
            </a:r>
            <a:endParaRPr lang="en-US" sz="680" dirty="0"/>
          </a:p>
        </p:txBody>
      </p:sp>
      <p:sp>
        <p:nvSpPr>
          <p:cNvPr id="101" name="Text 99"/>
          <p:cNvSpPr/>
          <p:nvPr/>
        </p:nvSpPr>
        <p:spPr>
          <a:xfrm>
            <a:off x="5559552" y="5107838"/>
            <a:ext cx="6327648" cy="162763"/>
          </a:xfrm>
          <a:prstGeom prst="rect">
            <a:avLst/>
          </a:prstGeom>
          <a:noFill/>
          <a:ln/>
        </p:spPr>
        <p:txBody>
          <a:bodyPr wrap="square" lIns="38100" tIns="38100" rIns="38100" bIns="38100" rtlCol="0" anchor="ctr"/>
          <a:lstStyle/>
          <a:p>
            <a:pPr algn="l" indent="0" marL="0">
              <a:buNone/>
            </a:pPr>
            <a:r>
              <a:rPr lang="en-US" sz="680" dirty="0">
                <a:solidFill>
                  <a:srgbClr val="34D399"/>
                </a:solidFill>
                <a:latin typeface="Consolas" pitchFamily="34" charset="0"/>
                <a:ea typeface="Consolas" pitchFamily="34" charset="-122"/>
                <a:cs typeface="Consolas" pitchFamily="34" charset="-120"/>
              </a:rPr>
              <a:t>    proj ← audio_proj(embs)    # [B,512] L2-normalised</a:t>
            </a:r>
            <a:endParaRPr lang="en-US" sz="680" dirty="0"/>
          </a:p>
        </p:txBody>
      </p:sp>
      <p:sp>
        <p:nvSpPr>
          <p:cNvPr id="102" name="Text 100"/>
          <p:cNvSpPr/>
          <p:nvPr/>
        </p:nvSpPr>
        <p:spPr>
          <a:xfrm>
            <a:off x="5559552" y="5223053"/>
            <a:ext cx="6327648" cy="162763"/>
          </a:xfrm>
          <a:prstGeom prst="rect">
            <a:avLst/>
          </a:prstGeom>
          <a:noFill/>
          <a:ln/>
        </p:spPr>
        <p:txBody>
          <a:bodyPr wrap="square" lIns="38100" tIns="38100" rIns="38100" bIns="38100" rtlCol="0" anchor="ctr"/>
          <a:lstStyle/>
          <a:p>
            <a:pPr algn="l" indent="0" marL="0">
              <a:buNone/>
            </a:pPr>
            <a:r>
              <a:rPr lang="en-US" sz="680" dirty="0">
                <a:solidFill>
                  <a:srgbClr val="34D399"/>
                </a:solidFill>
                <a:latin typeface="Consolas" pitchFamily="34" charset="0"/>
                <a:ea typeface="Consolas" pitchFamily="34" charset="-122"/>
                <a:cs typeface="Consolas" pitchFamily="34" charset="-120"/>
              </a:rPr>
              <a:t>    loss ← supcon_loss(proj, labels, τ=0.07)</a:t>
            </a:r>
            <a:endParaRPr lang="en-US" sz="680" dirty="0"/>
          </a:p>
        </p:txBody>
      </p:sp>
      <p:sp>
        <p:nvSpPr>
          <p:cNvPr id="103" name="Text 101"/>
          <p:cNvSpPr/>
          <p:nvPr/>
        </p:nvSpPr>
        <p:spPr>
          <a:xfrm>
            <a:off x="5559552" y="5338267"/>
            <a:ext cx="6327648" cy="162763"/>
          </a:xfrm>
          <a:prstGeom prst="rect">
            <a:avLst/>
          </a:prstGeom>
          <a:noFill/>
          <a:ln/>
        </p:spPr>
        <p:txBody>
          <a:bodyPr wrap="square" lIns="38100" tIns="38100" rIns="38100" bIns="38100" rtlCol="0" anchor="ctr"/>
          <a:lstStyle/>
          <a:p>
            <a:pPr algn="l" indent="0" marL="0">
              <a:buNone/>
            </a:pPr>
            <a:r>
              <a:rPr lang="en-US" sz="680" dirty="0">
                <a:solidFill>
                  <a:srgbClr val="94A3B8"/>
                </a:solidFill>
                <a:latin typeface="Consolas" pitchFamily="34" charset="0"/>
                <a:ea typeface="Consolas" pitchFamily="34" charset="-122"/>
                <a:cs typeface="Consolas" pitchFamily="34" charset="-120"/>
              </a:rPr>
              <a:t>    optimizer.zero_grad()</a:t>
            </a:r>
            <a:endParaRPr lang="en-US" sz="680" dirty="0"/>
          </a:p>
        </p:txBody>
      </p:sp>
      <p:sp>
        <p:nvSpPr>
          <p:cNvPr id="104" name="Text 102"/>
          <p:cNvSpPr/>
          <p:nvPr/>
        </p:nvSpPr>
        <p:spPr>
          <a:xfrm>
            <a:off x="5559552" y="5453482"/>
            <a:ext cx="6327648" cy="162763"/>
          </a:xfrm>
          <a:prstGeom prst="rect">
            <a:avLst/>
          </a:prstGeom>
          <a:noFill/>
          <a:ln/>
        </p:spPr>
        <p:txBody>
          <a:bodyPr wrap="square" lIns="38100" tIns="38100" rIns="38100" bIns="38100" rtlCol="0" anchor="ctr"/>
          <a:lstStyle/>
          <a:p>
            <a:pPr algn="l" indent="0" marL="0">
              <a:buNone/>
            </a:pPr>
            <a:r>
              <a:rPr lang="en-US" sz="680" dirty="0">
                <a:solidFill>
                  <a:srgbClr val="94A3B8"/>
                </a:solidFill>
                <a:latin typeface="Consolas" pitchFamily="34" charset="0"/>
                <a:ea typeface="Consolas" pitchFamily="34" charset="-122"/>
                <a:cs typeface="Consolas" pitchFamily="34" charset="-120"/>
              </a:rPr>
              <a:t>    loss.backward()</a:t>
            </a:r>
            <a:endParaRPr lang="en-US" sz="680" dirty="0"/>
          </a:p>
        </p:txBody>
      </p:sp>
      <p:sp>
        <p:nvSpPr>
          <p:cNvPr id="105" name="Text 103"/>
          <p:cNvSpPr/>
          <p:nvPr/>
        </p:nvSpPr>
        <p:spPr>
          <a:xfrm>
            <a:off x="5559552" y="5568696"/>
            <a:ext cx="6327648" cy="162763"/>
          </a:xfrm>
          <a:prstGeom prst="rect">
            <a:avLst/>
          </a:prstGeom>
          <a:noFill/>
          <a:ln/>
        </p:spPr>
        <p:txBody>
          <a:bodyPr wrap="square" lIns="38100" tIns="38100" rIns="38100" bIns="38100" rtlCol="0" anchor="ctr"/>
          <a:lstStyle/>
          <a:p>
            <a:pPr algn="l" indent="0" marL="0">
              <a:buNone/>
            </a:pPr>
            <a:r>
              <a:rPr lang="en-US" sz="680" dirty="0">
                <a:solidFill>
                  <a:srgbClr val="34D399"/>
                </a:solidFill>
                <a:latin typeface="Consolas" pitchFamily="34" charset="0"/>
                <a:ea typeface="Consolas" pitchFamily="34" charset="-122"/>
                <a:cs typeface="Consolas" pitchFamily="34" charset="-120"/>
              </a:rPr>
              <a:t>    clip_grad_norm_(audio_proj.params, max_norm=1.0)  # safety</a:t>
            </a:r>
            <a:endParaRPr lang="en-US" sz="680" dirty="0"/>
          </a:p>
        </p:txBody>
      </p:sp>
      <p:sp>
        <p:nvSpPr>
          <p:cNvPr id="106" name="Text 104"/>
          <p:cNvSpPr/>
          <p:nvPr/>
        </p:nvSpPr>
        <p:spPr>
          <a:xfrm>
            <a:off x="5559552" y="5683910"/>
            <a:ext cx="6327648" cy="162763"/>
          </a:xfrm>
          <a:prstGeom prst="rect">
            <a:avLst/>
          </a:prstGeom>
          <a:noFill/>
          <a:ln/>
        </p:spPr>
        <p:txBody>
          <a:bodyPr wrap="square" lIns="38100" tIns="38100" rIns="38100" bIns="38100" rtlCol="0" anchor="ctr"/>
          <a:lstStyle/>
          <a:p>
            <a:pPr algn="l" indent="0" marL="0">
              <a:buNone/>
            </a:pPr>
            <a:r>
              <a:rPr lang="en-US" sz="680" dirty="0">
                <a:solidFill>
                  <a:srgbClr val="94A3B8"/>
                </a:solidFill>
                <a:latin typeface="Consolas" pitchFamily="34" charset="0"/>
                <a:ea typeface="Consolas" pitchFamily="34" charset="-122"/>
                <a:cs typeface="Consolas" pitchFamily="34" charset="-120"/>
              </a:rPr>
              <a:t>    optimizer.step(); scheduler.step()</a:t>
            </a:r>
            <a:endParaRPr lang="en-US" sz="680" dirty="0"/>
          </a:p>
        </p:txBody>
      </p:sp>
      <p:sp>
        <p:nvSpPr>
          <p:cNvPr id="107" name="Text 105"/>
          <p:cNvSpPr/>
          <p:nvPr/>
        </p:nvSpPr>
        <p:spPr>
          <a:xfrm>
            <a:off x="5559552" y="5799125"/>
            <a:ext cx="6327648" cy="162763"/>
          </a:xfrm>
          <a:prstGeom prst="rect">
            <a:avLst/>
          </a:prstGeom>
          <a:noFill/>
          <a:ln/>
        </p:spPr>
        <p:txBody>
          <a:bodyPr wrap="square" lIns="38100" tIns="38100" rIns="38100" bIns="38100" rtlCol="0" anchor="ctr"/>
          <a:lstStyle/>
          <a:p>
            <a:pPr algn="l" indent="0" marL="0">
              <a:buNone/>
            </a:pPr>
            <a:r>
              <a:rPr lang="en-US" sz="680" dirty="0">
                <a:solidFill>
                  <a:srgbClr val="94A3B8"/>
                </a:solidFill>
                <a:latin typeface="Consolas" pitchFamily="34" charset="0"/>
                <a:ea typeface="Consolas" pitchFamily="34" charset="-122"/>
                <a:cs typeface="Consolas" pitchFamily="34" charset="-120"/>
              </a:rPr>
              <a:t>    epoch_losses.append(loss.item())</a:t>
            </a:r>
            <a:endParaRPr lang="en-US" sz="680" dirty="0"/>
          </a:p>
        </p:txBody>
      </p:sp>
      <p:sp>
        <p:nvSpPr>
          <p:cNvPr id="108" name="Text 106"/>
          <p:cNvSpPr/>
          <p:nvPr/>
        </p:nvSpPr>
        <p:spPr>
          <a:xfrm>
            <a:off x="5559552" y="5914339"/>
            <a:ext cx="6327648" cy="162763"/>
          </a:xfrm>
          <a:prstGeom prst="rect">
            <a:avLst/>
          </a:prstGeom>
          <a:noFill/>
          <a:ln/>
        </p:spPr>
        <p:txBody>
          <a:bodyPr wrap="square" lIns="38100" tIns="38100" rIns="38100" bIns="38100" rtlCol="0" anchor="ctr"/>
          <a:lstStyle/>
          <a:p>
            <a:pPr algn="l" indent="0" marL="0">
              <a:buNone/>
            </a:pPr>
            <a:r>
              <a:rPr lang="en-US" sz="680" dirty="0">
                <a:solidFill>
                  <a:srgbClr val="E2E8F0"/>
                </a:solidFill>
                <a:latin typeface="Consolas" pitchFamily="34" charset="0"/>
                <a:ea typeface="Consolas" pitchFamily="34" charset="-122"/>
                <a:cs typeface="Consolas" pitchFamily="34" charset="-120"/>
              </a:rPr>
              <a:t>  avg_loss ← mean(epoch_losses)</a:t>
            </a:r>
            <a:endParaRPr lang="en-US" sz="680" dirty="0"/>
          </a:p>
        </p:txBody>
      </p:sp>
      <p:sp>
        <p:nvSpPr>
          <p:cNvPr id="109" name="Text 107"/>
          <p:cNvSpPr/>
          <p:nvPr/>
        </p:nvSpPr>
        <p:spPr>
          <a:xfrm>
            <a:off x="5559552" y="6029554"/>
            <a:ext cx="6327648" cy="162763"/>
          </a:xfrm>
          <a:prstGeom prst="rect">
            <a:avLst/>
          </a:prstGeom>
          <a:noFill/>
          <a:ln/>
        </p:spPr>
        <p:txBody>
          <a:bodyPr wrap="square" lIns="38100" tIns="38100" rIns="38100" bIns="38100" rtlCol="0" anchor="ctr"/>
          <a:lstStyle/>
          <a:p>
            <a:pPr algn="l" indent="0" marL="0">
              <a:buNone/>
            </a:pPr>
            <a:r>
              <a:rPr lang="en-US" sz="680" dirty="0">
                <a:solidFill>
                  <a:srgbClr val="E2E8F0"/>
                </a:solidFill>
                <a:latin typeface="Consolas" pitchFamily="34" charset="0"/>
                <a:ea typeface="Consolas" pitchFamily="34" charset="-122"/>
                <a:cs typeface="Consolas" pitchFamily="34" charset="-120"/>
              </a:rPr>
              <a:t>  acc, per_emo, _ ← evaluate_emotion_accuracy()  # centroid NN</a:t>
            </a:r>
            <a:endParaRPr lang="en-US" sz="680" dirty="0"/>
          </a:p>
        </p:txBody>
      </p:sp>
      <p:sp>
        <p:nvSpPr>
          <p:cNvPr id="110" name="Text 108"/>
          <p:cNvSpPr/>
          <p:nvPr/>
        </p:nvSpPr>
        <p:spPr>
          <a:xfrm>
            <a:off x="5559552" y="6144768"/>
            <a:ext cx="6327648" cy="162763"/>
          </a:xfrm>
          <a:prstGeom prst="rect">
            <a:avLst/>
          </a:prstGeom>
          <a:noFill/>
          <a:ln/>
        </p:spPr>
        <p:txBody>
          <a:bodyPr wrap="square" lIns="38100" tIns="38100" rIns="38100" bIns="38100" rtlCol="0" anchor="ctr"/>
          <a:lstStyle/>
          <a:p>
            <a:pPr algn="l" indent="0" marL="0">
              <a:buNone/>
            </a:pPr>
            <a:r>
              <a:rPr lang="en-US" sz="680" dirty="0">
                <a:solidFill>
                  <a:srgbClr val="34D399"/>
                </a:solidFill>
                <a:latin typeface="Consolas" pitchFamily="34" charset="0"/>
                <a:ea typeface="Consolas" pitchFamily="34" charset="-122"/>
                <a:cs typeface="Consolas" pitchFamily="34" charset="-120"/>
              </a:rPr>
              <a:t>  IF acc &gt; best_acc:</a:t>
            </a:r>
            <a:endParaRPr lang="en-US" sz="680" dirty="0"/>
          </a:p>
        </p:txBody>
      </p:sp>
      <p:sp>
        <p:nvSpPr>
          <p:cNvPr id="111" name="Text 109"/>
          <p:cNvSpPr/>
          <p:nvPr/>
        </p:nvSpPr>
        <p:spPr>
          <a:xfrm>
            <a:off x="5559552" y="6259982"/>
            <a:ext cx="6327648" cy="162763"/>
          </a:xfrm>
          <a:prstGeom prst="rect">
            <a:avLst/>
          </a:prstGeom>
          <a:noFill/>
          <a:ln/>
        </p:spPr>
        <p:txBody>
          <a:bodyPr wrap="square" lIns="38100" tIns="38100" rIns="38100" bIns="38100" rtlCol="0" anchor="ctr"/>
          <a:lstStyle/>
          <a:p>
            <a:pPr algn="l" indent="0" marL="0">
              <a:buNone/>
            </a:pPr>
            <a:r>
              <a:rPr lang="en-US" sz="680" dirty="0">
                <a:solidFill>
                  <a:srgbClr val="34D399"/>
                </a:solidFill>
                <a:latin typeface="Consolas" pitchFamily="34" charset="0"/>
                <a:ea typeface="Consolas" pitchFamily="34" charset="-122"/>
                <a:cs typeface="Consolas" pitchFamily="34" charset="-120"/>
              </a:rPr>
              <a:t>    best_acc ← acc; best_state_dict ← deep_copy(audio_proj)</a:t>
            </a:r>
            <a:endParaRPr lang="en-US" sz="680" dirty="0"/>
          </a:p>
        </p:txBody>
      </p:sp>
      <p:sp>
        <p:nvSpPr>
          <p:cNvPr id="112" name="Text 110"/>
          <p:cNvSpPr/>
          <p:nvPr/>
        </p:nvSpPr>
        <p:spPr>
          <a:xfrm>
            <a:off x="5559552" y="6375197"/>
            <a:ext cx="6327648" cy="162763"/>
          </a:xfrm>
          <a:prstGeom prst="rect">
            <a:avLst/>
          </a:prstGeom>
          <a:noFill/>
          <a:ln/>
        </p:spPr>
        <p:txBody>
          <a:bodyPr wrap="square" lIns="38100" tIns="38100" rIns="38100" bIns="38100" rtlCol="0" anchor="ctr"/>
          <a:lstStyle/>
          <a:p>
            <a:pPr algn="l" indent="0" marL="0">
              <a:buNone/>
            </a:pPr>
            <a:r>
              <a:rPr lang="en-US" sz="680" dirty="0">
                <a:solidFill>
                  <a:srgbClr val="94A3B8"/>
                </a:solidFill>
                <a:latin typeface="Consolas" pitchFamily="34" charset="0"/>
                <a:ea typeface="Consolas" pitchFamily="34" charset="-122"/>
                <a:cs typeface="Consolas" pitchFamily="34" charset="-120"/>
              </a:rPr>
              <a:t>  save_checkpoint(epoch, all_losses, all_accs)  # every epoch</a:t>
            </a:r>
            <a:endParaRPr lang="en-US" sz="680" dirty="0"/>
          </a:p>
        </p:txBody>
      </p:sp>
      <p:sp>
        <p:nvSpPr>
          <p:cNvPr id="113" name="Shape 111"/>
          <p:cNvSpPr/>
          <p:nvPr/>
        </p:nvSpPr>
        <p:spPr>
          <a:xfrm>
            <a:off x="182880" y="6455664"/>
            <a:ext cx="36576" cy="237744"/>
          </a:xfrm>
          <a:prstGeom prst="rect">
            <a:avLst/>
          </a:prstGeom>
          <a:solidFill>
            <a:srgbClr val="1A6B30"/>
          </a:solidFill>
          <a:ln w="12700">
            <a:solidFill>
              <a:srgbClr val="1A6B30"/>
            </a:solidFill>
            <a:prstDash val="solid"/>
          </a:ln>
        </p:spPr>
      </p:sp>
      <p:sp>
        <p:nvSpPr>
          <p:cNvPr id="114" name="Text 112"/>
          <p:cNvSpPr/>
          <p:nvPr/>
        </p:nvSpPr>
        <p:spPr>
          <a:xfrm>
            <a:off x="256032" y="6455664"/>
            <a:ext cx="5486400" cy="237744"/>
          </a:xfrm>
          <a:prstGeom prst="rect">
            <a:avLst/>
          </a:prstGeom>
          <a:noFill/>
          <a:ln/>
        </p:spPr>
        <p:txBody>
          <a:bodyPr wrap="square" lIns="38100" tIns="38100" rIns="38100" bIns="38100" rtlCol="0" anchor="ctr"/>
          <a:lstStyle/>
          <a:p>
            <a:pPr algn="l" indent="0" marL="0">
              <a:buNone/>
            </a:pPr>
            <a:r>
              <a:rPr lang="en-US" sz="800" b="1" dirty="0">
                <a:solidFill>
                  <a:srgbClr val="1A6B30"/>
                </a:solidFill>
                <a:latin typeface="Calibri" pitchFamily="34" charset="0"/>
                <a:ea typeface="Calibri" pitchFamily="34" charset="-122"/>
                <a:cs typeface="Calibri" pitchFamily="34" charset="-120"/>
              </a:rPr>
              <a:t>Convergence Targets per Epoch</a:t>
            </a:r>
            <a:endParaRPr lang="en-US" sz="800" dirty="0"/>
          </a:p>
        </p:txBody>
      </p:sp>
      <p:sp>
        <p:nvSpPr>
          <p:cNvPr id="115" name="Shape 113"/>
          <p:cNvSpPr/>
          <p:nvPr/>
        </p:nvSpPr>
        <p:spPr>
          <a:xfrm>
            <a:off x="182880" y="6656832"/>
            <a:ext cx="11795760" cy="274320"/>
          </a:xfrm>
          <a:prstGeom prst="rect">
            <a:avLst/>
          </a:prstGeom>
          <a:solidFill>
            <a:srgbClr val="F5F5F5"/>
          </a:solidFill>
          <a:ln w="7620">
            <a:solidFill>
              <a:srgbClr val="AAAAAA"/>
            </a:solidFill>
            <a:prstDash val="solid"/>
          </a:ln>
        </p:spPr>
      </p:sp>
      <p:sp>
        <p:nvSpPr>
          <p:cNvPr id="116" name="Text 114"/>
          <p:cNvSpPr/>
          <p:nvPr/>
        </p:nvSpPr>
        <p:spPr>
          <a:xfrm>
            <a:off x="274320" y="6656832"/>
            <a:ext cx="457200" cy="274320"/>
          </a:xfrm>
          <a:prstGeom prst="rect">
            <a:avLst/>
          </a:prstGeom>
          <a:noFill/>
          <a:ln/>
        </p:spPr>
        <p:txBody>
          <a:bodyPr wrap="square" lIns="38100" tIns="38100" rIns="38100" bIns="38100" rtlCol="0" anchor="ctr"/>
          <a:lstStyle/>
          <a:p>
            <a:pPr algn="ctr" indent="0" marL="0">
              <a:buNone/>
            </a:pPr>
            <a:r>
              <a:rPr lang="en-US" sz="750" b="1" dirty="0">
                <a:solidFill>
                  <a:srgbClr val="1A6B30"/>
                </a:solidFill>
                <a:latin typeface="Calibri" pitchFamily="34" charset="0"/>
                <a:ea typeface="Calibri" pitchFamily="34" charset="-122"/>
                <a:cs typeface="Calibri" pitchFamily="34" charset="-120"/>
              </a:rPr>
              <a:t>Ep 1</a:t>
            </a:r>
            <a:endParaRPr lang="en-US" sz="750" dirty="0"/>
          </a:p>
        </p:txBody>
      </p:sp>
      <p:sp>
        <p:nvSpPr>
          <p:cNvPr id="117" name="Text 115"/>
          <p:cNvSpPr/>
          <p:nvPr/>
        </p:nvSpPr>
        <p:spPr>
          <a:xfrm>
            <a:off x="749808" y="6656832"/>
            <a:ext cx="731520" cy="274320"/>
          </a:xfrm>
          <a:prstGeom prst="rect">
            <a:avLst/>
          </a:prstGeom>
          <a:noFill/>
          <a:ln/>
        </p:spPr>
        <p:txBody>
          <a:bodyPr wrap="square" lIns="38100" tIns="38100" rIns="38100" bIns="38100" rtlCol="0" anchor="ctr"/>
          <a:lstStyle/>
          <a:p>
            <a:pPr algn="ctr" indent="0" marL="0">
              <a:buNone/>
            </a:pPr>
            <a:r>
              <a:rPr lang="en-US" sz="750" b="1" dirty="0">
                <a:solidFill>
                  <a:srgbClr val="7B1FA2"/>
                </a:solidFill>
                <a:latin typeface="Calibri" pitchFamily="34" charset="0"/>
                <a:ea typeface="Calibri" pitchFamily="34" charset="-122"/>
                <a:cs typeface="Calibri" pitchFamily="34" charset="-120"/>
              </a:rPr>
              <a:t>2.0-2.6</a:t>
            </a:r>
            <a:endParaRPr lang="en-US" sz="750" dirty="0"/>
          </a:p>
        </p:txBody>
      </p:sp>
      <p:sp>
        <p:nvSpPr>
          <p:cNvPr id="118" name="Text 116"/>
          <p:cNvSpPr/>
          <p:nvPr/>
        </p:nvSpPr>
        <p:spPr>
          <a:xfrm>
            <a:off x="1499616" y="6656832"/>
            <a:ext cx="1005840" cy="274320"/>
          </a:xfrm>
          <a:prstGeom prst="rect">
            <a:avLst/>
          </a:prstGeom>
          <a:noFill/>
          <a:ln/>
        </p:spPr>
        <p:txBody>
          <a:bodyPr wrap="square" lIns="38100" tIns="38100" rIns="38100" bIns="38100" rtlCol="0" anchor="ctr"/>
          <a:lstStyle/>
          <a:p>
            <a:pPr algn="l" indent="0" marL="0">
              <a:buNone/>
            </a:pPr>
            <a:r>
              <a:rPr lang="en-US" sz="700" dirty="0">
                <a:solidFill>
                  <a:srgbClr val="444444"/>
                </a:solidFill>
                <a:latin typeface="Calibri" pitchFamily="34" charset="0"/>
                <a:ea typeface="Calibri" pitchFamily="34" charset="-122"/>
                <a:cs typeface="Calibri" pitchFamily="34" charset="-120"/>
              </a:rPr>
              <a:t>Near random</a:t>
            </a:r>
            <a:endParaRPr lang="en-US" sz="700" dirty="0"/>
          </a:p>
        </p:txBody>
      </p:sp>
      <p:sp>
        <p:nvSpPr>
          <p:cNvPr id="119" name="Shape 117"/>
          <p:cNvSpPr/>
          <p:nvPr/>
        </p:nvSpPr>
        <p:spPr>
          <a:xfrm>
            <a:off x="2505456" y="6793992"/>
            <a:ext cx="91440" cy="0"/>
          </a:xfrm>
          <a:prstGeom prst="line">
            <a:avLst/>
          </a:prstGeom>
          <a:noFill/>
          <a:ln w="6350">
            <a:solidFill>
              <a:srgbClr val="AAAAAA"/>
            </a:solidFill>
            <a:prstDash val="solid"/>
          </a:ln>
        </p:spPr>
      </p:sp>
      <p:sp>
        <p:nvSpPr>
          <p:cNvPr id="120" name="Text 118"/>
          <p:cNvSpPr/>
          <p:nvPr/>
        </p:nvSpPr>
        <p:spPr>
          <a:xfrm>
            <a:off x="2231136" y="6656832"/>
            <a:ext cx="457200" cy="274320"/>
          </a:xfrm>
          <a:prstGeom prst="rect">
            <a:avLst/>
          </a:prstGeom>
          <a:noFill/>
          <a:ln/>
        </p:spPr>
        <p:txBody>
          <a:bodyPr wrap="square" lIns="38100" tIns="38100" rIns="38100" bIns="38100" rtlCol="0" anchor="ctr"/>
          <a:lstStyle/>
          <a:p>
            <a:pPr algn="ctr" indent="0" marL="0">
              <a:buNone/>
            </a:pPr>
            <a:r>
              <a:rPr lang="en-US" sz="750" b="1" dirty="0">
                <a:solidFill>
                  <a:srgbClr val="1A6B30"/>
                </a:solidFill>
                <a:latin typeface="Calibri" pitchFamily="34" charset="0"/>
                <a:ea typeface="Calibri" pitchFamily="34" charset="-122"/>
                <a:cs typeface="Calibri" pitchFamily="34" charset="-120"/>
              </a:rPr>
              <a:t>Ep 5</a:t>
            </a:r>
            <a:endParaRPr lang="en-US" sz="750" dirty="0"/>
          </a:p>
        </p:txBody>
      </p:sp>
      <p:sp>
        <p:nvSpPr>
          <p:cNvPr id="121" name="Text 119"/>
          <p:cNvSpPr/>
          <p:nvPr/>
        </p:nvSpPr>
        <p:spPr>
          <a:xfrm>
            <a:off x="2706624" y="6656832"/>
            <a:ext cx="731520" cy="274320"/>
          </a:xfrm>
          <a:prstGeom prst="rect">
            <a:avLst/>
          </a:prstGeom>
          <a:noFill/>
          <a:ln/>
        </p:spPr>
        <p:txBody>
          <a:bodyPr wrap="square" lIns="38100" tIns="38100" rIns="38100" bIns="38100" rtlCol="0" anchor="ctr"/>
          <a:lstStyle/>
          <a:p>
            <a:pPr algn="ctr" indent="0" marL="0">
              <a:buNone/>
            </a:pPr>
            <a:r>
              <a:rPr lang="en-US" sz="750" b="1" dirty="0">
                <a:solidFill>
                  <a:srgbClr val="7B1FA2"/>
                </a:solidFill>
                <a:latin typeface="Calibri" pitchFamily="34" charset="0"/>
                <a:ea typeface="Calibri" pitchFamily="34" charset="-122"/>
                <a:cs typeface="Calibri" pitchFamily="34" charset="-120"/>
              </a:rPr>
              <a:t>1.4-2.0</a:t>
            </a:r>
            <a:endParaRPr lang="en-US" sz="750" dirty="0"/>
          </a:p>
        </p:txBody>
      </p:sp>
      <p:sp>
        <p:nvSpPr>
          <p:cNvPr id="122" name="Text 120"/>
          <p:cNvSpPr/>
          <p:nvPr/>
        </p:nvSpPr>
        <p:spPr>
          <a:xfrm>
            <a:off x="3456432" y="6656832"/>
            <a:ext cx="1005840" cy="274320"/>
          </a:xfrm>
          <a:prstGeom prst="rect">
            <a:avLst/>
          </a:prstGeom>
          <a:noFill/>
          <a:ln/>
        </p:spPr>
        <p:txBody>
          <a:bodyPr wrap="square" lIns="38100" tIns="38100" rIns="38100" bIns="38100" rtlCol="0" anchor="ctr"/>
          <a:lstStyle/>
          <a:p>
            <a:pPr algn="l" indent="0" marL="0">
              <a:buNone/>
            </a:pPr>
            <a:r>
              <a:rPr lang="en-US" sz="700" dirty="0">
                <a:solidFill>
                  <a:srgbClr val="444444"/>
                </a:solidFill>
                <a:latin typeface="Calibri" pitchFamily="34" charset="0"/>
                <a:ea typeface="Calibri" pitchFamily="34" charset="-122"/>
                <a:cs typeface="Calibri" pitchFamily="34" charset="-120"/>
              </a:rPr>
              <a:t>Clusters forming</a:t>
            </a:r>
            <a:endParaRPr lang="en-US" sz="700" dirty="0"/>
          </a:p>
        </p:txBody>
      </p:sp>
      <p:sp>
        <p:nvSpPr>
          <p:cNvPr id="123" name="Shape 121"/>
          <p:cNvSpPr/>
          <p:nvPr/>
        </p:nvSpPr>
        <p:spPr>
          <a:xfrm>
            <a:off x="4462272" y="6793992"/>
            <a:ext cx="91440" cy="0"/>
          </a:xfrm>
          <a:prstGeom prst="line">
            <a:avLst/>
          </a:prstGeom>
          <a:noFill/>
          <a:ln w="6350">
            <a:solidFill>
              <a:srgbClr val="AAAAAA"/>
            </a:solidFill>
            <a:prstDash val="solid"/>
          </a:ln>
        </p:spPr>
      </p:sp>
      <p:sp>
        <p:nvSpPr>
          <p:cNvPr id="124" name="Text 122"/>
          <p:cNvSpPr/>
          <p:nvPr/>
        </p:nvSpPr>
        <p:spPr>
          <a:xfrm>
            <a:off x="4187952" y="6656832"/>
            <a:ext cx="457200" cy="274320"/>
          </a:xfrm>
          <a:prstGeom prst="rect">
            <a:avLst/>
          </a:prstGeom>
          <a:noFill/>
          <a:ln/>
        </p:spPr>
        <p:txBody>
          <a:bodyPr wrap="square" lIns="38100" tIns="38100" rIns="38100" bIns="38100" rtlCol="0" anchor="ctr"/>
          <a:lstStyle/>
          <a:p>
            <a:pPr algn="ctr" indent="0" marL="0">
              <a:buNone/>
            </a:pPr>
            <a:r>
              <a:rPr lang="en-US" sz="750" b="1" dirty="0">
                <a:solidFill>
                  <a:srgbClr val="1A6B30"/>
                </a:solidFill>
                <a:latin typeface="Calibri" pitchFamily="34" charset="0"/>
                <a:ea typeface="Calibri" pitchFamily="34" charset="-122"/>
                <a:cs typeface="Calibri" pitchFamily="34" charset="-120"/>
              </a:rPr>
              <a:t>Ep 10</a:t>
            </a:r>
            <a:endParaRPr lang="en-US" sz="750" dirty="0"/>
          </a:p>
        </p:txBody>
      </p:sp>
      <p:sp>
        <p:nvSpPr>
          <p:cNvPr id="125" name="Text 123"/>
          <p:cNvSpPr/>
          <p:nvPr/>
        </p:nvSpPr>
        <p:spPr>
          <a:xfrm>
            <a:off x="4663440" y="6656832"/>
            <a:ext cx="731520" cy="274320"/>
          </a:xfrm>
          <a:prstGeom prst="rect">
            <a:avLst/>
          </a:prstGeom>
          <a:noFill/>
          <a:ln/>
        </p:spPr>
        <p:txBody>
          <a:bodyPr wrap="square" lIns="38100" tIns="38100" rIns="38100" bIns="38100" rtlCol="0" anchor="ctr"/>
          <a:lstStyle/>
          <a:p>
            <a:pPr algn="ctr" indent="0" marL="0">
              <a:buNone/>
            </a:pPr>
            <a:r>
              <a:rPr lang="en-US" sz="750" b="1" dirty="0">
                <a:solidFill>
                  <a:srgbClr val="7B1FA2"/>
                </a:solidFill>
                <a:latin typeface="Calibri" pitchFamily="34" charset="0"/>
                <a:ea typeface="Calibri" pitchFamily="34" charset="-122"/>
                <a:cs typeface="Calibri" pitchFamily="34" charset="-120"/>
              </a:rPr>
              <a:t>1.0-1.6</a:t>
            </a:r>
            <a:endParaRPr lang="en-US" sz="750" dirty="0"/>
          </a:p>
        </p:txBody>
      </p:sp>
      <p:sp>
        <p:nvSpPr>
          <p:cNvPr id="126" name="Text 124"/>
          <p:cNvSpPr/>
          <p:nvPr/>
        </p:nvSpPr>
        <p:spPr>
          <a:xfrm>
            <a:off x="5413248" y="6656832"/>
            <a:ext cx="1005840" cy="274320"/>
          </a:xfrm>
          <a:prstGeom prst="rect">
            <a:avLst/>
          </a:prstGeom>
          <a:noFill/>
          <a:ln/>
        </p:spPr>
        <p:txBody>
          <a:bodyPr wrap="square" lIns="38100" tIns="38100" rIns="38100" bIns="38100" rtlCol="0" anchor="ctr"/>
          <a:lstStyle/>
          <a:p>
            <a:pPr algn="l" indent="0" marL="0">
              <a:buNone/>
            </a:pPr>
            <a:r>
              <a:rPr lang="en-US" sz="700" dirty="0">
                <a:solidFill>
                  <a:srgbClr val="444444"/>
                </a:solidFill>
                <a:latin typeface="Calibri" pitchFamily="34" charset="0"/>
                <a:ea typeface="Calibri" pitchFamily="34" charset="-122"/>
                <a:cs typeface="Calibri" pitchFamily="34" charset="-120"/>
              </a:rPr>
              <a:t>High-arousal sep</a:t>
            </a:r>
            <a:endParaRPr lang="en-US" sz="700" dirty="0"/>
          </a:p>
        </p:txBody>
      </p:sp>
      <p:sp>
        <p:nvSpPr>
          <p:cNvPr id="127" name="Shape 125"/>
          <p:cNvSpPr/>
          <p:nvPr/>
        </p:nvSpPr>
        <p:spPr>
          <a:xfrm>
            <a:off x="6419088" y="6793992"/>
            <a:ext cx="91440" cy="0"/>
          </a:xfrm>
          <a:prstGeom prst="line">
            <a:avLst/>
          </a:prstGeom>
          <a:noFill/>
          <a:ln w="6350">
            <a:solidFill>
              <a:srgbClr val="AAAAAA"/>
            </a:solidFill>
            <a:prstDash val="solid"/>
          </a:ln>
        </p:spPr>
      </p:sp>
      <p:sp>
        <p:nvSpPr>
          <p:cNvPr id="128" name="Text 126"/>
          <p:cNvSpPr/>
          <p:nvPr/>
        </p:nvSpPr>
        <p:spPr>
          <a:xfrm>
            <a:off x="6144768" y="6656832"/>
            <a:ext cx="457200" cy="274320"/>
          </a:xfrm>
          <a:prstGeom prst="rect">
            <a:avLst/>
          </a:prstGeom>
          <a:noFill/>
          <a:ln/>
        </p:spPr>
        <p:txBody>
          <a:bodyPr wrap="square" lIns="38100" tIns="38100" rIns="38100" bIns="38100" rtlCol="0" anchor="ctr"/>
          <a:lstStyle/>
          <a:p>
            <a:pPr algn="ctr" indent="0" marL="0">
              <a:buNone/>
            </a:pPr>
            <a:r>
              <a:rPr lang="en-US" sz="750" b="1" dirty="0">
                <a:solidFill>
                  <a:srgbClr val="1A6B30"/>
                </a:solidFill>
                <a:latin typeface="Calibri" pitchFamily="34" charset="0"/>
                <a:ea typeface="Calibri" pitchFamily="34" charset="-122"/>
                <a:cs typeface="Calibri" pitchFamily="34" charset="-120"/>
              </a:rPr>
              <a:t>Ep 20</a:t>
            </a:r>
            <a:endParaRPr lang="en-US" sz="750" dirty="0"/>
          </a:p>
        </p:txBody>
      </p:sp>
      <p:sp>
        <p:nvSpPr>
          <p:cNvPr id="129" name="Text 127"/>
          <p:cNvSpPr/>
          <p:nvPr/>
        </p:nvSpPr>
        <p:spPr>
          <a:xfrm>
            <a:off x="6620256" y="6656832"/>
            <a:ext cx="731520" cy="274320"/>
          </a:xfrm>
          <a:prstGeom prst="rect">
            <a:avLst/>
          </a:prstGeom>
          <a:noFill/>
          <a:ln/>
        </p:spPr>
        <p:txBody>
          <a:bodyPr wrap="square" lIns="38100" tIns="38100" rIns="38100" bIns="38100" rtlCol="0" anchor="ctr"/>
          <a:lstStyle/>
          <a:p>
            <a:pPr algn="ctr" indent="0" marL="0">
              <a:buNone/>
            </a:pPr>
            <a:r>
              <a:rPr lang="en-US" sz="750" b="1" dirty="0">
                <a:solidFill>
                  <a:srgbClr val="7B1FA2"/>
                </a:solidFill>
                <a:latin typeface="Calibri" pitchFamily="34" charset="0"/>
                <a:ea typeface="Calibri" pitchFamily="34" charset="-122"/>
                <a:cs typeface="Calibri" pitchFamily="34" charset="-120"/>
              </a:rPr>
              <a:t>0.6-1.2</a:t>
            </a:r>
            <a:endParaRPr lang="en-US" sz="750" dirty="0"/>
          </a:p>
        </p:txBody>
      </p:sp>
      <p:sp>
        <p:nvSpPr>
          <p:cNvPr id="130" name="Text 128"/>
          <p:cNvSpPr/>
          <p:nvPr/>
        </p:nvSpPr>
        <p:spPr>
          <a:xfrm>
            <a:off x="7370064" y="6656832"/>
            <a:ext cx="1005840" cy="274320"/>
          </a:xfrm>
          <a:prstGeom prst="rect">
            <a:avLst/>
          </a:prstGeom>
          <a:noFill/>
          <a:ln/>
        </p:spPr>
        <p:txBody>
          <a:bodyPr wrap="square" lIns="38100" tIns="38100" rIns="38100" bIns="38100" rtlCol="0" anchor="ctr"/>
          <a:lstStyle/>
          <a:p>
            <a:pPr algn="l" indent="0" marL="0">
              <a:buNone/>
            </a:pPr>
            <a:r>
              <a:rPr lang="en-US" sz="700" dirty="0">
                <a:solidFill>
                  <a:srgbClr val="444444"/>
                </a:solidFill>
                <a:latin typeface="Calibri" pitchFamily="34" charset="0"/>
                <a:ea typeface="Calibri" pitchFamily="34" charset="-122"/>
                <a:cs typeface="Calibri" pitchFamily="34" charset="-120"/>
              </a:rPr>
              <a:t>Most emotions</a:t>
            </a:r>
            <a:endParaRPr lang="en-US" sz="700" dirty="0"/>
          </a:p>
        </p:txBody>
      </p:sp>
      <p:sp>
        <p:nvSpPr>
          <p:cNvPr id="131" name="Shape 129"/>
          <p:cNvSpPr/>
          <p:nvPr/>
        </p:nvSpPr>
        <p:spPr>
          <a:xfrm>
            <a:off x="8375904" y="6793992"/>
            <a:ext cx="91440" cy="0"/>
          </a:xfrm>
          <a:prstGeom prst="line">
            <a:avLst/>
          </a:prstGeom>
          <a:noFill/>
          <a:ln w="6350">
            <a:solidFill>
              <a:srgbClr val="AAAAAA"/>
            </a:solidFill>
            <a:prstDash val="solid"/>
          </a:ln>
        </p:spPr>
      </p:sp>
      <p:sp>
        <p:nvSpPr>
          <p:cNvPr id="132" name="Text 130"/>
          <p:cNvSpPr/>
          <p:nvPr/>
        </p:nvSpPr>
        <p:spPr>
          <a:xfrm>
            <a:off x="8101584" y="6656832"/>
            <a:ext cx="457200" cy="274320"/>
          </a:xfrm>
          <a:prstGeom prst="rect">
            <a:avLst/>
          </a:prstGeom>
          <a:noFill/>
          <a:ln/>
        </p:spPr>
        <p:txBody>
          <a:bodyPr wrap="square" lIns="38100" tIns="38100" rIns="38100" bIns="38100" rtlCol="0" anchor="ctr"/>
          <a:lstStyle/>
          <a:p>
            <a:pPr algn="ctr" indent="0" marL="0">
              <a:buNone/>
            </a:pPr>
            <a:r>
              <a:rPr lang="en-US" sz="750" b="1" dirty="0">
                <a:solidFill>
                  <a:srgbClr val="1A6B30"/>
                </a:solidFill>
                <a:latin typeface="Calibri" pitchFamily="34" charset="0"/>
                <a:ea typeface="Calibri" pitchFamily="34" charset="-122"/>
                <a:cs typeface="Calibri" pitchFamily="34" charset="-120"/>
              </a:rPr>
              <a:t>Ep 30</a:t>
            </a:r>
            <a:endParaRPr lang="en-US" sz="750" dirty="0"/>
          </a:p>
        </p:txBody>
      </p:sp>
      <p:sp>
        <p:nvSpPr>
          <p:cNvPr id="133" name="Text 131"/>
          <p:cNvSpPr/>
          <p:nvPr/>
        </p:nvSpPr>
        <p:spPr>
          <a:xfrm>
            <a:off x="8577072" y="6656832"/>
            <a:ext cx="731520" cy="274320"/>
          </a:xfrm>
          <a:prstGeom prst="rect">
            <a:avLst/>
          </a:prstGeom>
          <a:noFill/>
          <a:ln/>
        </p:spPr>
        <p:txBody>
          <a:bodyPr wrap="square" lIns="38100" tIns="38100" rIns="38100" bIns="38100" rtlCol="0" anchor="ctr"/>
          <a:lstStyle/>
          <a:p>
            <a:pPr algn="ctr" indent="0" marL="0">
              <a:buNone/>
            </a:pPr>
            <a:r>
              <a:rPr lang="en-US" sz="750" b="1" dirty="0">
                <a:solidFill>
                  <a:srgbClr val="7B1FA2"/>
                </a:solidFill>
                <a:latin typeface="Calibri" pitchFamily="34" charset="0"/>
                <a:ea typeface="Calibri" pitchFamily="34" charset="-122"/>
                <a:cs typeface="Calibri" pitchFamily="34" charset="-120"/>
              </a:rPr>
              <a:t>0.3-0.9</a:t>
            </a:r>
            <a:endParaRPr lang="en-US" sz="750" dirty="0"/>
          </a:p>
        </p:txBody>
      </p:sp>
      <p:sp>
        <p:nvSpPr>
          <p:cNvPr id="134" name="Text 132"/>
          <p:cNvSpPr/>
          <p:nvPr/>
        </p:nvSpPr>
        <p:spPr>
          <a:xfrm>
            <a:off x="9326880" y="6656832"/>
            <a:ext cx="1005840" cy="274320"/>
          </a:xfrm>
          <a:prstGeom prst="rect">
            <a:avLst/>
          </a:prstGeom>
          <a:noFill/>
          <a:ln/>
        </p:spPr>
        <p:txBody>
          <a:bodyPr wrap="square" lIns="38100" tIns="38100" rIns="38100" bIns="38100" rtlCol="0" anchor="ctr"/>
          <a:lstStyle/>
          <a:p>
            <a:pPr algn="l" indent="0" marL="0">
              <a:buNone/>
            </a:pPr>
            <a:r>
              <a:rPr lang="en-US" sz="700" dirty="0">
                <a:solidFill>
                  <a:srgbClr val="444444"/>
                </a:solidFill>
                <a:latin typeface="Calibri" pitchFamily="34" charset="0"/>
                <a:ea typeface="Calibri" pitchFamily="34" charset="-122"/>
                <a:cs typeface="Calibri" pitchFamily="34" charset="-120"/>
              </a:rPr>
              <a:t>Fine-grained</a:t>
            </a:r>
            <a:endParaRPr lang="en-US" sz="700" dirty="0"/>
          </a:p>
        </p:txBody>
      </p:sp>
      <p:sp>
        <p:nvSpPr>
          <p:cNvPr id="135" name="Shape 133"/>
          <p:cNvSpPr/>
          <p:nvPr/>
        </p:nvSpPr>
        <p:spPr>
          <a:xfrm>
            <a:off x="10332720" y="6793992"/>
            <a:ext cx="91440" cy="0"/>
          </a:xfrm>
          <a:prstGeom prst="line">
            <a:avLst/>
          </a:prstGeom>
          <a:noFill/>
          <a:ln w="6350">
            <a:solidFill>
              <a:srgbClr val="AAAAAA"/>
            </a:solidFill>
            <a:prstDash val="solid"/>
          </a:ln>
        </p:spPr>
      </p:sp>
      <p:sp>
        <p:nvSpPr>
          <p:cNvPr id="136" name="Text 134"/>
          <p:cNvSpPr/>
          <p:nvPr/>
        </p:nvSpPr>
        <p:spPr>
          <a:xfrm>
            <a:off x="10058400" y="6656832"/>
            <a:ext cx="457200" cy="274320"/>
          </a:xfrm>
          <a:prstGeom prst="rect">
            <a:avLst/>
          </a:prstGeom>
          <a:noFill/>
          <a:ln/>
        </p:spPr>
        <p:txBody>
          <a:bodyPr wrap="square" lIns="38100" tIns="38100" rIns="38100" bIns="38100" rtlCol="0" anchor="ctr"/>
          <a:lstStyle/>
          <a:p>
            <a:pPr algn="ctr" indent="0" marL="0">
              <a:buNone/>
            </a:pPr>
            <a:r>
              <a:rPr lang="en-US" sz="750" b="1" dirty="0">
                <a:solidFill>
                  <a:srgbClr val="1A6B30"/>
                </a:solidFill>
                <a:latin typeface="Calibri" pitchFamily="34" charset="0"/>
                <a:ea typeface="Calibri" pitchFamily="34" charset="-122"/>
                <a:cs typeface="Calibri" pitchFamily="34" charset="-120"/>
              </a:rPr>
              <a:t>Best</a:t>
            </a:r>
            <a:endParaRPr lang="en-US" sz="750" dirty="0"/>
          </a:p>
        </p:txBody>
      </p:sp>
      <p:sp>
        <p:nvSpPr>
          <p:cNvPr id="137" name="Text 135"/>
          <p:cNvSpPr/>
          <p:nvPr/>
        </p:nvSpPr>
        <p:spPr>
          <a:xfrm>
            <a:off x="10533888" y="6656832"/>
            <a:ext cx="731520" cy="274320"/>
          </a:xfrm>
          <a:prstGeom prst="rect">
            <a:avLst/>
          </a:prstGeom>
          <a:noFill/>
          <a:ln/>
        </p:spPr>
        <p:txBody>
          <a:bodyPr wrap="square" lIns="38100" tIns="38100" rIns="38100" bIns="38100" rtlCol="0" anchor="ctr"/>
          <a:lstStyle/>
          <a:p>
            <a:pPr algn="ctr" indent="0" marL="0">
              <a:buNone/>
            </a:pPr>
            <a:r>
              <a:rPr lang="en-US" sz="750" b="1" dirty="0">
                <a:solidFill>
                  <a:srgbClr val="7B1FA2"/>
                </a:solidFill>
                <a:latin typeface="Calibri" pitchFamily="34" charset="0"/>
                <a:ea typeface="Calibri" pitchFamily="34" charset="-122"/>
                <a:cs typeface="Calibri" pitchFamily="34" charset="-120"/>
              </a:rPr>
              <a:t>0.3-0.9</a:t>
            </a:r>
            <a:endParaRPr lang="en-US" sz="750" dirty="0"/>
          </a:p>
        </p:txBody>
      </p:sp>
      <p:sp>
        <p:nvSpPr>
          <p:cNvPr id="138" name="Text 136"/>
          <p:cNvSpPr/>
          <p:nvPr/>
        </p:nvSpPr>
        <p:spPr>
          <a:xfrm>
            <a:off x="11283696" y="6656832"/>
            <a:ext cx="1005840" cy="274320"/>
          </a:xfrm>
          <a:prstGeom prst="rect">
            <a:avLst/>
          </a:prstGeom>
          <a:noFill/>
          <a:ln/>
        </p:spPr>
        <p:txBody>
          <a:bodyPr wrap="square" lIns="38100" tIns="38100" rIns="38100" bIns="38100" rtlCol="0" anchor="ctr"/>
          <a:lstStyle/>
          <a:p>
            <a:pPr algn="l" indent="0" marL="0">
              <a:buNone/>
            </a:pPr>
            <a:r>
              <a:rPr lang="en-US" sz="700" dirty="0">
                <a:solidFill>
                  <a:srgbClr val="444444"/>
                </a:solidFill>
                <a:latin typeface="Calibri" pitchFamily="34" charset="0"/>
                <a:ea typeface="Calibri" pitchFamily="34" charset="-122"/>
                <a:cs typeface="Calibri" pitchFamily="34" charset="-120"/>
              </a:rPr>
              <a:t>Save by acc</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61520" cy="502920"/>
          </a:xfrm>
          <a:prstGeom prst="rect">
            <a:avLst/>
          </a:prstGeom>
          <a:solidFill>
            <a:srgbClr val="0F3460"/>
          </a:solidFill>
          <a:ln w="12700">
            <a:solidFill>
              <a:srgbClr val="0F3460"/>
            </a:solidFill>
            <a:prstDash val="solid"/>
          </a:ln>
        </p:spPr>
      </p:sp>
      <p:sp>
        <p:nvSpPr>
          <p:cNvPr id="3" name="Text 1"/>
          <p:cNvSpPr/>
          <p:nvPr/>
        </p:nvSpPr>
        <p:spPr>
          <a:xfrm>
            <a:off x="228600" y="0"/>
            <a:ext cx="10515600" cy="502920"/>
          </a:xfrm>
          <a:prstGeom prst="rect">
            <a:avLst/>
          </a:prstGeom>
          <a:noFill/>
          <a:ln/>
        </p:spPr>
        <p:txBody>
          <a:bodyPr wrap="square" lIns="38100" tIns="38100" rIns="38100" bIns="3810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Pipeline C — Evaluation: Centroid-NN Accuracy &amp; Training Diagnostics</a:t>
            </a:r>
            <a:endParaRPr lang="en-US" sz="1400" dirty="0"/>
          </a:p>
        </p:txBody>
      </p:sp>
      <p:sp>
        <p:nvSpPr>
          <p:cNvPr id="4" name="Text 2"/>
          <p:cNvSpPr/>
          <p:nvPr/>
        </p:nvSpPr>
        <p:spPr>
          <a:xfrm>
            <a:off x="10789920" y="0"/>
            <a:ext cx="1188720" cy="502920"/>
          </a:xfrm>
          <a:prstGeom prst="rect">
            <a:avLst/>
          </a:prstGeom>
          <a:noFill/>
          <a:ln/>
        </p:spPr>
        <p:txBody>
          <a:bodyPr wrap="square" lIns="38100" tIns="38100" rIns="38100" bIns="38100" rtlCol="0" anchor="ctr"/>
          <a:lstStyle/>
          <a:p>
            <a:pPr algn="r" indent="0" marL="0">
              <a:buNone/>
            </a:pPr>
            <a:r>
              <a:rPr lang="en-US" sz="1100" b="1" dirty="0">
                <a:solidFill>
                  <a:srgbClr val="9EC8FF"/>
                </a:solidFill>
                <a:latin typeface="Calibri" pitchFamily="34" charset="0"/>
                <a:ea typeface="Calibri" pitchFamily="34" charset="-122"/>
                <a:cs typeface="Calibri" pitchFamily="34" charset="-120"/>
              </a:rPr>
              <a:t>7/9</a:t>
            </a:r>
            <a:endParaRPr lang="en-US" sz="1100" dirty="0"/>
          </a:p>
        </p:txBody>
      </p:sp>
      <p:sp>
        <p:nvSpPr>
          <p:cNvPr id="5" name="Text 3"/>
          <p:cNvSpPr/>
          <p:nvPr/>
        </p:nvSpPr>
        <p:spPr>
          <a:xfrm>
            <a:off x="228600" y="274320"/>
            <a:ext cx="11704320" cy="237744"/>
          </a:xfrm>
          <a:prstGeom prst="rect">
            <a:avLst/>
          </a:prstGeom>
          <a:noFill/>
          <a:ln/>
        </p:spPr>
        <p:txBody>
          <a:bodyPr wrap="square" lIns="38100" tIns="38100" rIns="38100" bIns="38100" rtlCol="0" anchor="ctr"/>
          <a:lstStyle/>
          <a:p>
            <a:pPr algn="l" indent="0" marL="0">
              <a:buNone/>
            </a:pPr>
            <a:r>
              <a:rPr lang="en-US" sz="750" dirty="0">
                <a:solidFill>
                  <a:srgbClr val="9EC8FF"/>
                </a:solidFill>
                <a:latin typeface="Calibri" pitchFamily="34" charset="0"/>
                <a:ea typeface="Calibri" pitchFamily="34" charset="-122"/>
                <a:cs typeface="Calibri" pitchFamily="34" charset="-120"/>
              </a:rPr>
              <a:t>Voronoi centroid classifier  |  59.0% overall  |  6/8 emotions  |  +46.5pp over random  |  Best epoch 27</a:t>
            </a:r>
            <a:endParaRPr lang="en-US" sz="750" dirty="0"/>
          </a:p>
        </p:txBody>
      </p:sp>
      <p:sp>
        <p:nvSpPr>
          <p:cNvPr id="6" name="Shape 4"/>
          <p:cNvSpPr/>
          <p:nvPr/>
        </p:nvSpPr>
        <p:spPr>
          <a:xfrm>
            <a:off x="0" y="6583680"/>
            <a:ext cx="12161520" cy="274320"/>
          </a:xfrm>
          <a:prstGeom prst="rect">
            <a:avLst/>
          </a:prstGeom>
          <a:solidFill>
            <a:srgbClr val="0F3460"/>
          </a:solidFill>
          <a:ln w="12700">
            <a:solidFill>
              <a:srgbClr val="0F3460"/>
            </a:solidFill>
            <a:prstDash val="solid"/>
          </a:ln>
        </p:spPr>
      </p:sp>
      <p:sp>
        <p:nvSpPr>
          <p:cNvPr id="7" name="Text 5"/>
          <p:cNvSpPr/>
          <p:nvPr/>
        </p:nvSpPr>
        <p:spPr>
          <a:xfrm>
            <a:off x="228600" y="6583680"/>
            <a:ext cx="11704320" cy="274320"/>
          </a:xfrm>
          <a:prstGeom prst="rect">
            <a:avLst/>
          </a:prstGeom>
          <a:noFill/>
          <a:ln/>
        </p:spPr>
        <p:txBody>
          <a:bodyPr wrap="square" lIns="38100" tIns="38100" rIns="38100" bIns="38100" rtlCol="0" anchor="ctr"/>
          <a:lstStyle/>
          <a:p>
            <a:pPr algn="l" indent="0" marL="0">
              <a:buNone/>
            </a:pPr>
            <a:r>
              <a:rPr lang="en-US" sz="600" dirty="0">
                <a:solidFill>
                  <a:srgbClr val="9EC8FF"/>
                </a:solidFill>
                <a:latin typeface="Calibri" pitchFamily="34" charset="0"/>
                <a:ea typeface="Calibri" pitchFamily="34" charset="-122"/>
                <a:cs typeface="Calibri" pitchFamily="34" charset="-120"/>
              </a:rPr>
              <a:t>MIVA-KNIGHT  |  IT 581 Capstone  |  Concordia University of Edmonton  |  Pipeline C — RAVDESS Standalone Audio Emotion Training</a:t>
            </a:r>
            <a:endParaRPr lang="en-US" sz="600" dirty="0"/>
          </a:p>
        </p:txBody>
      </p:sp>
      <p:sp>
        <p:nvSpPr>
          <p:cNvPr id="8" name="Shape 6"/>
          <p:cNvSpPr/>
          <p:nvPr/>
        </p:nvSpPr>
        <p:spPr>
          <a:xfrm>
            <a:off x="182880" y="621792"/>
            <a:ext cx="36576" cy="237744"/>
          </a:xfrm>
          <a:prstGeom prst="rect">
            <a:avLst/>
          </a:prstGeom>
          <a:solidFill>
            <a:srgbClr val="0D7C5F"/>
          </a:solidFill>
          <a:ln w="12700">
            <a:solidFill>
              <a:srgbClr val="0D7C5F"/>
            </a:solidFill>
            <a:prstDash val="solid"/>
          </a:ln>
        </p:spPr>
      </p:sp>
      <p:sp>
        <p:nvSpPr>
          <p:cNvPr id="9" name="Text 7"/>
          <p:cNvSpPr/>
          <p:nvPr/>
        </p:nvSpPr>
        <p:spPr>
          <a:xfrm>
            <a:off x="256032" y="621792"/>
            <a:ext cx="5486400" cy="237744"/>
          </a:xfrm>
          <a:prstGeom prst="rect">
            <a:avLst/>
          </a:prstGeom>
          <a:noFill/>
          <a:ln/>
        </p:spPr>
        <p:txBody>
          <a:bodyPr wrap="square" lIns="38100" tIns="38100" rIns="38100" bIns="38100" rtlCol="0" anchor="ctr"/>
          <a:lstStyle/>
          <a:p>
            <a:pPr algn="l" indent="0" marL="0">
              <a:buNone/>
            </a:pPr>
            <a:r>
              <a:rPr lang="en-US" sz="800" b="1" dirty="0">
                <a:solidFill>
                  <a:srgbClr val="0D7C5F"/>
                </a:solidFill>
                <a:latin typeface="Calibri" pitchFamily="34" charset="0"/>
                <a:ea typeface="Calibri" pitchFamily="34" charset="-122"/>
                <a:cs typeface="Calibri" pitchFamily="34" charset="-120"/>
              </a:rPr>
              <a:t>Centroid Nearest-Neighbour Evaluation Algorithm</a:t>
            </a:r>
            <a:endParaRPr lang="en-US" sz="800" dirty="0"/>
          </a:p>
        </p:txBody>
      </p:sp>
      <p:sp>
        <p:nvSpPr>
          <p:cNvPr id="10" name="Shape 8"/>
          <p:cNvSpPr/>
          <p:nvPr/>
        </p:nvSpPr>
        <p:spPr>
          <a:xfrm>
            <a:off x="182880" y="859536"/>
            <a:ext cx="6876288" cy="2121408"/>
          </a:xfrm>
          <a:prstGeom prst="rect">
            <a:avLst/>
          </a:prstGeom>
          <a:solidFill>
            <a:srgbClr val="D1F0E6"/>
          </a:solidFill>
          <a:ln w="12700">
            <a:solidFill>
              <a:srgbClr val="0D7C5F"/>
            </a:solidFill>
            <a:prstDash val="solid"/>
          </a:ln>
          <a:effectLst>
            <a:outerShdw sx="100000" sy="100000" kx="0" ky="0" algn="bl" rotWithShape="0" blurRad="38100" dist="25400" dir="8100000">
              <a:srgbClr val="000000">
                <a:alpha val="9000"/>
              </a:srgbClr>
            </a:outerShdw>
          </a:effectLst>
        </p:spPr>
      </p:sp>
      <p:sp>
        <p:nvSpPr>
          <p:cNvPr id="11" name="Text 9"/>
          <p:cNvSpPr/>
          <p:nvPr/>
        </p:nvSpPr>
        <p:spPr>
          <a:xfrm>
            <a:off x="274320" y="859536"/>
            <a:ext cx="6693408" cy="256032"/>
          </a:xfrm>
          <a:prstGeom prst="rect">
            <a:avLst/>
          </a:prstGeom>
          <a:noFill/>
          <a:ln/>
        </p:spPr>
        <p:txBody>
          <a:bodyPr wrap="square" lIns="38100" tIns="38100" rIns="38100" bIns="38100" rtlCol="0" anchor="ctr"/>
          <a:lstStyle/>
          <a:p>
            <a:pPr algn="l" indent="0" marL="0">
              <a:buNone/>
            </a:pPr>
            <a:r>
              <a:rPr lang="en-US" sz="950" b="1" dirty="0">
                <a:solidFill>
                  <a:srgbClr val="0D7C5F"/>
                </a:solidFill>
                <a:latin typeface="Calibri" pitchFamily="34" charset="0"/>
                <a:ea typeface="Calibri" pitchFamily="34" charset="-122"/>
                <a:cs typeface="Calibri" pitchFamily="34" charset="-120"/>
              </a:rPr>
              <a:t>evaluate_emotion_accuracy() — Voronoi Centroid Classifier</a:t>
            </a:r>
            <a:endParaRPr lang="en-US" sz="950" dirty="0"/>
          </a:p>
        </p:txBody>
      </p:sp>
      <p:sp>
        <p:nvSpPr>
          <p:cNvPr id="12" name="Text 10"/>
          <p:cNvSpPr/>
          <p:nvPr/>
        </p:nvSpPr>
        <p:spPr>
          <a:xfrm>
            <a:off x="274320" y="1097280"/>
            <a:ext cx="6693408" cy="1847088"/>
          </a:xfrm>
          <a:prstGeom prst="rect">
            <a:avLst/>
          </a:prstGeom>
          <a:noFill/>
          <a:ln/>
        </p:spPr>
        <p:txBody>
          <a:bodyPr wrap="square" lIns="38100" tIns="38100" rIns="38100" bIns="38100" rtlCol="0" anchor="t"/>
          <a:lstStyle/>
          <a:p>
            <a:pPr algn="l" indent="0" marL="0">
              <a:buNone/>
            </a:pPr>
            <a:r>
              <a:rPr lang="en-US" sz="800" dirty="0">
                <a:solidFill>
                  <a:srgbClr val="1A1A1A"/>
                </a:solidFill>
                <a:latin typeface="Calibri" pitchFamily="34" charset="0"/>
                <a:ea typeface="Calibri" pitchFamily="34" charset="-122"/>
                <a:cs typeface="Calibri" pitchFamily="34" charset="-120"/>
              </a:rPr>
              <a:t>Step 1: Project all 1,440 embeddings through audio_proj</a:t>
            </a:r>
            <a:endParaRPr lang="en-US" sz="800" dirty="0"/>
          </a:p>
          <a:p>
            <a:pPr algn="l" indent="0" marL="0">
              <a:buNone/>
            </a:pPr>
            <a:r>
              <a:rPr lang="en-US" sz="800" dirty="0">
                <a:solidFill>
                  <a:srgbClr val="1A1A1A"/>
                </a:solidFill>
                <a:latin typeface="Calibri" pitchFamily="34" charset="0"/>
                <a:ea typeface="Calibri" pitchFamily="34" charset="-122"/>
                <a:cs typeface="Calibri" pitchFamily="34" charset="-120"/>
              </a:rPr>
              <a:t>  all_embs[N,512], all_labels[N] ← collect batches (no grad)</a:t>
            </a:r>
            <a:endParaRPr lang="en-US" sz="800" dirty="0"/>
          </a:p>
          <a:p>
            <a:pPr algn="l" indent="0" marL="0">
              <a:buNone/>
            </a:pPr>
            <a:endParaRPr lang="en-US" sz="800" dirty="0"/>
          </a:p>
          <a:p>
            <a:pPr algn="l" indent="0" marL="0">
              <a:buNone/>
            </a:pPr>
            <a:r>
              <a:rPr lang="en-US" sz="800" dirty="0">
                <a:solidFill>
                  <a:srgbClr val="1A1A1A"/>
                </a:solidFill>
                <a:latin typeface="Calibri" pitchFamily="34" charset="0"/>
                <a:ea typeface="Calibri" pitchFamily="34" charset="-122"/>
                <a:cs typeface="Calibri" pitchFamily="34" charset="-120"/>
              </a:rPr>
              <a:t>Step 2: Compute spherical centroid per emotion class</a:t>
            </a:r>
            <a:endParaRPr lang="en-US" sz="800" dirty="0"/>
          </a:p>
          <a:p>
            <a:pPr algn="l" indent="0" marL="0">
              <a:buNone/>
            </a:pPr>
            <a:r>
              <a:rPr lang="en-US" sz="800" dirty="0">
                <a:solidFill>
                  <a:srgbClr val="1A1A1A"/>
                </a:solidFill>
                <a:latin typeface="Calibri" pitchFamily="34" charset="0"/>
                <a:ea typeface="Calibri" pitchFamily="34" charset="-122"/>
                <a:cs typeface="Calibri" pitchFamily="34" charset="-120"/>
              </a:rPr>
              <a:t>  FOR label l in {0..7}:</a:t>
            </a:r>
            <a:endParaRPr lang="en-US" sz="800" dirty="0"/>
          </a:p>
          <a:p>
            <a:pPr algn="l" indent="0" marL="0">
              <a:buNone/>
            </a:pPr>
            <a:r>
              <a:rPr lang="en-US" sz="800" dirty="0">
                <a:solidFill>
                  <a:srgbClr val="1A1A1A"/>
                </a:solidFill>
                <a:latin typeface="Calibri" pitchFamily="34" charset="0"/>
                <a:ea typeface="Calibri" pitchFamily="34" charset="-122"/>
                <a:cs typeface="Calibri" pitchFamily="34" charset="-120"/>
              </a:rPr>
              <a:t>    mask     ← (all_labels == l)</a:t>
            </a:r>
            <a:endParaRPr lang="en-US" sz="800" dirty="0"/>
          </a:p>
          <a:p>
            <a:pPr algn="l" indent="0" marL="0">
              <a:buNone/>
            </a:pPr>
            <a:r>
              <a:rPr lang="en-US" sz="800" dirty="0">
                <a:solidFill>
                  <a:srgbClr val="1A1A1A"/>
                </a:solidFill>
                <a:latin typeface="Calibri" pitchFamily="34" charset="0"/>
                <a:ea typeface="Calibri" pitchFamily="34" charset="-122"/>
                <a:cs typeface="Calibri" pitchFamily="34" charset="-120"/>
              </a:rPr>
              <a:t>    centroid ← F.normalize(all_embs[mask].mean(dim=0), p=2, dim=0)</a:t>
            </a:r>
            <a:endParaRPr lang="en-US" sz="800" dirty="0"/>
          </a:p>
          <a:p>
            <a:pPr algn="l" indent="0" marL="0">
              <a:buNone/>
            </a:pPr>
            <a:r>
              <a:rPr lang="en-US" sz="800" dirty="0">
                <a:solidFill>
                  <a:srgbClr val="1A1A1A"/>
                </a:solidFill>
                <a:latin typeface="Calibri" pitchFamily="34" charset="0"/>
                <a:ea typeface="Calibri" pitchFamily="34" charset="-122"/>
                <a:cs typeface="Calibri" pitchFamily="34" charset="-120"/>
              </a:rPr>
              <a:t>  centroids ← stack(8 centroids)   # [8, 512]</a:t>
            </a:r>
            <a:endParaRPr lang="en-US" sz="800" dirty="0"/>
          </a:p>
          <a:p>
            <a:pPr algn="l" indent="0" marL="0">
              <a:buNone/>
            </a:pPr>
            <a:endParaRPr lang="en-US" sz="800" dirty="0"/>
          </a:p>
          <a:p>
            <a:pPr algn="l" indent="0" marL="0">
              <a:buNone/>
            </a:pPr>
            <a:r>
              <a:rPr lang="en-US" sz="800" dirty="0">
                <a:solidFill>
                  <a:srgbClr val="1A1A1A"/>
                </a:solidFill>
                <a:latin typeface="Calibri" pitchFamily="34" charset="0"/>
                <a:ea typeface="Calibri" pitchFamily="34" charset="-122"/>
                <a:cs typeface="Calibri" pitchFamily="34" charset="-120"/>
              </a:rPr>
              <a:t>Step 3: Nearest-centroid classification (Voronoi on S⁵¹¹)</a:t>
            </a:r>
            <a:endParaRPr lang="en-US" sz="800" dirty="0"/>
          </a:p>
          <a:p>
            <a:pPr algn="l" indent="0" marL="0">
              <a:buNone/>
            </a:pPr>
            <a:r>
              <a:rPr lang="en-US" sz="800" dirty="0">
                <a:solidFill>
                  <a:srgbClr val="1A1A1A"/>
                </a:solidFill>
                <a:latin typeface="Calibri" pitchFamily="34" charset="0"/>
                <a:ea typeface="Calibri" pitchFamily="34" charset="-122"/>
                <a:cs typeface="Calibri" pitchFamily="34" charset="-120"/>
              </a:rPr>
              <a:t>  sims     ← all_embs @ centroids.T    # [N, 8] cosine similarities</a:t>
            </a:r>
            <a:endParaRPr lang="en-US" sz="800" dirty="0"/>
          </a:p>
          <a:p>
            <a:pPr algn="l" indent="0" marL="0">
              <a:buNone/>
            </a:pPr>
            <a:r>
              <a:rPr lang="en-US" sz="800" dirty="0">
                <a:solidFill>
                  <a:srgbClr val="1A1A1A"/>
                </a:solidFill>
                <a:latin typeface="Calibri" pitchFamily="34" charset="0"/>
                <a:ea typeface="Calibri" pitchFamily="34" charset="-122"/>
                <a:cs typeface="Calibri" pitchFamily="34" charset="-120"/>
              </a:rPr>
              <a:t>  predicted ← sims.argmax(dim=1)       # [N] predicted class</a:t>
            </a:r>
            <a:endParaRPr lang="en-US" sz="800" dirty="0"/>
          </a:p>
          <a:p>
            <a:pPr algn="l" indent="0" marL="0">
              <a:buNone/>
            </a:pPr>
            <a:r>
              <a:rPr lang="en-US" sz="800" dirty="0">
                <a:solidFill>
                  <a:srgbClr val="1A1A1A"/>
                </a:solidFill>
                <a:latin typeface="Calibri" pitchFamily="34" charset="0"/>
                <a:ea typeface="Calibri" pitchFamily="34" charset="-122"/>
                <a:cs typeface="Calibri" pitchFamily="34" charset="-120"/>
              </a:rPr>
              <a:t>  correct   ← (predicted == all_labels).float()</a:t>
            </a:r>
            <a:endParaRPr lang="en-US" sz="800" dirty="0"/>
          </a:p>
          <a:p>
            <a:pPr algn="l" indent="0" marL="0">
              <a:buNone/>
            </a:pPr>
            <a:endParaRPr lang="en-US" sz="800" dirty="0"/>
          </a:p>
          <a:p>
            <a:pPr algn="l" indent="0" marL="0">
              <a:buNone/>
            </a:pPr>
            <a:r>
              <a:rPr lang="en-US" sz="800" dirty="0">
                <a:solidFill>
                  <a:srgbClr val="1A1A1A"/>
                </a:solidFill>
                <a:latin typeface="Calibri" pitchFamily="34" charset="0"/>
                <a:ea typeface="Calibri" pitchFamily="34" charset="-122"/>
                <a:cs typeface="Calibri" pitchFamily="34" charset="-120"/>
              </a:rPr>
              <a:t>Step 4: Metrics</a:t>
            </a:r>
            <a:endParaRPr lang="en-US" sz="800" dirty="0"/>
          </a:p>
          <a:p>
            <a:pPr algn="l" indent="0" marL="0">
              <a:buNone/>
            </a:pPr>
            <a:r>
              <a:rPr lang="en-US" sz="800" dirty="0">
                <a:solidFill>
                  <a:srgbClr val="1A1A1A"/>
                </a:solidFill>
                <a:latin typeface="Calibri" pitchFamily="34" charset="0"/>
                <a:ea typeface="Calibri" pitchFamily="34" charset="-122"/>
                <a:cs typeface="Calibri" pitchFamily="34" charset="-120"/>
              </a:rPr>
              <a:t>  overall_acc   = correct.mean().item()</a:t>
            </a:r>
            <a:endParaRPr lang="en-US" sz="800" dirty="0"/>
          </a:p>
          <a:p>
            <a:pPr algn="l" indent="0" marL="0">
              <a:buNone/>
            </a:pPr>
            <a:r>
              <a:rPr lang="en-US" sz="800" dirty="0">
                <a:solidFill>
                  <a:srgbClr val="1A1A1A"/>
                </a:solidFill>
                <a:latin typeface="Calibri" pitchFamily="34" charset="0"/>
                <a:ea typeface="Calibri" pitchFamily="34" charset="-122"/>
                <a:cs typeface="Calibri" pitchFamily="34" charset="-120"/>
              </a:rPr>
              <a:t>  per_emotion   = {emotion: correct[mask_emotion].mean()}</a:t>
            </a:r>
            <a:endParaRPr lang="en-US" sz="800" dirty="0"/>
          </a:p>
        </p:txBody>
      </p:sp>
      <p:sp>
        <p:nvSpPr>
          <p:cNvPr id="13" name="Shape 11"/>
          <p:cNvSpPr/>
          <p:nvPr/>
        </p:nvSpPr>
        <p:spPr>
          <a:xfrm>
            <a:off x="7187184" y="859536"/>
            <a:ext cx="4791456" cy="2121408"/>
          </a:xfrm>
          <a:prstGeom prst="rect">
            <a:avLst/>
          </a:prstGeom>
          <a:solidFill>
            <a:srgbClr val="F5F5F5"/>
          </a:solidFill>
          <a:ln w="10160">
            <a:solidFill>
              <a:srgbClr val="AAAAAA"/>
            </a:solidFill>
            <a:prstDash val="solid"/>
          </a:ln>
          <a:effectLst>
            <a:outerShdw sx="100000" sy="100000" kx="0" ky="0" algn="bl" rotWithShape="0" blurRad="38100" dist="25400" dir="8100000">
              <a:srgbClr val="000000">
                <a:alpha val="9000"/>
              </a:srgbClr>
            </a:outerShdw>
          </a:effectLst>
        </p:spPr>
      </p:sp>
      <p:sp>
        <p:nvSpPr>
          <p:cNvPr id="14" name="Text 12"/>
          <p:cNvSpPr/>
          <p:nvPr/>
        </p:nvSpPr>
        <p:spPr>
          <a:xfrm>
            <a:off x="7278624" y="859536"/>
            <a:ext cx="4608576" cy="256032"/>
          </a:xfrm>
          <a:prstGeom prst="rect">
            <a:avLst/>
          </a:prstGeom>
          <a:noFill/>
          <a:ln/>
        </p:spPr>
        <p:txBody>
          <a:bodyPr wrap="square" lIns="38100" tIns="38100" rIns="38100" bIns="38100" rtlCol="0" anchor="ctr"/>
          <a:lstStyle/>
          <a:p>
            <a:pPr algn="l" indent="0" marL="0">
              <a:buNone/>
            </a:pPr>
            <a:r>
              <a:rPr lang="en-US" sz="850" b="1" dirty="0">
                <a:solidFill>
                  <a:srgbClr val="1A1A1A"/>
                </a:solidFill>
                <a:latin typeface="Calibri" pitchFamily="34" charset="0"/>
                <a:ea typeface="Calibri" pitchFamily="34" charset="-122"/>
                <a:cs typeface="Calibri" pitchFamily="34" charset="-120"/>
              </a:rPr>
              <a:t>Why centroid-NN instead of linear probe?</a:t>
            </a:r>
            <a:endParaRPr lang="en-US" sz="850" dirty="0"/>
          </a:p>
        </p:txBody>
      </p:sp>
      <p:sp>
        <p:nvSpPr>
          <p:cNvPr id="15" name="Text 13"/>
          <p:cNvSpPr/>
          <p:nvPr/>
        </p:nvSpPr>
        <p:spPr>
          <a:xfrm>
            <a:off x="7278624" y="1097280"/>
            <a:ext cx="4608576" cy="1847088"/>
          </a:xfrm>
          <a:prstGeom prst="rect">
            <a:avLst/>
          </a:prstGeom>
          <a:noFill/>
          <a:ln/>
        </p:spPr>
        <p:txBody>
          <a:bodyPr wrap="square" lIns="38100" tIns="38100" rIns="38100" bIns="38100" rtlCol="0" anchor="t"/>
          <a:lstStyle/>
          <a:p>
            <a:pPr algn="l" indent="0" marL="0">
              <a:buNone/>
            </a:pPr>
            <a:r>
              <a:rPr lang="en-US" sz="750" dirty="0">
                <a:solidFill>
                  <a:srgbClr val="1A1A1A"/>
                </a:solidFill>
                <a:latin typeface="Calibri" pitchFamily="34" charset="0"/>
                <a:ea typeface="Calibri" pitchFamily="34" charset="-122"/>
                <a:cs typeface="Calibri" pitchFamily="34" charset="-120"/>
              </a:rPr>
              <a:t>ŷ = argmax_c  ê · c̄_c  (Voronoi assignment)</a:t>
            </a:r>
            <a:endParaRPr lang="en-US" sz="750" dirty="0"/>
          </a:p>
          <a:p>
            <a:pPr algn="l" indent="0" marL="0">
              <a:buNone/>
            </a:pP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Definition: c̄_c = F.normalize(μ_c)</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where μ_c = mean(all embeddings of class c)</a:t>
            </a:r>
            <a:endParaRPr lang="en-US" sz="750" dirty="0"/>
          </a:p>
          <a:p>
            <a:pPr algn="l" indent="0" marL="0">
              <a:buNone/>
            </a:pP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Advantages over linear probe:</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 No extra training — directly tests embedding geometry</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 Measures whether same-emotion clips ACTUALLY cluster</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 Detects collapse (all centroids similar) immediately</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 Used identically at inference time — no gap between eval and deployment</a:t>
            </a:r>
            <a:endParaRPr lang="en-US" sz="750" dirty="0"/>
          </a:p>
          <a:p>
            <a:pPr algn="l" indent="0" marL="0">
              <a:buNone/>
            </a:pP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This IS the inference classifier — not a proxy metric.</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Centroid computed here = centroid saved to emotion_centroids.pt</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 centroid used in pipeline.py at query time</a:t>
            </a:r>
            <a:endParaRPr lang="en-US" sz="750" dirty="0"/>
          </a:p>
        </p:txBody>
      </p:sp>
      <p:sp>
        <p:nvSpPr>
          <p:cNvPr id="16" name="Shape 14"/>
          <p:cNvSpPr/>
          <p:nvPr/>
        </p:nvSpPr>
        <p:spPr>
          <a:xfrm>
            <a:off x="182880" y="3090672"/>
            <a:ext cx="36576" cy="237744"/>
          </a:xfrm>
          <a:prstGeom prst="rect">
            <a:avLst/>
          </a:prstGeom>
          <a:solidFill>
            <a:srgbClr val="7B1FA2"/>
          </a:solidFill>
          <a:ln w="12700">
            <a:solidFill>
              <a:srgbClr val="7B1FA2"/>
            </a:solidFill>
            <a:prstDash val="solid"/>
          </a:ln>
        </p:spPr>
      </p:sp>
      <p:sp>
        <p:nvSpPr>
          <p:cNvPr id="17" name="Text 15"/>
          <p:cNvSpPr/>
          <p:nvPr/>
        </p:nvSpPr>
        <p:spPr>
          <a:xfrm>
            <a:off x="256032" y="3090672"/>
            <a:ext cx="5486400" cy="237744"/>
          </a:xfrm>
          <a:prstGeom prst="rect">
            <a:avLst/>
          </a:prstGeom>
          <a:noFill/>
          <a:ln/>
        </p:spPr>
        <p:txBody>
          <a:bodyPr wrap="square" lIns="38100" tIns="38100" rIns="38100" bIns="38100" rtlCol="0" anchor="ctr"/>
          <a:lstStyle/>
          <a:p>
            <a:pPr algn="l" indent="0" marL="0">
              <a:buNone/>
            </a:pPr>
            <a:r>
              <a:rPr lang="en-US" sz="800" b="1" dirty="0">
                <a:solidFill>
                  <a:srgbClr val="7B1FA2"/>
                </a:solidFill>
                <a:latin typeface="Calibri" pitchFamily="34" charset="0"/>
                <a:ea typeface="Calibri" pitchFamily="34" charset="-122"/>
                <a:cs typeface="Calibri" pitchFamily="34" charset="-120"/>
              </a:rPr>
              <a:t>Final Results — Best Epoch 27</a:t>
            </a:r>
            <a:endParaRPr lang="en-US" sz="800" dirty="0"/>
          </a:p>
        </p:txBody>
      </p:sp>
      <p:sp>
        <p:nvSpPr>
          <p:cNvPr id="18" name="Shape 16"/>
          <p:cNvSpPr/>
          <p:nvPr/>
        </p:nvSpPr>
        <p:spPr>
          <a:xfrm>
            <a:off x="182880" y="3310128"/>
            <a:ext cx="1627632" cy="256032"/>
          </a:xfrm>
          <a:prstGeom prst="rect">
            <a:avLst/>
          </a:prstGeom>
          <a:solidFill>
            <a:srgbClr val="7B1FA2"/>
          </a:solidFill>
          <a:ln w="12700">
            <a:solidFill>
              <a:srgbClr val="7B1FA2"/>
            </a:solidFill>
            <a:prstDash val="solid"/>
          </a:ln>
        </p:spPr>
      </p:sp>
      <p:sp>
        <p:nvSpPr>
          <p:cNvPr id="19" name="Text 17"/>
          <p:cNvSpPr/>
          <p:nvPr/>
        </p:nvSpPr>
        <p:spPr>
          <a:xfrm>
            <a:off x="182880" y="3310128"/>
            <a:ext cx="1627632" cy="256032"/>
          </a:xfrm>
          <a:prstGeom prst="rect">
            <a:avLst/>
          </a:prstGeom>
          <a:noFill/>
          <a:ln/>
        </p:spPr>
        <p:txBody>
          <a:bodyPr wrap="square" lIns="38100" tIns="38100" rIns="38100" bIns="3810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Overall</a:t>
            </a:r>
            <a:endParaRPr lang="en-US" sz="700" dirty="0"/>
          </a:p>
          <a:p>
            <a:pPr algn="ctr" indent="0" marL="0">
              <a:buNone/>
            </a:pPr>
            <a:r>
              <a:rPr lang="en-US" sz="700" b="1" dirty="0">
                <a:solidFill>
                  <a:srgbClr val="FFFFFF"/>
                </a:solidFill>
                <a:latin typeface="Calibri" pitchFamily="34" charset="0"/>
                <a:ea typeface="Calibri" pitchFamily="34" charset="-122"/>
                <a:cs typeface="Calibri" pitchFamily="34" charset="-120"/>
              </a:rPr>
              <a:t>Accuracy</a:t>
            </a:r>
            <a:endParaRPr lang="en-US" sz="700" dirty="0"/>
          </a:p>
        </p:txBody>
      </p:sp>
      <p:sp>
        <p:nvSpPr>
          <p:cNvPr id="20" name="Text 18"/>
          <p:cNvSpPr/>
          <p:nvPr/>
        </p:nvSpPr>
        <p:spPr>
          <a:xfrm>
            <a:off x="182880" y="3566160"/>
            <a:ext cx="1627632" cy="420624"/>
          </a:xfrm>
          <a:prstGeom prst="rect">
            <a:avLst/>
          </a:prstGeom>
          <a:noFill/>
          <a:ln/>
        </p:spPr>
        <p:txBody>
          <a:bodyPr wrap="square" lIns="38100" tIns="38100" rIns="38100" bIns="38100" rtlCol="0" anchor="ctr"/>
          <a:lstStyle/>
          <a:p>
            <a:pPr algn="ctr" indent="0" marL="0">
              <a:buNone/>
            </a:pPr>
            <a:r>
              <a:rPr lang="en-US" sz="1300" b="1" dirty="0">
                <a:solidFill>
                  <a:srgbClr val="7B1FA2"/>
                </a:solidFill>
                <a:latin typeface="Calibri" pitchFamily="34" charset="0"/>
                <a:ea typeface="Calibri" pitchFamily="34" charset="-122"/>
                <a:cs typeface="Calibri" pitchFamily="34" charset="-120"/>
              </a:rPr>
              <a:t>59.0%</a:t>
            </a:r>
            <a:endParaRPr lang="en-US" sz="1300" dirty="0"/>
          </a:p>
        </p:txBody>
      </p:sp>
      <p:sp>
        <p:nvSpPr>
          <p:cNvPr id="21" name="Text 19"/>
          <p:cNvSpPr/>
          <p:nvPr/>
        </p:nvSpPr>
        <p:spPr>
          <a:xfrm>
            <a:off x="182880" y="3986784"/>
            <a:ext cx="1627632" cy="201168"/>
          </a:xfrm>
          <a:prstGeom prst="rect">
            <a:avLst/>
          </a:prstGeom>
          <a:noFill/>
          <a:ln/>
        </p:spPr>
        <p:txBody>
          <a:bodyPr wrap="square" lIns="38100" tIns="38100" rIns="38100" bIns="38100" rtlCol="0" anchor="ctr"/>
          <a:lstStyle/>
          <a:p>
            <a:pPr algn="ctr" indent="0" marL="0">
              <a:buNone/>
            </a:pPr>
            <a:r>
              <a:rPr lang="en-US" sz="650" dirty="0">
                <a:solidFill>
                  <a:srgbClr val="444444"/>
                </a:solidFill>
                <a:latin typeface="Calibri" pitchFamily="34" charset="0"/>
                <a:ea typeface="Calibri" pitchFamily="34" charset="-122"/>
                <a:cs typeface="Calibri" pitchFamily="34" charset="-120"/>
              </a:rPr>
              <a:t>vs random 12.5%</a:t>
            </a:r>
            <a:endParaRPr lang="en-US" sz="650" dirty="0"/>
          </a:p>
        </p:txBody>
      </p:sp>
      <p:sp>
        <p:nvSpPr>
          <p:cNvPr id="22" name="Shape 20"/>
          <p:cNvSpPr/>
          <p:nvPr/>
        </p:nvSpPr>
        <p:spPr>
          <a:xfrm>
            <a:off x="182880" y="3310128"/>
            <a:ext cx="1627632" cy="877824"/>
          </a:xfrm>
          <a:prstGeom prst="rect">
            <a:avLst/>
          </a:prstGeom>
          <a:solidFill>
            <a:srgbClr val="FFFFFF">
              <a:alpha val="0"/>
            </a:srgbClr>
          </a:solidFill>
          <a:ln w="6350">
            <a:solidFill>
              <a:srgbClr val="7B1FA2"/>
            </a:solidFill>
            <a:prstDash val="solid"/>
          </a:ln>
        </p:spPr>
      </p:sp>
      <p:sp>
        <p:nvSpPr>
          <p:cNvPr id="23" name="Shape 21"/>
          <p:cNvSpPr/>
          <p:nvPr/>
        </p:nvSpPr>
        <p:spPr>
          <a:xfrm>
            <a:off x="1892808" y="3310128"/>
            <a:ext cx="1627632" cy="256032"/>
          </a:xfrm>
          <a:prstGeom prst="rect">
            <a:avLst/>
          </a:prstGeom>
          <a:solidFill>
            <a:srgbClr val="1A6B30"/>
          </a:solidFill>
          <a:ln w="12700">
            <a:solidFill>
              <a:srgbClr val="1A6B30"/>
            </a:solidFill>
            <a:prstDash val="solid"/>
          </a:ln>
        </p:spPr>
      </p:sp>
      <p:sp>
        <p:nvSpPr>
          <p:cNvPr id="24" name="Text 22"/>
          <p:cNvSpPr/>
          <p:nvPr/>
        </p:nvSpPr>
        <p:spPr>
          <a:xfrm>
            <a:off x="1892808" y="3310128"/>
            <a:ext cx="1627632" cy="256032"/>
          </a:xfrm>
          <a:prstGeom prst="rect">
            <a:avLst/>
          </a:prstGeom>
          <a:noFill/>
          <a:ln/>
        </p:spPr>
        <p:txBody>
          <a:bodyPr wrap="square" lIns="38100" tIns="38100" rIns="38100" bIns="3810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Emotions</a:t>
            </a:r>
            <a:endParaRPr lang="en-US" sz="700" dirty="0"/>
          </a:p>
          <a:p>
            <a:pPr algn="ctr" indent="0" marL="0">
              <a:buNone/>
            </a:pPr>
            <a:r>
              <a:rPr lang="en-US" sz="700" b="1" dirty="0">
                <a:solidFill>
                  <a:srgbClr val="FFFFFF"/>
                </a:solidFill>
                <a:latin typeface="Calibri" pitchFamily="34" charset="0"/>
                <a:ea typeface="Calibri" pitchFamily="34" charset="-122"/>
                <a:cs typeface="Calibri" pitchFamily="34" charset="-120"/>
              </a:rPr>
              <a:t>Correct</a:t>
            </a:r>
            <a:endParaRPr lang="en-US" sz="700" dirty="0"/>
          </a:p>
        </p:txBody>
      </p:sp>
      <p:sp>
        <p:nvSpPr>
          <p:cNvPr id="25" name="Text 23"/>
          <p:cNvSpPr/>
          <p:nvPr/>
        </p:nvSpPr>
        <p:spPr>
          <a:xfrm>
            <a:off x="1892808" y="3566160"/>
            <a:ext cx="1627632" cy="420624"/>
          </a:xfrm>
          <a:prstGeom prst="rect">
            <a:avLst/>
          </a:prstGeom>
          <a:noFill/>
          <a:ln/>
        </p:spPr>
        <p:txBody>
          <a:bodyPr wrap="square" lIns="38100" tIns="38100" rIns="38100" bIns="38100" rtlCol="0" anchor="ctr"/>
          <a:lstStyle/>
          <a:p>
            <a:pPr algn="ctr" indent="0" marL="0">
              <a:buNone/>
            </a:pPr>
            <a:r>
              <a:rPr lang="en-US" sz="1300" b="1" dirty="0">
                <a:solidFill>
                  <a:srgbClr val="1A6B30"/>
                </a:solidFill>
                <a:latin typeface="Calibri" pitchFamily="34" charset="0"/>
                <a:ea typeface="Calibri" pitchFamily="34" charset="-122"/>
                <a:cs typeface="Calibri" pitchFamily="34" charset="-120"/>
              </a:rPr>
              <a:t>6/8</a:t>
            </a:r>
            <a:endParaRPr lang="en-US" sz="1300" dirty="0"/>
          </a:p>
        </p:txBody>
      </p:sp>
      <p:sp>
        <p:nvSpPr>
          <p:cNvPr id="26" name="Text 24"/>
          <p:cNvSpPr/>
          <p:nvPr/>
        </p:nvSpPr>
        <p:spPr>
          <a:xfrm>
            <a:off x="1892808" y="3986784"/>
            <a:ext cx="1627632" cy="201168"/>
          </a:xfrm>
          <a:prstGeom prst="rect">
            <a:avLst/>
          </a:prstGeom>
          <a:noFill/>
          <a:ln/>
        </p:spPr>
        <p:txBody>
          <a:bodyPr wrap="square" lIns="38100" tIns="38100" rIns="38100" bIns="38100" rtlCol="0" anchor="ctr"/>
          <a:lstStyle/>
          <a:p>
            <a:pPr algn="ctr" indent="0" marL="0">
              <a:buNone/>
            </a:pPr>
            <a:r>
              <a:rPr lang="en-US" sz="650" dirty="0">
                <a:solidFill>
                  <a:srgbClr val="444444"/>
                </a:solidFill>
                <a:latin typeface="Calibri" pitchFamily="34" charset="0"/>
                <a:ea typeface="Calibri" pitchFamily="34" charset="-122"/>
                <a:cs typeface="Calibri" pitchFamily="34" charset="-120"/>
              </a:rPr>
              <a:t>pass threshold ≥50%</a:t>
            </a:r>
            <a:endParaRPr lang="en-US" sz="650" dirty="0"/>
          </a:p>
        </p:txBody>
      </p:sp>
      <p:sp>
        <p:nvSpPr>
          <p:cNvPr id="27" name="Shape 25"/>
          <p:cNvSpPr/>
          <p:nvPr/>
        </p:nvSpPr>
        <p:spPr>
          <a:xfrm>
            <a:off x="1892808" y="3310128"/>
            <a:ext cx="1627632" cy="877824"/>
          </a:xfrm>
          <a:prstGeom prst="rect">
            <a:avLst/>
          </a:prstGeom>
          <a:solidFill>
            <a:srgbClr val="FFFFFF">
              <a:alpha val="0"/>
            </a:srgbClr>
          </a:solidFill>
          <a:ln w="6350">
            <a:solidFill>
              <a:srgbClr val="1A6B30"/>
            </a:solidFill>
            <a:prstDash val="solid"/>
          </a:ln>
        </p:spPr>
      </p:sp>
      <p:sp>
        <p:nvSpPr>
          <p:cNvPr id="28" name="Shape 26"/>
          <p:cNvSpPr/>
          <p:nvPr/>
        </p:nvSpPr>
        <p:spPr>
          <a:xfrm>
            <a:off x="3602736" y="3310128"/>
            <a:ext cx="1627632" cy="256032"/>
          </a:xfrm>
          <a:prstGeom prst="rect">
            <a:avLst/>
          </a:prstGeom>
          <a:solidFill>
            <a:srgbClr val="0D7C5F"/>
          </a:solidFill>
          <a:ln w="12700">
            <a:solidFill>
              <a:srgbClr val="0D7C5F"/>
            </a:solidFill>
            <a:prstDash val="solid"/>
          </a:ln>
        </p:spPr>
      </p:sp>
      <p:sp>
        <p:nvSpPr>
          <p:cNvPr id="29" name="Text 27"/>
          <p:cNvSpPr/>
          <p:nvPr/>
        </p:nvSpPr>
        <p:spPr>
          <a:xfrm>
            <a:off x="3602736" y="3310128"/>
            <a:ext cx="1627632" cy="256032"/>
          </a:xfrm>
          <a:prstGeom prst="rect">
            <a:avLst/>
          </a:prstGeom>
          <a:noFill/>
          <a:ln/>
        </p:spPr>
        <p:txBody>
          <a:bodyPr wrap="square" lIns="38100" tIns="38100" rIns="38100" bIns="3810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vs Month 2</a:t>
            </a:r>
            <a:endParaRPr lang="en-US" sz="700" dirty="0"/>
          </a:p>
          <a:p>
            <a:pPr algn="ctr" indent="0" marL="0">
              <a:buNone/>
            </a:pPr>
            <a:r>
              <a:rPr lang="en-US" sz="700" b="1" dirty="0">
                <a:solidFill>
                  <a:srgbClr val="FFFFFF"/>
                </a:solidFill>
                <a:latin typeface="Calibri" pitchFamily="34" charset="0"/>
                <a:ea typeface="Calibri" pitchFamily="34" charset="-122"/>
                <a:cs typeface="Calibri" pitchFamily="34" charset="-120"/>
              </a:rPr>
              <a:t>Baseline</a:t>
            </a:r>
            <a:endParaRPr lang="en-US" sz="700" dirty="0"/>
          </a:p>
        </p:txBody>
      </p:sp>
      <p:sp>
        <p:nvSpPr>
          <p:cNvPr id="30" name="Text 28"/>
          <p:cNvSpPr/>
          <p:nvPr/>
        </p:nvSpPr>
        <p:spPr>
          <a:xfrm>
            <a:off x="3602736" y="3566160"/>
            <a:ext cx="1627632" cy="420624"/>
          </a:xfrm>
          <a:prstGeom prst="rect">
            <a:avLst/>
          </a:prstGeom>
          <a:noFill/>
          <a:ln/>
        </p:spPr>
        <p:txBody>
          <a:bodyPr wrap="square" lIns="38100" tIns="38100" rIns="38100" bIns="38100" rtlCol="0" anchor="ctr"/>
          <a:lstStyle/>
          <a:p>
            <a:pPr algn="ctr" indent="0" marL="0">
              <a:buNone/>
            </a:pPr>
            <a:r>
              <a:rPr lang="en-US" sz="1300" b="1" dirty="0">
                <a:solidFill>
                  <a:srgbClr val="0D7C5F"/>
                </a:solidFill>
                <a:latin typeface="Calibri" pitchFamily="34" charset="0"/>
                <a:ea typeface="Calibri" pitchFamily="34" charset="-122"/>
                <a:cs typeface="Calibri" pitchFamily="34" charset="-120"/>
              </a:rPr>
              <a:t>5/8→6/8</a:t>
            </a:r>
            <a:endParaRPr lang="en-US" sz="1300" dirty="0"/>
          </a:p>
        </p:txBody>
      </p:sp>
      <p:sp>
        <p:nvSpPr>
          <p:cNvPr id="31" name="Text 29"/>
          <p:cNvSpPr/>
          <p:nvPr/>
        </p:nvSpPr>
        <p:spPr>
          <a:xfrm>
            <a:off x="3602736" y="3986784"/>
            <a:ext cx="1627632" cy="201168"/>
          </a:xfrm>
          <a:prstGeom prst="rect">
            <a:avLst/>
          </a:prstGeom>
          <a:noFill/>
          <a:ln/>
        </p:spPr>
        <p:txBody>
          <a:bodyPr wrap="square" lIns="38100" tIns="38100" rIns="38100" bIns="38100" rtlCol="0" anchor="ctr"/>
          <a:lstStyle/>
          <a:p>
            <a:pPr algn="ctr" indent="0" marL="0">
              <a:buNone/>
            </a:pPr>
            <a:r>
              <a:rPr lang="en-US" sz="650" dirty="0">
                <a:solidFill>
                  <a:srgbClr val="444444"/>
                </a:solidFill>
                <a:latin typeface="Calibri" pitchFamily="34" charset="0"/>
                <a:ea typeface="Calibri" pitchFamily="34" charset="-122"/>
                <a:cs typeface="Calibri" pitchFamily="34" charset="-120"/>
              </a:rPr>
              <a:t>+1 emotion gained</a:t>
            </a:r>
            <a:endParaRPr lang="en-US" sz="650" dirty="0"/>
          </a:p>
        </p:txBody>
      </p:sp>
      <p:sp>
        <p:nvSpPr>
          <p:cNvPr id="32" name="Shape 30"/>
          <p:cNvSpPr/>
          <p:nvPr/>
        </p:nvSpPr>
        <p:spPr>
          <a:xfrm>
            <a:off x="3602736" y="3310128"/>
            <a:ext cx="1627632" cy="877824"/>
          </a:xfrm>
          <a:prstGeom prst="rect">
            <a:avLst/>
          </a:prstGeom>
          <a:solidFill>
            <a:srgbClr val="FFFFFF">
              <a:alpha val="0"/>
            </a:srgbClr>
          </a:solidFill>
          <a:ln w="6350">
            <a:solidFill>
              <a:srgbClr val="0D7C5F"/>
            </a:solidFill>
            <a:prstDash val="solid"/>
          </a:ln>
        </p:spPr>
      </p:sp>
      <p:sp>
        <p:nvSpPr>
          <p:cNvPr id="33" name="Shape 31"/>
          <p:cNvSpPr/>
          <p:nvPr/>
        </p:nvSpPr>
        <p:spPr>
          <a:xfrm>
            <a:off x="5312664" y="3310128"/>
            <a:ext cx="1627632" cy="256032"/>
          </a:xfrm>
          <a:prstGeom prst="rect">
            <a:avLst/>
          </a:prstGeom>
          <a:solidFill>
            <a:srgbClr val="8A5200"/>
          </a:solidFill>
          <a:ln w="12700">
            <a:solidFill>
              <a:srgbClr val="8A5200"/>
            </a:solidFill>
            <a:prstDash val="solid"/>
          </a:ln>
        </p:spPr>
      </p:sp>
      <p:sp>
        <p:nvSpPr>
          <p:cNvPr id="34" name="Text 32"/>
          <p:cNvSpPr/>
          <p:nvPr/>
        </p:nvSpPr>
        <p:spPr>
          <a:xfrm>
            <a:off x="5312664" y="3310128"/>
            <a:ext cx="1627632" cy="256032"/>
          </a:xfrm>
          <a:prstGeom prst="rect">
            <a:avLst/>
          </a:prstGeom>
          <a:noFill/>
          <a:ln/>
        </p:spPr>
        <p:txBody>
          <a:bodyPr wrap="square" lIns="38100" tIns="38100" rIns="38100" bIns="3810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Random</a:t>
            </a:r>
            <a:endParaRPr lang="en-US" sz="700" dirty="0"/>
          </a:p>
          <a:p>
            <a:pPr algn="ctr" indent="0" marL="0">
              <a:buNone/>
            </a:pPr>
            <a:r>
              <a:rPr lang="en-US" sz="700" b="1" dirty="0">
                <a:solidFill>
                  <a:srgbClr val="FFFFFF"/>
                </a:solidFill>
                <a:latin typeface="Calibri" pitchFamily="34" charset="0"/>
                <a:ea typeface="Calibri" pitchFamily="34" charset="-122"/>
                <a:cs typeface="Calibri" pitchFamily="34" charset="-120"/>
              </a:rPr>
              <a:t>Baseline</a:t>
            </a:r>
            <a:endParaRPr lang="en-US" sz="700" dirty="0"/>
          </a:p>
        </p:txBody>
      </p:sp>
      <p:sp>
        <p:nvSpPr>
          <p:cNvPr id="35" name="Text 33"/>
          <p:cNvSpPr/>
          <p:nvPr/>
        </p:nvSpPr>
        <p:spPr>
          <a:xfrm>
            <a:off x="5312664" y="3566160"/>
            <a:ext cx="1627632" cy="420624"/>
          </a:xfrm>
          <a:prstGeom prst="rect">
            <a:avLst/>
          </a:prstGeom>
          <a:noFill/>
          <a:ln/>
        </p:spPr>
        <p:txBody>
          <a:bodyPr wrap="square" lIns="38100" tIns="38100" rIns="38100" bIns="38100" rtlCol="0" anchor="ctr"/>
          <a:lstStyle/>
          <a:p>
            <a:pPr algn="ctr" indent="0" marL="0">
              <a:buNone/>
            </a:pPr>
            <a:r>
              <a:rPr lang="en-US" sz="1300" b="1" dirty="0">
                <a:solidFill>
                  <a:srgbClr val="8A5200"/>
                </a:solidFill>
                <a:latin typeface="Calibri" pitchFamily="34" charset="0"/>
                <a:ea typeface="Calibri" pitchFamily="34" charset="-122"/>
                <a:cs typeface="Calibri" pitchFamily="34" charset="-120"/>
              </a:rPr>
              <a:t>12.5%</a:t>
            </a:r>
            <a:endParaRPr lang="en-US" sz="1300" dirty="0"/>
          </a:p>
        </p:txBody>
      </p:sp>
      <p:sp>
        <p:nvSpPr>
          <p:cNvPr id="36" name="Text 34"/>
          <p:cNvSpPr/>
          <p:nvPr/>
        </p:nvSpPr>
        <p:spPr>
          <a:xfrm>
            <a:off x="5312664" y="3986784"/>
            <a:ext cx="1627632" cy="201168"/>
          </a:xfrm>
          <a:prstGeom prst="rect">
            <a:avLst/>
          </a:prstGeom>
          <a:noFill/>
          <a:ln/>
        </p:spPr>
        <p:txBody>
          <a:bodyPr wrap="square" lIns="38100" tIns="38100" rIns="38100" bIns="38100" rtlCol="0" anchor="ctr"/>
          <a:lstStyle/>
          <a:p>
            <a:pPr algn="ctr" indent="0" marL="0">
              <a:buNone/>
            </a:pPr>
            <a:r>
              <a:rPr lang="en-US" sz="650" dirty="0">
                <a:solidFill>
                  <a:srgbClr val="444444"/>
                </a:solidFill>
                <a:latin typeface="Calibri" pitchFamily="34" charset="0"/>
                <a:ea typeface="Calibri" pitchFamily="34" charset="-122"/>
                <a:cs typeface="Calibri" pitchFamily="34" charset="-120"/>
              </a:rPr>
              <a:t>1/8 expected by chance</a:t>
            </a:r>
            <a:endParaRPr lang="en-US" sz="650" dirty="0"/>
          </a:p>
        </p:txBody>
      </p:sp>
      <p:sp>
        <p:nvSpPr>
          <p:cNvPr id="37" name="Shape 35"/>
          <p:cNvSpPr/>
          <p:nvPr/>
        </p:nvSpPr>
        <p:spPr>
          <a:xfrm>
            <a:off x="5312664" y="3310128"/>
            <a:ext cx="1627632" cy="877824"/>
          </a:xfrm>
          <a:prstGeom prst="rect">
            <a:avLst/>
          </a:prstGeom>
          <a:solidFill>
            <a:srgbClr val="FFFFFF">
              <a:alpha val="0"/>
            </a:srgbClr>
          </a:solidFill>
          <a:ln w="6350">
            <a:solidFill>
              <a:srgbClr val="8A5200"/>
            </a:solidFill>
            <a:prstDash val="solid"/>
          </a:ln>
        </p:spPr>
      </p:sp>
      <p:sp>
        <p:nvSpPr>
          <p:cNvPr id="38" name="Shape 36"/>
          <p:cNvSpPr/>
          <p:nvPr/>
        </p:nvSpPr>
        <p:spPr>
          <a:xfrm>
            <a:off x="7022592" y="3310128"/>
            <a:ext cx="1627632" cy="256032"/>
          </a:xfrm>
          <a:prstGeom prst="rect">
            <a:avLst/>
          </a:prstGeom>
          <a:solidFill>
            <a:srgbClr val="1A6B30"/>
          </a:solidFill>
          <a:ln w="12700">
            <a:solidFill>
              <a:srgbClr val="1A6B30"/>
            </a:solidFill>
            <a:prstDash val="solid"/>
          </a:ln>
        </p:spPr>
      </p:sp>
      <p:sp>
        <p:nvSpPr>
          <p:cNvPr id="39" name="Text 37"/>
          <p:cNvSpPr/>
          <p:nvPr/>
        </p:nvSpPr>
        <p:spPr>
          <a:xfrm>
            <a:off x="7022592" y="3310128"/>
            <a:ext cx="1627632" cy="256032"/>
          </a:xfrm>
          <a:prstGeom prst="rect">
            <a:avLst/>
          </a:prstGeom>
          <a:noFill/>
          <a:ln/>
        </p:spPr>
        <p:txBody>
          <a:bodyPr wrap="square" lIns="38100" tIns="38100" rIns="38100" bIns="3810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Improvement</a:t>
            </a:r>
            <a:endParaRPr lang="en-US" sz="700" dirty="0"/>
          </a:p>
          <a:p>
            <a:pPr algn="ctr" indent="0" marL="0">
              <a:buNone/>
            </a:pPr>
            <a:r>
              <a:rPr lang="en-US" sz="700" b="1" dirty="0">
                <a:solidFill>
                  <a:srgbClr val="FFFFFF"/>
                </a:solidFill>
                <a:latin typeface="Calibri" pitchFamily="34" charset="0"/>
                <a:ea typeface="Calibri" pitchFamily="34" charset="-122"/>
                <a:cs typeface="Calibri" pitchFamily="34" charset="-120"/>
              </a:rPr>
              <a:t>over random</a:t>
            </a:r>
            <a:endParaRPr lang="en-US" sz="700" dirty="0"/>
          </a:p>
        </p:txBody>
      </p:sp>
      <p:sp>
        <p:nvSpPr>
          <p:cNvPr id="40" name="Text 38"/>
          <p:cNvSpPr/>
          <p:nvPr/>
        </p:nvSpPr>
        <p:spPr>
          <a:xfrm>
            <a:off x="7022592" y="3566160"/>
            <a:ext cx="1627632" cy="420624"/>
          </a:xfrm>
          <a:prstGeom prst="rect">
            <a:avLst/>
          </a:prstGeom>
          <a:noFill/>
          <a:ln/>
        </p:spPr>
        <p:txBody>
          <a:bodyPr wrap="square" lIns="38100" tIns="38100" rIns="38100" bIns="38100" rtlCol="0" anchor="ctr"/>
          <a:lstStyle/>
          <a:p>
            <a:pPr algn="ctr" indent="0" marL="0">
              <a:buNone/>
            </a:pPr>
            <a:r>
              <a:rPr lang="en-US" sz="1300" b="1" dirty="0">
                <a:solidFill>
                  <a:srgbClr val="1A6B30"/>
                </a:solidFill>
                <a:latin typeface="Calibri" pitchFamily="34" charset="0"/>
                <a:ea typeface="Calibri" pitchFamily="34" charset="-122"/>
                <a:cs typeface="Calibri" pitchFamily="34" charset="-120"/>
              </a:rPr>
              <a:t>+46.5pp</a:t>
            </a:r>
            <a:endParaRPr lang="en-US" sz="1300" dirty="0"/>
          </a:p>
        </p:txBody>
      </p:sp>
      <p:sp>
        <p:nvSpPr>
          <p:cNvPr id="41" name="Text 39"/>
          <p:cNvSpPr/>
          <p:nvPr/>
        </p:nvSpPr>
        <p:spPr>
          <a:xfrm>
            <a:off x="7022592" y="3986784"/>
            <a:ext cx="1627632" cy="201168"/>
          </a:xfrm>
          <a:prstGeom prst="rect">
            <a:avLst/>
          </a:prstGeom>
          <a:noFill/>
          <a:ln/>
        </p:spPr>
        <p:txBody>
          <a:bodyPr wrap="square" lIns="38100" tIns="38100" rIns="38100" bIns="38100" rtlCol="0" anchor="ctr"/>
          <a:lstStyle/>
          <a:p>
            <a:pPr algn="ctr" indent="0" marL="0">
              <a:buNone/>
            </a:pPr>
            <a:r>
              <a:rPr lang="en-US" sz="650" dirty="0">
                <a:solidFill>
                  <a:srgbClr val="444444"/>
                </a:solidFill>
                <a:latin typeface="Calibri" pitchFamily="34" charset="0"/>
                <a:ea typeface="Calibri" pitchFamily="34" charset="-122"/>
                <a:cs typeface="Calibri" pitchFamily="34" charset="-120"/>
              </a:rPr>
              <a:t>strong signal</a:t>
            </a:r>
            <a:endParaRPr lang="en-US" sz="650" dirty="0"/>
          </a:p>
        </p:txBody>
      </p:sp>
      <p:sp>
        <p:nvSpPr>
          <p:cNvPr id="42" name="Shape 40"/>
          <p:cNvSpPr/>
          <p:nvPr/>
        </p:nvSpPr>
        <p:spPr>
          <a:xfrm>
            <a:off x="7022592" y="3310128"/>
            <a:ext cx="1627632" cy="877824"/>
          </a:xfrm>
          <a:prstGeom prst="rect">
            <a:avLst/>
          </a:prstGeom>
          <a:solidFill>
            <a:srgbClr val="FFFFFF">
              <a:alpha val="0"/>
            </a:srgbClr>
          </a:solidFill>
          <a:ln w="6350">
            <a:solidFill>
              <a:srgbClr val="1A6B30"/>
            </a:solidFill>
            <a:prstDash val="solid"/>
          </a:ln>
        </p:spPr>
      </p:sp>
      <p:sp>
        <p:nvSpPr>
          <p:cNvPr id="43" name="Shape 41"/>
          <p:cNvSpPr/>
          <p:nvPr/>
        </p:nvSpPr>
        <p:spPr>
          <a:xfrm>
            <a:off x="8732520" y="3310128"/>
            <a:ext cx="1627632" cy="256032"/>
          </a:xfrm>
          <a:prstGeom prst="rect">
            <a:avLst/>
          </a:prstGeom>
          <a:solidFill>
            <a:srgbClr val="14407A"/>
          </a:solidFill>
          <a:ln w="12700">
            <a:solidFill>
              <a:srgbClr val="14407A"/>
            </a:solidFill>
            <a:prstDash val="solid"/>
          </a:ln>
        </p:spPr>
      </p:sp>
      <p:sp>
        <p:nvSpPr>
          <p:cNvPr id="44" name="Text 42"/>
          <p:cNvSpPr/>
          <p:nvPr/>
        </p:nvSpPr>
        <p:spPr>
          <a:xfrm>
            <a:off x="8732520" y="3310128"/>
            <a:ext cx="1627632" cy="256032"/>
          </a:xfrm>
          <a:prstGeom prst="rect">
            <a:avLst/>
          </a:prstGeom>
          <a:noFill/>
          <a:ln/>
        </p:spPr>
        <p:txBody>
          <a:bodyPr wrap="square" lIns="38100" tIns="38100" rIns="38100" bIns="3810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Best epoch</a:t>
            </a:r>
            <a:endParaRPr lang="en-US" sz="700" dirty="0"/>
          </a:p>
        </p:txBody>
      </p:sp>
      <p:sp>
        <p:nvSpPr>
          <p:cNvPr id="45" name="Text 43"/>
          <p:cNvSpPr/>
          <p:nvPr/>
        </p:nvSpPr>
        <p:spPr>
          <a:xfrm>
            <a:off x="8732520" y="3566160"/>
            <a:ext cx="1627632" cy="420624"/>
          </a:xfrm>
          <a:prstGeom prst="rect">
            <a:avLst/>
          </a:prstGeom>
          <a:noFill/>
          <a:ln/>
        </p:spPr>
        <p:txBody>
          <a:bodyPr wrap="square" lIns="38100" tIns="38100" rIns="38100" bIns="38100" rtlCol="0" anchor="ctr"/>
          <a:lstStyle/>
          <a:p>
            <a:pPr algn="ctr" indent="0" marL="0">
              <a:buNone/>
            </a:pPr>
            <a:r>
              <a:rPr lang="en-US" sz="1300" b="1" dirty="0">
                <a:solidFill>
                  <a:srgbClr val="14407A"/>
                </a:solidFill>
                <a:latin typeface="Calibri" pitchFamily="34" charset="0"/>
                <a:ea typeface="Calibri" pitchFamily="34" charset="-122"/>
                <a:cs typeface="Calibri" pitchFamily="34" charset="-120"/>
              </a:rPr>
              <a:t>27</a:t>
            </a:r>
            <a:endParaRPr lang="en-US" sz="1300" dirty="0"/>
          </a:p>
        </p:txBody>
      </p:sp>
      <p:sp>
        <p:nvSpPr>
          <p:cNvPr id="46" name="Text 44"/>
          <p:cNvSpPr/>
          <p:nvPr/>
        </p:nvSpPr>
        <p:spPr>
          <a:xfrm>
            <a:off x="8732520" y="3986784"/>
            <a:ext cx="1627632" cy="201168"/>
          </a:xfrm>
          <a:prstGeom prst="rect">
            <a:avLst/>
          </a:prstGeom>
          <a:noFill/>
          <a:ln/>
        </p:spPr>
        <p:txBody>
          <a:bodyPr wrap="square" lIns="38100" tIns="38100" rIns="38100" bIns="38100" rtlCol="0" anchor="ctr"/>
          <a:lstStyle/>
          <a:p>
            <a:pPr algn="ctr" indent="0" marL="0">
              <a:buNone/>
            </a:pPr>
            <a:r>
              <a:rPr lang="en-US" sz="650" dirty="0">
                <a:solidFill>
                  <a:srgbClr val="444444"/>
                </a:solidFill>
                <a:latin typeface="Calibri" pitchFamily="34" charset="0"/>
                <a:ea typeface="Calibri" pitchFamily="34" charset="-122"/>
                <a:cs typeface="Calibri" pitchFamily="34" charset="-120"/>
              </a:rPr>
              <a:t>saved by acc, not last</a:t>
            </a:r>
            <a:endParaRPr lang="en-US" sz="650" dirty="0"/>
          </a:p>
        </p:txBody>
      </p:sp>
      <p:sp>
        <p:nvSpPr>
          <p:cNvPr id="47" name="Shape 45"/>
          <p:cNvSpPr/>
          <p:nvPr/>
        </p:nvSpPr>
        <p:spPr>
          <a:xfrm>
            <a:off x="8732520" y="3310128"/>
            <a:ext cx="1627632" cy="877824"/>
          </a:xfrm>
          <a:prstGeom prst="rect">
            <a:avLst/>
          </a:prstGeom>
          <a:solidFill>
            <a:srgbClr val="FFFFFF">
              <a:alpha val="0"/>
            </a:srgbClr>
          </a:solidFill>
          <a:ln w="6350">
            <a:solidFill>
              <a:srgbClr val="14407A"/>
            </a:solidFill>
            <a:prstDash val="solid"/>
          </a:ln>
        </p:spPr>
      </p:sp>
      <p:sp>
        <p:nvSpPr>
          <p:cNvPr id="48" name="Shape 46"/>
          <p:cNvSpPr/>
          <p:nvPr/>
        </p:nvSpPr>
        <p:spPr>
          <a:xfrm>
            <a:off x="10442448" y="3310128"/>
            <a:ext cx="1627632" cy="256032"/>
          </a:xfrm>
          <a:prstGeom prst="rect">
            <a:avLst/>
          </a:prstGeom>
          <a:solidFill>
            <a:srgbClr val="444444"/>
          </a:solidFill>
          <a:ln w="12700">
            <a:solidFill>
              <a:srgbClr val="444444"/>
            </a:solidFill>
            <a:prstDash val="solid"/>
          </a:ln>
        </p:spPr>
      </p:sp>
      <p:sp>
        <p:nvSpPr>
          <p:cNvPr id="49" name="Text 47"/>
          <p:cNvSpPr/>
          <p:nvPr/>
        </p:nvSpPr>
        <p:spPr>
          <a:xfrm>
            <a:off x="10442448" y="3310128"/>
            <a:ext cx="1627632" cy="256032"/>
          </a:xfrm>
          <a:prstGeom prst="rect">
            <a:avLst/>
          </a:prstGeom>
          <a:noFill/>
          <a:ln/>
        </p:spPr>
        <p:txBody>
          <a:bodyPr wrap="square" lIns="38100" tIns="38100" rIns="38100" bIns="3810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Final loss</a:t>
            </a:r>
            <a:endParaRPr lang="en-US" sz="700" dirty="0"/>
          </a:p>
          <a:p>
            <a:pPr algn="ctr" indent="0" marL="0">
              <a:buNone/>
            </a:pPr>
            <a:r>
              <a:rPr lang="en-US" sz="700" b="1" dirty="0">
                <a:solidFill>
                  <a:srgbClr val="FFFFFF"/>
                </a:solidFill>
                <a:latin typeface="Calibri" pitchFamily="34" charset="0"/>
                <a:ea typeface="Calibri" pitchFamily="34" charset="-122"/>
                <a:cs typeface="Calibri" pitchFamily="34" charset="-120"/>
              </a:rPr>
              <a:t>Epoch 30</a:t>
            </a:r>
            <a:endParaRPr lang="en-US" sz="700" dirty="0"/>
          </a:p>
        </p:txBody>
      </p:sp>
      <p:sp>
        <p:nvSpPr>
          <p:cNvPr id="50" name="Text 48"/>
          <p:cNvSpPr/>
          <p:nvPr/>
        </p:nvSpPr>
        <p:spPr>
          <a:xfrm>
            <a:off x="10442448" y="3566160"/>
            <a:ext cx="1627632" cy="420624"/>
          </a:xfrm>
          <a:prstGeom prst="rect">
            <a:avLst/>
          </a:prstGeom>
          <a:noFill/>
          <a:ln/>
        </p:spPr>
        <p:txBody>
          <a:bodyPr wrap="square" lIns="38100" tIns="38100" rIns="38100" bIns="38100" rtlCol="0" anchor="ctr"/>
          <a:lstStyle/>
          <a:p>
            <a:pPr algn="ctr" indent="0" marL="0">
              <a:buNone/>
            </a:pPr>
            <a:r>
              <a:rPr lang="en-US" sz="1300" b="1" dirty="0">
                <a:solidFill>
                  <a:srgbClr val="444444"/>
                </a:solidFill>
                <a:latin typeface="Calibri" pitchFamily="34" charset="0"/>
                <a:ea typeface="Calibri" pitchFamily="34" charset="-122"/>
                <a:cs typeface="Calibri" pitchFamily="34" charset="-120"/>
              </a:rPr>
              <a:t>~0.35</a:t>
            </a:r>
            <a:endParaRPr lang="en-US" sz="1300" dirty="0"/>
          </a:p>
        </p:txBody>
      </p:sp>
      <p:sp>
        <p:nvSpPr>
          <p:cNvPr id="51" name="Text 49"/>
          <p:cNvSpPr/>
          <p:nvPr/>
        </p:nvSpPr>
        <p:spPr>
          <a:xfrm>
            <a:off x="10442448" y="3986784"/>
            <a:ext cx="1627632" cy="201168"/>
          </a:xfrm>
          <a:prstGeom prst="rect">
            <a:avLst/>
          </a:prstGeom>
          <a:noFill/>
          <a:ln/>
        </p:spPr>
        <p:txBody>
          <a:bodyPr wrap="square" lIns="38100" tIns="38100" rIns="38100" bIns="38100" rtlCol="0" anchor="ctr"/>
          <a:lstStyle/>
          <a:p>
            <a:pPr algn="ctr" indent="0" marL="0">
              <a:buNone/>
            </a:pPr>
            <a:r>
              <a:rPr lang="en-US" sz="650" dirty="0">
                <a:solidFill>
                  <a:srgbClr val="444444"/>
                </a:solidFill>
                <a:latin typeface="Calibri" pitchFamily="34" charset="0"/>
                <a:ea typeface="Calibri" pitchFamily="34" charset="-122"/>
                <a:cs typeface="Calibri" pitchFamily="34" charset="-120"/>
              </a:rPr>
              <a:t>vs 2.71 at start</a:t>
            </a:r>
            <a:endParaRPr lang="en-US" sz="650" dirty="0"/>
          </a:p>
        </p:txBody>
      </p:sp>
      <p:sp>
        <p:nvSpPr>
          <p:cNvPr id="52" name="Shape 50"/>
          <p:cNvSpPr/>
          <p:nvPr/>
        </p:nvSpPr>
        <p:spPr>
          <a:xfrm>
            <a:off x="10442448" y="3310128"/>
            <a:ext cx="1627632" cy="877824"/>
          </a:xfrm>
          <a:prstGeom prst="rect">
            <a:avLst/>
          </a:prstGeom>
          <a:solidFill>
            <a:srgbClr val="FFFFFF">
              <a:alpha val="0"/>
            </a:srgbClr>
          </a:solidFill>
          <a:ln w="6350">
            <a:solidFill>
              <a:srgbClr val="444444"/>
            </a:solidFill>
            <a:prstDash val="solid"/>
          </a:ln>
        </p:spPr>
      </p:sp>
      <p:sp>
        <p:nvSpPr>
          <p:cNvPr id="53" name="Shape 51"/>
          <p:cNvSpPr/>
          <p:nvPr/>
        </p:nvSpPr>
        <p:spPr>
          <a:xfrm>
            <a:off x="182880" y="4297680"/>
            <a:ext cx="36576" cy="237744"/>
          </a:xfrm>
          <a:prstGeom prst="rect">
            <a:avLst/>
          </a:prstGeom>
          <a:solidFill>
            <a:srgbClr val="7B1FA2"/>
          </a:solidFill>
          <a:ln w="12700">
            <a:solidFill>
              <a:srgbClr val="7B1FA2"/>
            </a:solidFill>
            <a:prstDash val="solid"/>
          </a:ln>
        </p:spPr>
      </p:sp>
      <p:sp>
        <p:nvSpPr>
          <p:cNvPr id="54" name="Text 52"/>
          <p:cNvSpPr/>
          <p:nvPr/>
        </p:nvSpPr>
        <p:spPr>
          <a:xfrm>
            <a:off x="256032" y="4297680"/>
            <a:ext cx="5486400" cy="237744"/>
          </a:xfrm>
          <a:prstGeom prst="rect">
            <a:avLst/>
          </a:prstGeom>
          <a:noFill/>
          <a:ln/>
        </p:spPr>
        <p:txBody>
          <a:bodyPr wrap="square" lIns="38100" tIns="38100" rIns="38100" bIns="38100" rtlCol="0" anchor="ctr"/>
          <a:lstStyle/>
          <a:p>
            <a:pPr algn="l" indent="0" marL="0">
              <a:buNone/>
            </a:pPr>
            <a:r>
              <a:rPr lang="en-US" sz="800" b="1" dirty="0">
                <a:solidFill>
                  <a:srgbClr val="7B1FA2"/>
                </a:solidFill>
                <a:latin typeface="Calibri" pitchFamily="34" charset="0"/>
                <a:ea typeface="Calibri" pitchFamily="34" charset="-122"/>
                <a:cs typeface="Calibri" pitchFamily="34" charset="-120"/>
              </a:rPr>
              <a:t>Per-Emotion Accuracy at Best Epoch (27) — Centroid-NN on Full 1,440 Clips</a:t>
            </a:r>
            <a:endParaRPr lang="en-US" sz="800" dirty="0"/>
          </a:p>
        </p:txBody>
      </p:sp>
      <p:sp>
        <p:nvSpPr>
          <p:cNvPr id="55" name="Shape 53"/>
          <p:cNvSpPr/>
          <p:nvPr/>
        </p:nvSpPr>
        <p:spPr>
          <a:xfrm>
            <a:off x="182880" y="4517136"/>
            <a:ext cx="11795760" cy="237744"/>
          </a:xfrm>
          <a:prstGeom prst="rect">
            <a:avLst/>
          </a:prstGeom>
          <a:solidFill>
            <a:srgbClr val="D8F2DF"/>
          </a:solidFill>
          <a:ln w="3810">
            <a:solidFill>
              <a:srgbClr val="1A6B30"/>
            </a:solidFill>
            <a:prstDash val="solid"/>
          </a:ln>
        </p:spPr>
      </p:sp>
      <p:sp>
        <p:nvSpPr>
          <p:cNvPr id="56" name="Text 54"/>
          <p:cNvSpPr/>
          <p:nvPr/>
        </p:nvSpPr>
        <p:spPr>
          <a:xfrm>
            <a:off x="274320" y="4517136"/>
            <a:ext cx="201168" cy="237744"/>
          </a:xfrm>
          <a:prstGeom prst="rect">
            <a:avLst/>
          </a:prstGeom>
          <a:noFill/>
          <a:ln/>
        </p:spPr>
        <p:txBody>
          <a:bodyPr wrap="square" lIns="38100" tIns="38100" rIns="38100" bIns="38100" rtlCol="0" anchor="ctr"/>
          <a:lstStyle/>
          <a:p>
            <a:pPr algn="ctr" indent="0" marL="0">
              <a:buNone/>
            </a:pPr>
            <a:r>
              <a:rPr lang="en-US" sz="900" b="1" dirty="0">
                <a:solidFill>
                  <a:srgbClr val="1A6B30"/>
                </a:solidFill>
                <a:latin typeface="Calibri" pitchFamily="34" charset="0"/>
                <a:ea typeface="Calibri" pitchFamily="34" charset="-122"/>
                <a:cs typeface="Calibri" pitchFamily="34" charset="-120"/>
              </a:rPr>
              <a:t>✓</a:t>
            </a:r>
            <a:endParaRPr lang="en-US" sz="900" dirty="0"/>
          </a:p>
        </p:txBody>
      </p:sp>
      <p:sp>
        <p:nvSpPr>
          <p:cNvPr id="57" name="Text 55"/>
          <p:cNvSpPr/>
          <p:nvPr/>
        </p:nvSpPr>
        <p:spPr>
          <a:xfrm>
            <a:off x="512064" y="4517136"/>
            <a:ext cx="1188720" cy="237744"/>
          </a:xfrm>
          <a:prstGeom prst="rect">
            <a:avLst/>
          </a:prstGeom>
          <a:noFill/>
          <a:ln/>
        </p:spPr>
        <p:txBody>
          <a:bodyPr wrap="square" lIns="38100" tIns="38100" rIns="38100" bIns="38100" rtlCol="0" anchor="ctr"/>
          <a:lstStyle/>
          <a:p>
            <a:pPr algn="l" indent="0" marL="0">
              <a:buNone/>
            </a:pPr>
            <a:r>
              <a:rPr lang="en-US" sz="800" b="1" dirty="0">
                <a:solidFill>
                  <a:srgbClr val="1A6B30"/>
                </a:solidFill>
                <a:latin typeface="Calibri" pitchFamily="34" charset="0"/>
                <a:ea typeface="Calibri" pitchFamily="34" charset="-122"/>
                <a:cs typeface="Calibri" pitchFamily="34" charset="-120"/>
              </a:rPr>
              <a:t>neutral</a:t>
            </a:r>
            <a:endParaRPr lang="en-US" sz="800" dirty="0"/>
          </a:p>
        </p:txBody>
      </p:sp>
      <p:sp>
        <p:nvSpPr>
          <p:cNvPr id="58" name="Text 56"/>
          <p:cNvSpPr/>
          <p:nvPr/>
        </p:nvSpPr>
        <p:spPr>
          <a:xfrm>
            <a:off x="1737360" y="4517136"/>
            <a:ext cx="731520" cy="237744"/>
          </a:xfrm>
          <a:prstGeom prst="rect">
            <a:avLst/>
          </a:prstGeom>
          <a:noFill/>
          <a:ln/>
        </p:spPr>
        <p:txBody>
          <a:bodyPr wrap="square" lIns="38100" tIns="38100" rIns="38100" bIns="38100" rtlCol="0" anchor="ctr"/>
          <a:lstStyle/>
          <a:p>
            <a:pPr algn="ctr" indent="0" marL="0">
              <a:buNone/>
            </a:pPr>
            <a:r>
              <a:rPr lang="en-US" sz="1000" b="1" dirty="0">
                <a:solidFill>
                  <a:srgbClr val="1A6B30"/>
                </a:solidFill>
                <a:latin typeface="Calibri" pitchFamily="34" charset="0"/>
                <a:ea typeface="Calibri" pitchFamily="34" charset="-122"/>
                <a:cs typeface="Calibri" pitchFamily="34" charset="-120"/>
              </a:rPr>
              <a:t>61.5%</a:t>
            </a:r>
            <a:endParaRPr lang="en-US" sz="1000" dirty="0"/>
          </a:p>
        </p:txBody>
      </p:sp>
      <p:sp>
        <p:nvSpPr>
          <p:cNvPr id="59" name="Shape 57"/>
          <p:cNvSpPr/>
          <p:nvPr/>
        </p:nvSpPr>
        <p:spPr>
          <a:xfrm>
            <a:off x="2560320" y="4553712"/>
            <a:ext cx="2811780" cy="164592"/>
          </a:xfrm>
          <a:prstGeom prst="rect">
            <a:avLst/>
          </a:prstGeom>
          <a:solidFill>
            <a:srgbClr val="1A6B30"/>
          </a:solidFill>
          <a:ln w="12700">
            <a:solidFill>
              <a:srgbClr val="1A6B30"/>
            </a:solidFill>
            <a:prstDash val="solid"/>
          </a:ln>
        </p:spPr>
      </p:sp>
      <p:sp>
        <p:nvSpPr>
          <p:cNvPr id="60" name="Shape 58"/>
          <p:cNvSpPr/>
          <p:nvPr/>
        </p:nvSpPr>
        <p:spPr>
          <a:xfrm>
            <a:off x="2560320" y="4553712"/>
            <a:ext cx="4572000" cy="164592"/>
          </a:xfrm>
          <a:prstGeom prst="rect">
            <a:avLst/>
          </a:prstGeom>
          <a:solidFill>
            <a:srgbClr val="FFFFFF">
              <a:alpha val="0"/>
            </a:srgbClr>
          </a:solidFill>
          <a:ln w="3810">
            <a:solidFill>
              <a:srgbClr val="AAAAAA"/>
            </a:solidFill>
            <a:prstDash val="solid"/>
          </a:ln>
        </p:spPr>
      </p:sp>
      <p:sp>
        <p:nvSpPr>
          <p:cNvPr id="61" name="Text 59"/>
          <p:cNvSpPr/>
          <p:nvPr/>
        </p:nvSpPr>
        <p:spPr>
          <a:xfrm>
            <a:off x="7260336" y="4517136"/>
            <a:ext cx="4681728" cy="237744"/>
          </a:xfrm>
          <a:prstGeom prst="rect">
            <a:avLst/>
          </a:prstGeom>
          <a:noFill/>
          <a:ln/>
        </p:spPr>
        <p:txBody>
          <a:bodyPr wrap="square" lIns="38100" tIns="38100" rIns="38100" bIns="38100" rtlCol="0" anchor="ctr"/>
          <a:lstStyle/>
          <a:p>
            <a:pPr algn="l" indent="0" marL="0">
              <a:buNone/>
            </a:pPr>
            <a:r>
              <a:rPr lang="en-US" sz="700" dirty="0">
                <a:solidFill>
                  <a:srgbClr val="444444"/>
                </a:solidFill>
                <a:latin typeface="Calibri" pitchFamily="34" charset="0"/>
                <a:ea typeface="Calibri" pitchFamily="34" charset="-122"/>
                <a:cs typeface="Calibri" pitchFamily="34" charset="-120"/>
              </a:rPr>
              <a:t>low arousal  — some overlap with calm</a:t>
            </a:r>
            <a:endParaRPr lang="en-US" sz="700" dirty="0"/>
          </a:p>
        </p:txBody>
      </p:sp>
      <p:sp>
        <p:nvSpPr>
          <p:cNvPr id="62" name="Shape 60"/>
          <p:cNvSpPr/>
          <p:nvPr/>
        </p:nvSpPr>
        <p:spPr>
          <a:xfrm>
            <a:off x="182880" y="4773168"/>
            <a:ext cx="11795760" cy="237744"/>
          </a:xfrm>
          <a:prstGeom prst="rect">
            <a:avLst/>
          </a:prstGeom>
          <a:solidFill>
            <a:srgbClr val="FFFFFF"/>
          </a:solidFill>
          <a:ln w="3810">
            <a:solidFill>
              <a:srgbClr val="1A6B30"/>
            </a:solidFill>
            <a:prstDash val="solid"/>
          </a:ln>
        </p:spPr>
      </p:sp>
      <p:sp>
        <p:nvSpPr>
          <p:cNvPr id="63" name="Text 61"/>
          <p:cNvSpPr/>
          <p:nvPr/>
        </p:nvSpPr>
        <p:spPr>
          <a:xfrm>
            <a:off x="274320" y="4773168"/>
            <a:ext cx="201168" cy="237744"/>
          </a:xfrm>
          <a:prstGeom prst="rect">
            <a:avLst/>
          </a:prstGeom>
          <a:noFill/>
          <a:ln/>
        </p:spPr>
        <p:txBody>
          <a:bodyPr wrap="square" lIns="38100" tIns="38100" rIns="38100" bIns="38100" rtlCol="0" anchor="ctr"/>
          <a:lstStyle/>
          <a:p>
            <a:pPr algn="ctr" indent="0" marL="0">
              <a:buNone/>
            </a:pPr>
            <a:r>
              <a:rPr lang="en-US" sz="900" b="1" dirty="0">
                <a:solidFill>
                  <a:srgbClr val="1A6B30"/>
                </a:solidFill>
                <a:latin typeface="Calibri" pitchFamily="34" charset="0"/>
                <a:ea typeface="Calibri" pitchFamily="34" charset="-122"/>
                <a:cs typeface="Calibri" pitchFamily="34" charset="-120"/>
              </a:rPr>
              <a:t>✓</a:t>
            </a:r>
            <a:endParaRPr lang="en-US" sz="900" dirty="0"/>
          </a:p>
        </p:txBody>
      </p:sp>
      <p:sp>
        <p:nvSpPr>
          <p:cNvPr id="64" name="Text 62"/>
          <p:cNvSpPr/>
          <p:nvPr/>
        </p:nvSpPr>
        <p:spPr>
          <a:xfrm>
            <a:off x="512064" y="4773168"/>
            <a:ext cx="1188720" cy="237744"/>
          </a:xfrm>
          <a:prstGeom prst="rect">
            <a:avLst/>
          </a:prstGeom>
          <a:noFill/>
          <a:ln/>
        </p:spPr>
        <p:txBody>
          <a:bodyPr wrap="square" lIns="38100" tIns="38100" rIns="38100" bIns="38100" rtlCol="0" anchor="ctr"/>
          <a:lstStyle/>
          <a:p>
            <a:pPr algn="l" indent="0" marL="0">
              <a:buNone/>
            </a:pPr>
            <a:r>
              <a:rPr lang="en-US" sz="800" b="1" dirty="0">
                <a:solidFill>
                  <a:srgbClr val="1A6B30"/>
                </a:solidFill>
                <a:latin typeface="Calibri" pitchFamily="34" charset="0"/>
                <a:ea typeface="Calibri" pitchFamily="34" charset="-122"/>
                <a:cs typeface="Calibri" pitchFamily="34" charset="-120"/>
              </a:rPr>
              <a:t>calm</a:t>
            </a:r>
            <a:endParaRPr lang="en-US" sz="800" dirty="0"/>
          </a:p>
        </p:txBody>
      </p:sp>
      <p:sp>
        <p:nvSpPr>
          <p:cNvPr id="65" name="Text 63"/>
          <p:cNvSpPr/>
          <p:nvPr/>
        </p:nvSpPr>
        <p:spPr>
          <a:xfrm>
            <a:off x="1737360" y="4773168"/>
            <a:ext cx="731520" cy="237744"/>
          </a:xfrm>
          <a:prstGeom prst="rect">
            <a:avLst/>
          </a:prstGeom>
          <a:noFill/>
          <a:ln/>
        </p:spPr>
        <p:txBody>
          <a:bodyPr wrap="square" lIns="38100" tIns="38100" rIns="38100" bIns="38100" rtlCol="0" anchor="ctr"/>
          <a:lstStyle/>
          <a:p>
            <a:pPr algn="ctr" indent="0" marL="0">
              <a:buNone/>
            </a:pPr>
            <a:r>
              <a:rPr lang="en-US" sz="1000" b="1" dirty="0">
                <a:solidFill>
                  <a:srgbClr val="1A6B30"/>
                </a:solidFill>
                <a:latin typeface="Calibri" pitchFamily="34" charset="0"/>
                <a:ea typeface="Calibri" pitchFamily="34" charset="-122"/>
                <a:cs typeface="Calibri" pitchFamily="34" charset="-120"/>
              </a:rPr>
              <a:t>74.0%</a:t>
            </a:r>
            <a:endParaRPr lang="en-US" sz="1000" dirty="0"/>
          </a:p>
        </p:txBody>
      </p:sp>
      <p:sp>
        <p:nvSpPr>
          <p:cNvPr id="66" name="Shape 64"/>
          <p:cNvSpPr/>
          <p:nvPr/>
        </p:nvSpPr>
        <p:spPr>
          <a:xfrm>
            <a:off x="2560320" y="4809744"/>
            <a:ext cx="3383280" cy="164592"/>
          </a:xfrm>
          <a:prstGeom prst="rect">
            <a:avLst/>
          </a:prstGeom>
          <a:solidFill>
            <a:srgbClr val="1A6B30"/>
          </a:solidFill>
          <a:ln w="12700">
            <a:solidFill>
              <a:srgbClr val="1A6B30"/>
            </a:solidFill>
            <a:prstDash val="solid"/>
          </a:ln>
        </p:spPr>
      </p:sp>
      <p:sp>
        <p:nvSpPr>
          <p:cNvPr id="67" name="Shape 65"/>
          <p:cNvSpPr/>
          <p:nvPr/>
        </p:nvSpPr>
        <p:spPr>
          <a:xfrm>
            <a:off x="2560320" y="4809744"/>
            <a:ext cx="4572000" cy="164592"/>
          </a:xfrm>
          <a:prstGeom prst="rect">
            <a:avLst/>
          </a:prstGeom>
          <a:solidFill>
            <a:srgbClr val="FFFFFF">
              <a:alpha val="0"/>
            </a:srgbClr>
          </a:solidFill>
          <a:ln w="3810">
            <a:solidFill>
              <a:srgbClr val="AAAAAA"/>
            </a:solidFill>
            <a:prstDash val="solid"/>
          </a:ln>
        </p:spPr>
      </p:sp>
      <p:sp>
        <p:nvSpPr>
          <p:cNvPr id="68" name="Text 66"/>
          <p:cNvSpPr/>
          <p:nvPr/>
        </p:nvSpPr>
        <p:spPr>
          <a:xfrm>
            <a:off x="7260336" y="4773168"/>
            <a:ext cx="4681728" cy="237744"/>
          </a:xfrm>
          <a:prstGeom prst="rect">
            <a:avLst/>
          </a:prstGeom>
          <a:noFill/>
          <a:ln/>
        </p:spPr>
        <p:txBody>
          <a:bodyPr wrap="square" lIns="38100" tIns="38100" rIns="38100" bIns="38100" rtlCol="0" anchor="ctr"/>
          <a:lstStyle/>
          <a:p>
            <a:pPr algn="l" indent="0" marL="0">
              <a:buNone/>
            </a:pPr>
            <a:r>
              <a:rPr lang="en-US" sz="700" dirty="0">
                <a:solidFill>
                  <a:srgbClr val="444444"/>
                </a:solidFill>
                <a:latin typeface="Calibri" pitchFamily="34" charset="0"/>
                <a:ea typeface="Calibri" pitchFamily="34" charset="-122"/>
                <a:cs typeface="Calibri" pitchFamily="34" charset="-120"/>
              </a:rPr>
              <a:t>low arousal  — well separated from high-arousal</a:t>
            </a:r>
            <a:endParaRPr lang="en-US" sz="700" dirty="0"/>
          </a:p>
        </p:txBody>
      </p:sp>
      <p:sp>
        <p:nvSpPr>
          <p:cNvPr id="69" name="Shape 67"/>
          <p:cNvSpPr/>
          <p:nvPr/>
        </p:nvSpPr>
        <p:spPr>
          <a:xfrm>
            <a:off x="182880" y="5029200"/>
            <a:ext cx="11795760" cy="237744"/>
          </a:xfrm>
          <a:prstGeom prst="rect">
            <a:avLst/>
          </a:prstGeom>
          <a:solidFill>
            <a:srgbClr val="FAE0E0"/>
          </a:solidFill>
          <a:ln w="3810">
            <a:solidFill>
              <a:srgbClr val="9B2020"/>
            </a:solidFill>
            <a:prstDash val="solid"/>
          </a:ln>
        </p:spPr>
      </p:sp>
      <p:sp>
        <p:nvSpPr>
          <p:cNvPr id="70" name="Text 68"/>
          <p:cNvSpPr/>
          <p:nvPr/>
        </p:nvSpPr>
        <p:spPr>
          <a:xfrm>
            <a:off x="274320" y="5029200"/>
            <a:ext cx="201168" cy="237744"/>
          </a:xfrm>
          <a:prstGeom prst="rect">
            <a:avLst/>
          </a:prstGeom>
          <a:noFill/>
          <a:ln/>
        </p:spPr>
        <p:txBody>
          <a:bodyPr wrap="square" lIns="38100" tIns="38100" rIns="38100" bIns="38100" rtlCol="0" anchor="ctr"/>
          <a:lstStyle/>
          <a:p>
            <a:pPr algn="ctr" indent="0" marL="0">
              <a:buNone/>
            </a:pPr>
            <a:r>
              <a:rPr lang="en-US" sz="900" b="1" dirty="0">
                <a:solidFill>
                  <a:srgbClr val="9B2020"/>
                </a:solidFill>
                <a:latin typeface="Calibri" pitchFamily="34" charset="0"/>
                <a:ea typeface="Calibri" pitchFamily="34" charset="-122"/>
                <a:cs typeface="Calibri" pitchFamily="34" charset="-120"/>
              </a:rPr>
              <a:t>✗</a:t>
            </a:r>
            <a:endParaRPr lang="en-US" sz="900" dirty="0"/>
          </a:p>
        </p:txBody>
      </p:sp>
      <p:sp>
        <p:nvSpPr>
          <p:cNvPr id="71" name="Text 69"/>
          <p:cNvSpPr/>
          <p:nvPr/>
        </p:nvSpPr>
        <p:spPr>
          <a:xfrm>
            <a:off x="512064" y="5029200"/>
            <a:ext cx="1188720" cy="237744"/>
          </a:xfrm>
          <a:prstGeom prst="rect">
            <a:avLst/>
          </a:prstGeom>
          <a:noFill/>
          <a:ln/>
        </p:spPr>
        <p:txBody>
          <a:bodyPr wrap="square" lIns="38100" tIns="38100" rIns="38100" bIns="38100" rtlCol="0" anchor="ctr"/>
          <a:lstStyle/>
          <a:p>
            <a:pPr algn="l" indent="0" marL="0">
              <a:buNone/>
            </a:pPr>
            <a:r>
              <a:rPr lang="en-US" sz="800" b="1" dirty="0">
                <a:solidFill>
                  <a:srgbClr val="9B2020"/>
                </a:solidFill>
                <a:latin typeface="Calibri" pitchFamily="34" charset="0"/>
                <a:ea typeface="Calibri" pitchFamily="34" charset="-122"/>
                <a:cs typeface="Calibri" pitchFamily="34" charset="-120"/>
              </a:rPr>
              <a:t>happy</a:t>
            </a:r>
            <a:endParaRPr lang="en-US" sz="800" dirty="0"/>
          </a:p>
        </p:txBody>
      </p:sp>
      <p:sp>
        <p:nvSpPr>
          <p:cNvPr id="72" name="Text 70"/>
          <p:cNvSpPr/>
          <p:nvPr/>
        </p:nvSpPr>
        <p:spPr>
          <a:xfrm>
            <a:off x="1737360" y="5029200"/>
            <a:ext cx="731520" cy="237744"/>
          </a:xfrm>
          <a:prstGeom prst="rect">
            <a:avLst/>
          </a:prstGeom>
          <a:noFill/>
          <a:ln/>
        </p:spPr>
        <p:txBody>
          <a:bodyPr wrap="square" lIns="38100" tIns="38100" rIns="38100" bIns="38100" rtlCol="0" anchor="ctr"/>
          <a:lstStyle/>
          <a:p>
            <a:pPr algn="ctr" indent="0" marL="0">
              <a:buNone/>
            </a:pPr>
            <a:r>
              <a:rPr lang="en-US" sz="1000" b="1" dirty="0">
                <a:solidFill>
                  <a:srgbClr val="9B2020"/>
                </a:solidFill>
                <a:latin typeface="Calibri" pitchFamily="34" charset="0"/>
                <a:ea typeface="Calibri" pitchFamily="34" charset="-122"/>
                <a:cs typeface="Calibri" pitchFamily="34" charset="-120"/>
              </a:rPr>
              <a:t>34.4%</a:t>
            </a:r>
            <a:endParaRPr lang="en-US" sz="1000" dirty="0"/>
          </a:p>
        </p:txBody>
      </p:sp>
      <p:sp>
        <p:nvSpPr>
          <p:cNvPr id="73" name="Shape 71"/>
          <p:cNvSpPr/>
          <p:nvPr/>
        </p:nvSpPr>
        <p:spPr>
          <a:xfrm>
            <a:off x="2560320" y="5065776"/>
            <a:ext cx="1572768" cy="164592"/>
          </a:xfrm>
          <a:prstGeom prst="rect">
            <a:avLst/>
          </a:prstGeom>
          <a:solidFill>
            <a:srgbClr val="9B2020"/>
          </a:solidFill>
          <a:ln w="12700">
            <a:solidFill>
              <a:srgbClr val="9B2020"/>
            </a:solidFill>
            <a:prstDash val="solid"/>
          </a:ln>
        </p:spPr>
      </p:sp>
      <p:sp>
        <p:nvSpPr>
          <p:cNvPr id="74" name="Shape 72"/>
          <p:cNvSpPr/>
          <p:nvPr/>
        </p:nvSpPr>
        <p:spPr>
          <a:xfrm>
            <a:off x="2560320" y="5065776"/>
            <a:ext cx="4572000" cy="164592"/>
          </a:xfrm>
          <a:prstGeom prst="rect">
            <a:avLst/>
          </a:prstGeom>
          <a:solidFill>
            <a:srgbClr val="FFFFFF">
              <a:alpha val="0"/>
            </a:srgbClr>
          </a:solidFill>
          <a:ln w="3810">
            <a:solidFill>
              <a:srgbClr val="AAAAAA"/>
            </a:solidFill>
            <a:prstDash val="solid"/>
          </a:ln>
        </p:spPr>
      </p:sp>
      <p:sp>
        <p:nvSpPr>
          <p:cNvPr id="75" name="Text 73"/>
          <p:cNvSpPr/>
          <p:nvPr/>
        </p:nvSpPr>
        <p:spPr>
          <a:xfrm>
            <a:off x="7260336" y="5029200"/>
            <a:ext cx="4681728" cy="237744"/>
          </a:xfrm>
          <a:prstGeom prst="rect">
            <a:avLst/>
          </a:prstGeom>
          <a:noFill/>
          <a:ln/>
        </p:spPr>
        <p:txBody>
          <a:bodyPr wrap="square" lIns="38100" tIns="38100" rIns="38100" bIns="38100" rtlCol="0" anchor="ctr"/>
          <a:lstStyle/>
          <a:p>
            <a:pPr algn="l" indent="0" marL="0">
              <a:buNone/>
            </a:pPr>
            <a:r>
              <a:rPr lang="en-US" sz="700" dirty="0">
                <a:solidFill>
                  <a:srgbClr val="444444"/>
                </a:solidFill>
                <a:latin typeface="Calibri" pitchFamily="34" charset="0"/>
                <a:ea typeface="Calibri" pitchFamily="34" charset="-122"/>
                <a:cs typeface="Calibri" pitchFamily="34" charset="-120"/>
              </a:rPr>
              <a:t>MID arousal  — overlaps with surprised (both positive valence)</a:t>
            </a:r>
            <a:endParaRPr lang="en-US" sz="700" dirty="0"/>
          </a:p>
        </p:txBody>
      </p:sp>
      <p:sp>
        <p:nvSpPr>
          <p:cNvPr id="76" name="Shape 74"/>
          <p:cNvSpPr/>
          <p:nvPr/>
        </p:nvSpPr>
        <p:spPr>
          <a:xfrm>
            <a:off x="182880" y="5285232"/>
            <a:ext cx="11795760" cy="237744"/>
          </a:xfrm>
          <a:prstGeom prst="rect">
            <a:avLst/>
          </a:prstGeom>
          <a:solidFill>
            <a:srgbClr val="FFFFFF"/>
          </a:solidFill>
          <a:ln w="3810">
            <a:solidFill>
              <a:srgbClr val="9B2020"/>
            </a:solidFill>
            <a:prstDash val="solid"/>
          </a:ln>
        </p:spPr>
      </p:sp>
      <p:sp>
        <p:nvSpPr>
          <p:cNvPr id="77" name="Text 75"/>
          <p:cNvSpPr/>
          <p:nvPr/>
        </p:nvSpPr>
        <p:spPr>
          <a:xfrm>
            <a:off x="274320" y="5285232"/>
            <a:ext cx="201168" cy="237744"/>
          </a:xfrm>
          <a:prstGeom prst="rect">
            <a:avLst/>
          </a:prstGeom>
          <a:noFill/>
          <a:ln/>
        </p:spPr>
        <p:txBody>
          <a:bodyPr wrap="square" lIns="38100" tIns="38100" rIns="38100" bIns="38100" rtlCol="0" anchor="ctr"/>
          <a:lstStyle/>
          <a:p>
            <a:pPr algn="ctr" indent="0" marL="0">
              <a:buNone/>
            </a:pPr>
            <a:r>
              <a:rPr lang="en-US" sz="900" b="1" dirty="0">
                <a:solidFill>
                  <a:srgbClr val="9B2020"/>
                </a:solidFill>
                <a:latin typeface="Calibri" pitchFamily="34" charset="0"/>
                <a:ea typeface="Calibri" pitchFamily="34" charset="-122"/>
                <a:cs typeface="Calibri" pitchFamily="34" charset="-120"/>
              </a:rPr>
              <a:t>✗</a:t>
            </a:r>
            <a:endParaRPr lang="en-US" sz="900" dirty="0"/>
          </a:p>
        </p:txBody>
      </p:sp>
      <p:sp>
        <p:nvSpPr>
          <p:cNvPr id="78" name="Text 76"/>
          <p:cNvSpPr/>
          <p:nvPr/>
        </p:nvSpPr>
        <p:spPr>
          <a:xfrm>
            <a:off x="512064" y="5285232"/>
            <a:ext cx="1188720" cy="237744"/>
          </a:xfrm>
          <a:prstGeom prst="rect">
            <a:avLst/>
          </a:prstGeom>
          <a:noFill/>
          <a:ln/>
        </p:spPr>
        <p:txBody>
          <a:bodyPr wrap="square" lIns="38100" tIns="38100" rIns="38100" bIns="38100" rtlCol="0" anchor="ctr"/>
          <a:lstStyle/>
          <a:p>
            <a:pPr algn="l" indent="0" marL="0">
              <a:buNone/>
            </a:pPr>
            <a:r>
              <a:rPr lang="en-US" sz="800" b="1" dirty="0">
                <a:solidFill>
                  <a:srgbClr val="9B2020"/>
                </a:solidFill>
                <a:latin typeface="Calibri" pitchFamily="34" charset="0"/>
                <a:ea typeface="Calibri" pitchFamily="34" charset="-122"/>
                <a:cs typeface="Calibri" pitchFamily="34" charset="-120"/>
              </a:rPr>
              <a:t>sad</a:t>
            </a:r>
            <a:endParaRPr lang="en-US" sz="800" dirty="0"/>
          </a:p>
        </p:txBody>
      </p:sp>
      <p:sp>
        <p:nvSpPr>
          <p:cNvPr id="79" name="Text 77"/>
          <p:cNvSpPr/>
          <p:nvPr/>
        </p:nvSpPr>
        <p:spPr>
          <a:xfrm>
            <a:off x="1737360" y="5285232"/>
            <a:ext cx="731520" cy="237744"/>
          </a:xfrm>
          <a:prstGeom prst="rect">
            <a:avLst/>
          </a:prstGeom>
          <a:noFill/>
          <a:ln/>
        </p:spPr>
        <p:txBody>
          <a:bodyPr wrap="square" lIns="38100" tIns="38100" rIns="38100" bIns="38100" rtlCol="0" anchor="ctr"/>
          <a:lstStyle/>
          <a:p>
            <a:pPr algn="ctr" indent="0" marL="0">
              <a:buNone/>
            </a:pPr>
            <a:r>
              <a:rPr lang="en-US" sz="1000" b="1" dirty="0">
                <a:solidFill>
                  <a:srgbClr val="9B2020"/>
                </a:solidFill>
                <a:latin typeface="Calibri" pitchFamily="34" charset="0"/>
                <a:ea typeface="Calibri" pitchFamily="34" charset="-122"/>
                <a:cs typeface="Calibri" pitchFamily="34" charset="-120"/>
              </a:rPr>
              <a:t>38.0%</a:t>
            </a:r>
            <a:endParaRPr lang="en-US" sz="1000" dirty="0"/>
          </a:p>
        </p:txBody>
      </p:sp>
      <p:sp>
        <p:nvSpPr>
          <p:cNvPr id="80" name="Shape 78"/>
          <p:cNvSpPr/>
          <p:nvPr/>
        </p:nvSpPr>
        <p:spPr>
          <a:xfrm>
            <a:off x="2560320" y="5321808"/>
            <a:ext cx="1737360" cy="164592"/>
          </a:xfrm>
          <a:prstGeom prst="rect">
            <a:avLst/>
          </a:prstGeom>
          <a:solidFill>
            <a:srgbClr val="9B2020"/>
          </a:solidFill>
          <a:ln w="12700">
            <a:solidFill>
              <a:srgbClr val="9B2020"/>
            </a:solidFill>
            <a:prstDash val="solid"/>
          </a:ln>
        </p:spPr>
      </p:sp>
      <p:sp>
        <p:nvSpPr>
          <p:cNvPr id="81" name="Shape 79"/>
          <p:cNvSpPr/>
          <p:nvPr/>
        </p:nvSpPr>
        <p:spPr>
          <a:xfrm>
            <a:off x="2560320" y="5321808"/>
            <a:ext cx="4572000" cy="164592"/>
          </a:xfrm>
          <a:prstGeom prst="rect">
            <a:avLst/>
          </a:prstGeom>
          <a:solidFill>
            <a:srgbClr val="FFFFFF">
              <a:alpha val="0"/>
            </a:srgbClr>
          </a:solidFill>
          <a:ln w="3810">
            <a:solidFill>
              <a:srgbClr val="AAAAAA"/>
            </a:solidFill>
            <a:prstDash val="solid"/>
          </a:ln>
        </p:spPr>
      </p:sp>
      <p:sp>
        <p:nvSpPr>
          <p:cNvPr id="82" name="Text 80"/>
          <p:cNvSpPr/>
          <p:nvPr/>
        </p:nvSpPr>
        <p:spPr>
          <a:xfrm>
            <a:off x="7260336" y="5285232"/>
            <a:ext cx="4681728" cy="237744"/>
          </a:xfrm>
          <a:prstGeom prst="rect">
            <a:avLst/>
          </a:prstGeom>
          <a:noFill/>
          <a:ln/>
        </p:spPr>
        <p:txBody>
          <a:bodyPr wrap="square" lIns="38100" tIns="38100" rIns="38100" bIns="38100" rtlCol="0" anchor="ctr"/>
          <a:lstStyle/>
          <a:p>
            <a:pPr algn="l" indent="0" marL="0">
              <a:buNone/>
            </a:pPr>
            <a:r>
              <a:rPr lang="en-US" sz="700" dirty="0">
                <a:solidFill>
                  <a:srgbClr val="444444"/>
                </a:solidFill>
                <a:latin typeface="Calibri" pitchFamily="34" charset="0"/>
                <a:ea typeface="Calibri" pitchFamily="34" charset="-122"/>
                <a:cs typeface="Calibri" pitchFamily="34" charset="-120"/>
              </a:rPr>
              <a:t>low arousal  — overlaps with neutral (both negative, low energy)</a:t>
            </a:r>
            <a:endParaRPr lang="en-US" sz="700" dirty="0"/>
          </a:p>
        </p:txBody>
      </p:sp>
      <p:sp>
        <p:nvSpPr>
          <p:cNvPr id="83" name="Shape 81"/>
          <p:cNvSpPr/>
          <p:nvPr/>
        </p:nvSpPr>
        <p:spPr>
          <a:xfrm>
            <a:off x="182880" y="5541264"/>
            <a:ext cx="11795760" cy="237744"/>
          </a:xfrm>
          <a:prstGeom prst="rect">
            <a:avLst/>
          </a:prstGeom>
          <a:solidFill>
            <a:srgbClr val="D8F2DF"/>
          </a:solidFill>
          <a:ln w="3810">
            <a:solidFill>
              <a:srgbClr val="1A6B30"/>
            </a:solidFill>
            <a:prstDash val="solid"/>
          </a:ln>
        </p:spPr>
      </p:sp>
      <p:sp>
        <p:nvSpPr>
          <p:cNvPr id="84" name="Text 82"/>
          <p:cNvSpPr/>
          <p:nvPr/>
        </p:nvSpPr>
        <p:spPr>
          <a:xfrm>
            <a:off x="274320" y="5541264"/>
            <a:ext cx="201168" cy="237744"/>
          </a:xfrm>
          <a:prstGeom prst="rect">
            <a:avLst/>
          </a:prstGeom>
          <a:noFill/>
          <a:ln/>
        </p:spPr>
        <p:txBody>
          <a:bodyPr wrap="square" lIns="38100" tIns="38100" rIns="38100" bIns="38100" rtlCol="0" anchor="ctr"/>
          <a:lstStyle/>
          <a:p>
            <a:pPr algn="ctr" indent="0" marL="0">
              <a:buNone/>
            </a:pPr>
            <a:r>
              <a:rPr lang="en-US" sz="900" b="1" dirty="0">
                <a:solidFill>
                  <a:srgbClr val="1A6B30"/>
                </a:solidFill>
                <a:latin typeface="Calibri" pitchFamily="34" charset="0"/>
                <a:ea typeface="Calibri" pitchFamily="34" charset="-122"/>
                <a:cs typeface="Calibri" pitchFamily="34" charset="-120"/>
              </a:rPr>
              <a:t>✓</a:t>
            </a:r>
            <a:endParaRPr lang="en-US" sz="900" dirty="0"/>
          </a:p>
        </p:txBody>
      </p:sp>
      <p:sp>
        <p:nvSpPr>
          <p:cNvPr id="85" name="Text 83"/>
          <p:cNvSpPr/>
          <p:nvPr/>
        </p:nvSpPr>
        <p:spPr>
          <a:xfrm>
            <a:off x="512064" y="5541264"/>
            <a:ext cx="1188720" cy="237744"/>
          </a:xfrm>
          <a:prstGeom prst="rect">
            <a:avLst/>
          </a:prstGeom>
          <a:noFill/>
          <a:ln/>
        </p:spPr>
        <p:txBody>
          <a:bodyPr wrap="square" lIns="38100" tIns="38100" rIns="38100" bIns="38100" rtlCol="0" anchor="ctr"/>
          <a:lstStyle/>
          <a:p>
            <a:pPr algn="l" indent="0" marL="0">
              <a:buNone/>
            </a:pPr>
            <a:r>
              <a:rPr lang="en-US" sz="800" b="1" dirty="0">
                <a:solidFill>
                  <a:srgbClr val="1A6B30"/>
                </a:solidFill>
                <a:latin typeface="Calibri" pitchFamily="34" charset="0"/>
                <a:ea typeface="Calibri" pitchFamily="34" charset="-122"/>
                <a:cs typeface="Calibri" pitchFamily="34" charset="-120"/>
              </a:rPr>
              <a:t>angry</a:t>
            </a:r>
            <a:endParaRPr lang="en-US" sz="800" dirty="0"/>
          </a:p>
        </p:txBody>
      </p:sp>
      <p:sp>
        <p:nvSpPr>
          <p:cNvPr id="86" name="Text 84"/>
          <p:cNvSpPr/>
          <p:nvPr/>
        </p:nvSpPr>
        <p:spPr>
          <a:xfrm>
            <a:off x="1737360" y="5541264"/>
            <a:ext cx="731520" cy="237744"/>
          </a:xfrm>
          <a:prstGeom prst="rect">
            <a:avLst/>
          </a:prstGeom>
          <a:noFill/>
          <a:ln/>
        </p:spPr>
        <p:txBody>
          <a:bodyPr wrap="square" lIns="38100" tIns="38100" rIns="38100" bIns="38100" rtlCol="0" anchor="ctr"/>
          <a:lstStyle/>
          <a:p>
            <a:pPr algn="ctr" indent="0" marL="0">
              <a:buNone/>
            </a:pPr>
            <a:r>
              <a:rPr lang="en-US" sz="1000" b="1" dirty="0">
                <a:solidFill>
                  <a:srgbClr val="1A6B30"/>
                </a:solidFill>
                <a:latin typeface="Calibri" pitchFamily="34" charset="0"/>
                <a:ea typeface="Calibri" pitchFamily="34" charset="-122"/>
                <a:cs typeface="Calibri" pitchFamily="34" charset="-120"/>
              </a:rPr>
              <a:t>66.7%</a:t>
            </a:r>
            <a:endParaRPr lang="en-US" sz="1000" dirty="0"/>
          </a:p>
        </p:txBody>
      </p:sp>
      <p:sp>
        <p:nvSpPr>
          <p:cNvPr id="87" name="Shape 85"/>
          <p:cNvSpPr/>
          <p:nvPr/>
        </p:nvSpPr>
        <p:spPr>
          <a:xfrm>
            <a:off x="2560320" y="5577840"/>
            <a:ext cx="3049524" cy="164592"/>
          </a:xfrm>
          <a:prstGeom prst="rect">
            <a:avLst/>
          </a:prstGeom>
          <a:solidFill>
            <a:srgbClr val="1A6B30"/>
          </a:solidFill>
          <a:ln w="12700">
            <a:solidFill>
              <a:srgbClr val="1A6B30"/>
            </a:solidFill>
            <a:prstDash val="solid"/>
          </a:ln>
        </p:spPr>
      </p:sp>
      <p:sp>
        <p:nvSpPr>
          <p:cNvPr id="88" name="Shape 86"/>
          <p:cNvSpPr/>
          <p:nvPr/>
        </p:nvSpPr>
        <p:spPr>
          <a:xfrm>
            <a:off x="2560320" y="5577840"/>
            <a:ext cx="4572000" cy="164592"/>
          </a:xfrm>
          <a:prstGeom prst="rect">
            <a:avLst/>
          </a:prstGeom>
          <a:solidFill>
            <a:srgbClr val="FFFFFF">
              <a:alpha val="0"/>
            </a:srgbClr>
          </a:solidFill>
          <a:ln w="3810">
            <a:solidFill>
              <a:srgbClr val="AAAAAA"/>
            </a:solidFill>
            <a:prstDash val="solid"/>
          </a:ln>
        </p:spPr>
      </p:sp>
      <p:sp>
        <p:nvSpPr>
          <p:cNvPr id="89" name="Text 87"/>
          <p:cNvSpPr/>
          <p:nvPr/>
        </p:nvSpPr>
        <p:spPr>
          <a:xfrm>
            <a:off x="7260336" y="5541264"/>
            <a:ext cx="4681728" cy="237744"/>
          </a:xfrm>
          <a:prstGeom prst="rect">
            <a:avLst/>
          </a:prstGeom>
          <a:noFill/>
          <a:ln/>
        </p:spPr>
        <p:txBody>
          <a:bodyPr wrap="square" lIns="38100" tIns="38100" rIns="38100" bIns="38100" rtlCol="0" anchor="ctr"/>
          <a:lstStyle/>
          <a:p>
            <a:pPr algn="l" indent="0" marL="0">
              <a:buNone/>
            </a:pPr>
            <a:r>
              <a:rPr lang="en-US" sz="700" dirty="0">
                <a:solidFill>
                  <a:srgbClr val="444444"/>
                </a:solidFill>
                <a:latin typeface="Calibri" pitchFamily="34" charset="0"/>
                <a:ea typeface="Calibri" pitchFamily="34" charset="-122"/>
                <a:cs typeface="Calibri" pitchFamily="34" charset="-120"/>
              </a:rPr>
              <a:t>HIGH arousal — strong signal, clear separation from calm/neutral</a:t>
            </a:r>
            <a:endParaRPr lang="en-US" sz="700" dirty="0"/>
          </a:p>
        </p:txBody>
      </p:sp>
      <p:sp>
        <p:nvSpPr>
          <p:cNvPr id="90" name="Shape 88"/>
          <p:cNvSpPr/>
          <p:nvPr/>
        </p:nvSpPr>
        <p:spPr>
          <a:xfrm>
            <a:off x="182880" y="5797296"/>
            <a:ext cx="11795760" cy="237744"/>
          </a:xfrm>
          <a:prstGeom prst="rect">
            <a:avLst/>
          </a:prstGeom>
          <a:solidFill>
            <a:srgbClr val="FFFFFF"/>
          </a:solidFill>
          <a:ln w="3810">
            <a:solidFill>
              <a:srgbClr val="1A6B30"/>
            </a:solidFill>
            <a:prstDash val="solid"/>
          </a:ln>
        </p:spPr>
      </p:sp>
      <p:sp>
        <p:nvSpPr>
          <p:cNvPr id="91" name="Text 89"/>
          <p:cNvSpPr/>
          <p:nvPr/>
        </p:nvSpPr>
        <p:spPr>
          <a:xfrm>
            <a:off x="274320" y="5797296"/>
            <a:ext cx="201168" cy="237744"/>
          </a:xfrm>
          <a:prstGeom prst="rect">
            <a:avLst/>
          </a:prstGeom>
          <a:noFill/>
          <a:ln/>
        </p:spPr>
        <p:txBody>
          <a:bodyPr wrap="square" lIns="38100" tIns="38100" rIns="38100" bIns="38100" rtlCol="0" anchor="ctr"/>
          <a:lstStyle/>
          <a:p>
            <a:pPr algn="ctr" indent="0" marL="0">
              <a:buNone/>
            </a:pPr>
            <a:r>
              <a:rPr lang="en-US" sz="900" b="1" dirty="0">
                <a:solidFill>
                  <a:srgbClr val="1A6B30"/>
                </a:solidFill>
                <a:latin typeface="Calibri" pitchFamily="34" charset="0"/>
                <a:ea typeface="Calibri" pitchFamily="34" charset="-122"/>
                <a:cs typeface="Calibri" pitchFamily="34" charset="-120"/>
              </a:rPr>
              <a:t>✓</a:t>
            </a:r>
            <a:endParaRPr lang="en-US" sz="900" dirty="0"/>
          </a:p>
        </p:txBody>
      </p:sp>
      <p:sp>
        <p:nvSpPr>
          <p:cNvPr id="92" name="Text 90"/>
          <p:cNvSpPr/>
          <p:nvPr/>
        </p:nvSpPr>
        <p:spPr>
          <a:xfrm>
            <a:off x="512064" y="5797296"/>
            <a:ext cx="1188720" cy="237744"/>
          </a:xfrm>
          <a:prstGeom prst="rect">
            <a:avLst/>
          </a:prstGeom>
          <a:noFill/>
          <a:ln/>
        </p:spPr>
        <p:txBody>
          <a:bodyPr wrap="square" lIns="38100" tIns="38100" rIns="38100" bIns="38100" rtlCol="0" anchor="ctr"/>
          <a:lstStyle/>
          <a:p>
            <a:pPr algn="l" indent="0" marL="0">
              <a:buNone/>
            </a:pPr>
            <a:r>
              <a:rPr lang="en-US" sz="800" b="1" dirty="0">
                <a:solidFill>
                  <a:srgbClr val="1A6B30"/>
                </a:solidFill>
                <a:latin typeface="Calibri" pitchFamily="34" charset="0"/>
                <a:ea typeface="Calibri" pitchFamily="34" charset="-122"/>
                <a:cs typeface="Calibri" pitchFamily="34" charset="-120"/>
              </a:rPr>
              <a:t>fearful</a:t>
            </a:r>
            <a:endParaRPr lang="en-US" sz="800" dirty="0"/>
          </a:p>
        </p:txBody>
      </p:sp>
      <p:sp>
        <p:nvSpPr>
          <p:cNvPr id="93" name="Text 91"/>
          <p:cNvSpPr/>
          <p:nvPr/>
        </p:nvSpPr>
        <p:spPr>
          <a:xfrm>
            <a:off x="1737360" y="5797296"/>
            <a:ext cx="731520" cy="237744"/>
          </a:xfrm>
          <a:prstGeom prst="rect">
            <a:avLst/>
          </a:prstGeom>
          <a:noFill/>
          <a:ln/>
        </p:spPr>
        <p:txBody>
          <a:bodyPr wrap="square" lIns="38100" tIns="38100" rIns="38100" bIns="38100" rtlCol="0" anchor="ctr"/>
          <a:lstStyle/>
          <a:p>
            <a:pPr algn="ctr" indent="0" marL="0">
              <a:buNone/>
            </a:pPr>
            <a:r>
              <a:rPr lang="en-US" sz="1000" b="1" dirty="0">
                <a:solidFill>
                  <a:srgbClr val="1A6B30"/>
                </a:solidFill>
                <a:latin typeface="Calibri" pitchFamily="34" charset="0"/>
                <a:ea typeface="Calibri" pitchFamily="34" charset="-122"/>
                <a:cs typeface="Calibri" pitchFamily="34" charset="-120"/>
              </a:rPr>
              <a:t>58.9%</a:t>
            </a:r>
            <a:endParaRPr lang="en-US" sz="1000" dirty="0"/>
          </a:p>
        </p:txBody>
      </p:sp>
      <p:sp>
        <p:nvSpPr>
          <p:cNvPr id="94" name="Shape 92"/>
          <p:cNvSpPr/>
          <p:nvPr/>
        </p:nvSpPr>
        <p:spPr>
          <a:xfrm>
            <a:off x="2560320" y="5833872"/>
            <a:ext cx="2692908" cy="164592"/>
          </a:xfrm>
          <a:prstGeom prst="rect">
            <a:avLst/>
          </a:prstGeom>
          <a:solidFill>
            <a:srgbClr val="1A6B30"/>
          </a:solidFill>
          <a:ln w="12700">
            <a:solidFill>
              <a:srgbClr val="1A6B30"/>
            </a:solidFill>
            <a:prstDash val="solid"/>
          </a:ln>
        </p:spPr>
      </p:sp>
      <p:sp>
        <p:nvSpPr>
          <p:cNvPr id="95" name="Shape 93"/>
          <p:cNvSpPr/>
          <p:nvPr/>
        </p:nvSpPr>
        <p:spPr>
          <a:xfrm>
            <a:off x="2560320" y="5833872"/>
            <a:ext cx="4572000" cy="164592"/>
          </a:xfrm>
          <a:prstGeom prst="rect">
            <a:avLst/>
          </a:prstGeom>
          <a:solidFill>
            <a:srgbClr val="FFFFFF">
              <a:alpha val="0"/>
            </a:srgbClr>
          </a:solidFill>
          <a:ln w="3810">
            <a:solidFill>
              <a:srgbClr val="AAAAAA"/>
            </a:solidFill>
            <a:prstDash val="solid"/>
          </a:ln>
        </p:spPr>
      </p:sp>
      <p:sp>
        <p:nvSpPr>
          <p:cNvPr id="96" name="Text 94"/>
          <p:cNvSpPr/>
          <p:nvPr/>
        </p:nvSpPr>
        <p:spPr>
          <a:xfrm>
            <a:off x="7260336" y="5797296"/>
            <a:ext cx="4681728" cy="237744"/>
          </a:xfrm>
          <a:prstGeom prst="rect">
            <a:avLst/>
          </a:prstGeom>
          <a:noFill/>
          <a:ln/>
        </p:spPr>
        <p:txBody>
          <a:bodyPr wrap="square" lIns="38100" tIns="38100" rIns="38100" bIns="38100" rtlCol="0" anchor="ctr"/>
          <a:lstStyle/>
          <a:p>
            <a:pPr algn="l" indent="0" marL="0">
              <a:buNone/>
            </a:pPr>
            <a:r>
              <a:rPr lang="en-US" sz="700" dirty="0">
                <a:solidFill>
                  <a:srgbClr val="444444"/>
                </a:solidFill>
                <a:latin typeface="Calibri" pitchFamily="34" charset="0"/>
                <a:ea typeface="Calibri" pitchFamily="34" charset="-122"/>
                <a:cs typeface="Calibri" pitchFamily="34" charset="-120"/>
              </a:rPr>
              <a:t>HIGH arousal — some confusion with angry (both high, negative)</a:t>
            </a:r>
            <a:endParaRPr lang="en-US" sz="700" dirty="0"/>
          </a:p>
        </p:txBody>
      </p:sp>
      <p:sp>
        <p:nvSpPr>
          <p:cNvPr id="97" name="Shape 95"/>
          <p:cNvSpPr/>
          <p:nvPr/>
        </p:nvSpPr>
        <p:spPr>
          <a:xfrm>
            <a:off x="182880" y="6053328"/>
            <a:ext cx="11795760" cy="237744"/>
          </a:xfrm>
          <a:prstGeom prst="rect">
            <a:avLst/>
          </a:prstGeom>
          <a:solidFill>
            <a:srgbClr val="D8F2DF"/>
          </a:solidFill>
          <a:ln w="3810">
            <a:solidFill>
              <a:srgbClr val="1A6B30"/>
            </a:solidFill>
            <a:prstDash val="solid"/>
          </a:ln>
        </p:spPr>
      </p:sp>
      <p:sp>
        <p:nvSpPr>
          <p:cNvPr id="98" name="Text 96"/>
          <p:cNvSpPr/>
          <p:nvPr/>
        </p:nvSpPr>
        <p:spPr>
          <a:xfrm>
            <a:off x="274320" y="6053328"/>
            <a:ext cx="201168" cy="237744"/>
          </a:xfrm>
          <a:prstGeom prst="rect">
            <a:avLst/>
          </a:prstGeom>
          <a:noFill/>
          <a:ln/>
        </p:spPr>
        <p:txBody>
          <a:bodyPr wrap="square" lIns="38100" tIns="38100" rIns="38100" bIns="38100" rtlCol="0" anchor="ctr"/>
          <a:lstStyle/>
          <a:p>
            <a:pPr algn="ctr" indent="0" marL="0">
              <a:buNone/>
            </a:pPr>
            <a:r>
              <a:rPr lang="en-US" sz="900" b="1" dirty="0">
                <a:solidFill>
                  <a:srgbClr val="1A6B30"/>
                </a:solidFill>
                <a:latin typeface="Calibri" pitchFamily="34" charset="0"/>
                <a:ea typeface="Calibri" pitchFamily="34" charset="-122"/>
                <a:cs typeface="Calibri" pitchFamily="34" charset="-120"/>
              </a:rPr>
              <a:t>✓</a:t>
            </a:r>
            <a:endParaRPr lang="en-US" sz="900" dirty="0"/>
          </a:p>
        </p:txBody>
      </p:sp>
      <p:sp>
        <p:nvSpPr>
          <p:cNvPr id="99" name="Text 97"/>
          <p:cNvSpPr/>
          <p:nvPr/>
        </p:nvSpPr>
        <p:spPr>
          <a:xfrm>
            <a:off x="512064" y="6053328"/>
            <a:ext cx="1188720" cy="237744"/>
          </a:xfrm>
          <a:prstGeom prst="rect">
            <a:avLst/>
          </a:prstGeom>
          <a:noFill/>
          <a:ln/>
        </p:spPr>
        <p:txBody>
          <a:bodyPr wrap="square" lIns="38100" tIns="38100" rIns="38100" bIns="38100" rtlCol="0" anchor="ctr"/>
          <a:lstStyle/>
          <a:p>
            <a:pPr algn="l" indent="0" marL="0">
              <a:buNone/>
            </a:pPr>
            <a:r>
              <a:rPr lang="en-US" sz="800" b="1" dirty="0">
                <a:solidFill>
                  <a:srgbClr val="1A6B30"/>
                </a:solidFill>
                <a:latin typeface="Calibri" pitchFamily="34" charset="0"/>
                <a:ea typeface="Calibri" pitchFamily="34" charset="-122"/>
                <a:cs typeface="Calibri" pitchFamily="34" charset="-120"/>
              </a:rPr>
              <a:t>disgust</a:t>
            </a:r>
            <a:endParaRPr lang="en-US" sz="800" dirty="0"/>
          </a:p>
        </p:txBody>
      </p:sp>
      <p:sp>
        <p:nvSpPr>
          <p:cNvPr id="100" name="Text 98"/>
          <p:cNvSpPr/>
          <p:nvPr/>
        </p:nvSpPr>
        <p:spPr>
          <a:xfrm>
            <a:off x="1737360" y="6053328"/>
            <a:ext cx="731520" cy="237744"/>
          </a:xfrm>
          <a:prstGeom prst="rect">
            <a:avLst/>
          </a:prstGeom>
          <a:noFill/>
          <a:ln/>
        </p:spPr>
        <p:txBody>
          <a:bodyPr wrap="square" lIns="38100" tIns="38100" rIns="38100" bIns="38100" rtlCol="0" anchor="ctr"/>
          <a:lstStyle/>
          <a:p>
            <a:pPr algn="ctr" indent="0" marL="0">
              <a:buNone/>
            </a:pPr>
            <a:r>
              <a:rPr lang="en-US" sz="1000" b="1" dirty="0">
                <a:solidFill>
                  <a:srgbClr val="1A6B30"/>
                </a:solidFill>
                <a:latin typeface="Calibri" pitchFamily="34" charset="0"/>
                <a:ea typeface="Calibri" pitchFamily="34" charset="-122"/>
                <a:cs typeface="Calibri" pitchFamily="34" charset="-120"/>
              </a:rPr>
              <a:t>74.0%</a:t>
            </a:r>
            <a:endParaRPr lang="en-US" sz="1000" dirty="0"/>
          </a:p>
        </p:txBody>
      </p:sp>
      <p:sp>
        <p:nvSpPr>
          <p:cNvPr id="101" name="Shape 99"/>
          <p:cNvSpPr/>
          <p:nvPr/>
        </p:nvSpPr>
        <p:spPr>
          <a:xfrm>
            <a:off x="2560320" y="6089904"/>
            <a:ext cx="3383280" cy="164592"/>
          </a:xfrm>
          <a:prstGeom prst="rect">
            <a:avLst/>
          </a:prstGeom>
          <a:solidFill>
            <a:srgbClr val="1A6B30"/>
          </a:solidFill>
          <a:ln w="12700">
            <a:solidFill>
              <a:srgbClr val="1A6B30"/>
            </a:solidFill>
            <a:prstDash val="solid"/>
          </a:ln>
        </p:spPr>
      </p:sp>
      <p:sp>
        <p:nvSpPr>
          <p:cNvPr id="102" name="Shape 100"/>
          <p:cNvSpPr/>
          <p:nvPr/>
        </p:nvSpPr>
        <p:spPr>
          <a:xfrm>
            <a:off x="2560320" y="6089904"/>
            <a:ext cx="4572000" cy="164592"/>
          </a:xfrm>
          <a:prstGeom prst="rect">
            <a:avLst/>
          </a:prstGeom>
          <a:solidFill>
            <a:srgbClr val="FFFFFF">
              <a:alpha val="0"/>
            </a:srgbClr>
          </a:solidFill>
          <a:ln w="3810">
            <a:solidFill>
              <a:srgbClr val="AAAAAA"/>
            </a:solidFill>
            <a:prstDash val="solid"/>
          </a:ln>
        </p:spPr>
      </p:sp>
      <p:sp>
        <p:nvSpPr>
          <p:cNvPr id="103" name="Text 101"/>
          <p:cNvSpPr/>
          <p:nvPr/>
        </p:nvSpPr>
        <p:spPr>
          <a:xfrm>
            <a:off x="7260336" y="6053328"/>
            <a:ext cx="4681728" cy="237744"/>
          </a:xfrm>
          <a:prstGeom prst="rect">
            <a:avLst/>
          </a:prstGeom>
          <a:noFill/>
          <a:ln/>
        </p:spPr>
        <p:txBody>
          <a:bodyPr wrap="square" lIns="38100" tIns="38100" rIns="38100" bIns="38100" rtlCol="0" anchor="ctr"/>
          <a:lstStyle/>
          <a:p>
            <a:pPr algn="l" indent="0" marL="0">
              <a:buNone/>
            </a:pPr>
            <a:r>
              <a:rPr lang="en-US" sz="700" dirty="0">
                <a:solidFill>
                  <a:srgbClr val="444444"/>
                </a:solidFill>
                <a:latin typeface="Calibri" pitchFamily="34" charset="0"/>
                <a:ea typeface="Calibri" pitchFamily="34" charset="-122"/>
                <a:cs typeface="Calibri" pitchFamily="34" charset="-120"/>
              </a:rPr>
              <a:t>moderate arousal — distinct prosodic pattern</a:t>
            </a:r>
            <a:endParaRPr lang="en-US" sz="700" dirty="0"/>
          </a:p>
        </p:txBody>
      </p:sp>
      <p:sp>
        <p:nvSpPr>
          <p:cNvPr id="104" name="Shape 102"/>
          <p:cNvSpPr/>
          <p:nvPr/>
        </p:nvSpPr>
        <p:spPr>
          <a:xfrm>
            <a:off x="182880" y="6309360"/>
            <a:ext cx="11795760" cy="237744"/>
          </a:xfrm>
          <a:prstGeom prst="rect">
            <a:avLst/>
          </a:prstGeom>
          <a:solidFill>
            <a:srgbClr val="FFFFFF"/>
          </a:solidFill>
          <a:ln w="3810">
            <a:solidFill>
              <a:srgbClr val="1A6B30"/>
            </a:solidFill>
            <a:prstDash val="solid"/>
          </a:ln>
        </p:spPr>
      </p:sp>
      <p:sp>
        <p:nvSpPr>
          <p:cNvPr id="105" name="Text 103"/>
          <p:cNvSpPr/>
          <p:nvPr/>
        </p:nvSpPr>
        <p:spPr>
          <a:xfrm>
            <a:off x="274320" y="6309360"/>
            <a:ext cx="201168" cy="237744"/>
          </a:xfrm>
          <a:prstGeom prst="rect">
            <a:avLst/>
          </a:prstGeom>
          <a:noFill/>
          <a:ln/>
        </p:spPr>
        <p:txBody>
          <a:bodyPr wrap="square" lIns="38100" tIns="38100" rIns="38100" bIns="38100" rtlCol="0" anchor="ctr"/>
          <a:lstStyle/>
          <a:p>
            <a:pPr algn="ctr" indent="0" marL="0">
              <a:buNone/>
            </a:pPr>
            <a:r>
              <a:rPr lang="en-US" sz="900" b="1" dirty="0">
                <a:solidFill>
                  <a:srgbClr val="1A6B30"/>
                </a:solidFill>
                <a:latin typeface="Calibri" pitchFamily="34" charset="0"/>
                <a:ea typeface="Calibri" pitchFamily="34" charset="-122"/>
                <a:cs typeface="Calibri" pitchFamily="34" charset="-120"/>
              </a:rPr>
              <a:t>✓</a:t>
            </a:r>
            <a:endParaRPr lang="en-US" sz="900" dirty="0"/>
          </a:p>
        </p:txBody>
      </p:sp>
      <p:sp>
        <p:nvSpPr>
          <p:cNvPr id="106" name="Text 104"/>
          <p:cNvSpPr/>
          <p:nvPr/>
        </p:nvSpPr>
        <p:spPr>
          <a:xfrm>
            <a:off x="512064" y="6309360"/>
            <a:ext cx="1188720" cy="237744"/>
          </a:xfrm>
          <a:prstGeom prst="rect">
            <a:avLst/>
          </a:prstGeom>
          <a:noFill/>
          <a:ln/>
        </p:spPr>
        <p:txBody>
          <a:bodyPr wrap="square" lIns="38100" tIns="38100" rIns="38100" bIns="38100" rtlCol="0" anchor="ctr"/>
          <a:lstStyle/>
          <a:p>
            <a:pPr algn="l" indent="0" marL="0">
              <a:buNone/>
            </a:pPr>
            <a:r>
              <a:rPr lang="en-US" sz="800" b="1" dirty="0">
                <a:solidFill>
                  <a:srgbClr val="1A6B30"/>
                </a:solidFill>
                <a:latin typeface="Calibri" pitchFamily="34" charset="0"/>
                <a:ea typeface="Calibri" pitchFamily="34" charset="-122"/>
                <a:cs typeface="Calibri" pitchFamily="34" charset="-120"/>
              </a:rPr>
              <a:t>surprised</a:t>
            </a:r>
            <a:endParaRPr lang="en-US" sz="800" dirty="0"/>
          </a:p>
        </p:txBody>
      </p:sp>
      <p:sp>
        <p:nvSpPr>
          <p:cNvPr id="107" name="Text 105"/>
          <p:cNvSpPr/>
          <p:nvPr/>
        </p:nvSpPr>
        <p:spPr>
          <a:xfrm>
            <a:off x="1737360" y="6309360"/>
            <a:ext cx="731520" cy="237744"/>
          </a:xfrm>
          <a:prstGeom prst="rect">
            <a:avLst/>
          </a:prstGeom>
          <a:noFill/>
          <a:ln/>
        </p:spPr>
        <p:txBody>
          <a:bodyPr wrap="square" lIns="38100" tIns="38100" rIns="38100" bIns="38100" rtlCol="0" anchor="ctr"/>
          <a:lstStyle/>
          <a:p>
            <a:pPr algn="ctr" indent="0" marL="0">
              <a:buNone/>
            </a:pPr>
            <a:r>
              <a:rPr lang="en-US" sz="1000" b="1" dirty="0">
                <a:solidFill>
                  <a:srgbClr val="1A6B30"/>
                </a:solidFill>
                <a:latin typeface="Calibri" pitchFamily="34" charset="0"/>
                <a:ea typeface="Calibri" pitchFamily="34" charset="-122"/>
                <a:cs typeface="Calibri" pitchFamily="34" charset="-120"/>
              </a:rPr>
              <a:t>66.1%</a:t>
            </a:r>
            <a:endParaRPr lang="en-US" sz="1000" dirty="0"/>
          </a:p>
        </p:txBody>
      </p:sp>
      <p:sp>
        <p:nvSpPr>
          <p:cNvPr id="108" name="Shape 106"/>
          <p:cNvSpPr/>
          <p:nvPr/>
        </p:nvSpPr>
        <p:spPr>
          <a:xfrm>
            <a:off x="2560320" y="6345936"/>
            <a:ext cx="3022092" cy="164592"/>
          </a:xfrm>
          <a:prstGeom prst="rect">
            <a:avLst/>
          </a:prstGeom>
          <a:solidFill>
            <a:srgbClr val="1A6B30"/>
          </a:solidFill>
          <a:ln w="12700">
            <a:solidFill>
              <a:srgbClr val="1A6B30"/>
            </a:solidFill>
            <a:prstDash val="solid"/>
          </a:ln>
        </p:spPr>
      </p:sp>
      <p:sp>
        <p:nvSpPr>
          <p:cNvPr id="109" name="Shape 107"/>
          <p:cNvSpPr/>
          <p:nvPr/>
        </p:nvSpPr>
        <p:spPr>
          <a:xfrm>
            <a:off x="2560320" y="6345936"/>
            <a:ext cx="4572000" cy="164592"/>
          </a:xfrm>
          <a:prstGeom prst="rect">
            <a:avLst/>
          </a:prstGeom>
          <a:solidFill>
            <a:srgbClr val="FFFFFF">
              <a:alpha val="0"/>
            </a:srgbClr>
          </a:solidFill>
          <a:ln w="3810">
            <a:solidFill>
              <a:srgbClr val="AAAAAA"/>
            </a:solidFill>
            <a:prstDash val="solid"/>
          </a:ln>
        </p:spPr>
      </p:sp>
      <p:sp>
        <p:nvSpPr>
          <p:cNvPr id="110" name="Text 108"/>
          <p:cNvSpPr/>
          <p:nvPr/>
        </p:nvSpPr>
        <p:spPr>
          <a:xfrm>
            <a:off x="7260336" y="6309360"/>
            <a:ext cx="4681728" cy="237744"/>
          </a:xfrm>
          <a:prstGeom prst="rect">
            <a:avLst/>
          </a:prstGeom>
          <a:noFill/>
          <a:ln/>
        </p:spPr>
        <p:txBody>
          <a:bodyPr wrap="square" lIns="38100" tIns="38100" rIns="38100" bIns="38100" rtlCol="0" anchor="ctr"/>
          <a:lstStyle/>
          <a:p>
            <a:pPr algn="l" indent="0" marL="0">
              <a:buNone/>
            </a:pPr>
            <a:r>
              <a:rPr lang="en-US" sz="700" dirty="0">
                <a:solidFill>
                  <a:srgbClr val="444444"/>
                </a:solidFill>
                <a:latin typeface="Calibri" pitchFamily="34" charset="0"/>
                <a:ea typeface="Calibri" pitchFamily="34" charset="-122"/>
                <a:cs typeface="Calibri" pitchFamily="34" charset="-120"/>
              </a:rPr>
              <a:t>moderate-high arousal — overlaps with happy (both positive)</a:t>
            </a:r>
            <a:endParaRPr lang="en-US" sz="700" dirty="0"/>
          </a:p>
        </p:txBody>
      </p:sp>
      <p:sp>
        <p:nvSpPr>
          <p:cNvPr id="111" name="Shape 109"/>
          <p:cNvSpPr/>
          <p:nvPr/>
        </p:nvSpPr>
        <p:spPr>
          <a:xfrm>
            <a:off x="182880" y="6565392"/>
            <a:ext cx="11795760" cy="274320"/>
          </a:xfrm>
          <a:prstGeom prst="rect">
            <a:avLst/>
          </a:prstGeom>
          <a:solidFill>
            <a:srgbClr val="FFF0CC"/>
          </a:solidFill>
          <a:ln w="10160">
            <a:solidFill>
              <a:srgbClr val="8A5200"/>
            </a:solidFill>
            <a:prstDash val="solid"/>
          </a:ln>
        </p:spPr>
      </p:sp>
      <p:sp>
        <p:nvSpPr>
          <p:cNvPr id="112" name="Text 110"/>
          <p:cNvSpPr/>
          <p:nvPr/>
        </p:nvSpPr>
        <p:spPr>
          <a:xfrm>
            <a:off x="274320" y="6565392"/>
            <a:ext cx="3200400" cy="274320"/>
          </a:xfrm>
          <a:prstGeom prst="rect">
            <a:avLst/>
          </a:prstGeom>
          <a:noFill/>
          <a:ln/>
        </p:spPr>
        <p:txBody>
          <a:bodyPr wrap="square" lIns="38100" tIns="38100" rIns="38100" bIns="38100" rtlCol="0" anchor="ctr"/>
          <a:lstStyle/>
          <a:p>
            <a:pPr algn="l" indent="0" marL="0">
              <a:buNone/>
            </a:pPr>
            <a:r>
              <a:rPr lang="en-US" sz="800" b="1" dirty="0">
                <a:solidFill>
                  <a:srgbClr val="8A5200"/>
                </a:solidFill>
                <a:latin typeface="Calibri" pitchFamily="34" charset="0"/>
                <a:ea typeface="Calibri" pitchFamily="34" charset="-122"/>
                <a:cs typeface="Calibri" pitchFamily="34" charset="-120"/>
              </a:rPr>
              <a:t>Why happy and sad fail (expected in SER literature):</a:t>
            </a:r>
            <a:endParaRPr lang="en-US" sz="800" dirty="0"/>
          </a:p>
        </p:txBody>
      </p:sp>
      <p:sp>
        <p:nvSpPr>
          <p:cNvPr id="113" name="Text 111"/>
          <p:cNvSpPr/>
          <p:nvPr/>
        </p:nvSpPr>
        <p:spPr>
          <a:xfrm>
            <a:off x="3529584" y="6565392"/>
            <a:ext cx="8412480" cy="274320"/>
          </a:xfrm>
          <a:prstGeom prst="rect">
            <a:avLst/>
          </a:prstGeom>
          <a:noFill/>
          <a:ln/>
        </p:spPr>
        <p:txBody>
          <a:bodyPr wrap="square" lIns="38100" tIns="38100" rIns="38100" bIns="38100" rtlCol="0" anchor="ctr"/>
          <a:lstStyle/>
          <a:p>
            <a:pPr algn="l" indent="0" marL="0">
              <a:buNone/>
            </a:pPr>
            <a:r>
              <a:rPr lang="en-US" sz="750" dirty="0">
                <a:solidFill>
                  <a:srgbClr val="1A1A1A"/>
                </a:solidFill>
                <a:latin typeface="Calibri" pitchFamily="34" charset="0"/>
                <a:ea typeface="Calibri" pitchFamily="34" charset="-122"/>
                <a:cs typeface="Calibri" pitchFamily="34" charset="-120"/>
              </a:rPr>
              <a:t>Russell (1980) emotion circumplex: happy and surprised share similar valence (positive) and arousal level. Sad and neutral share similar arousal (low) and valence (negative). These confusions are documented in Speech Emotion Recognition (SER) across all model types — not a Pipeline C failure.</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61520" cy="502920"/>
          </a:xfrm>
          <a:prstGeom prst="rect">
            <a:avLst/>
          </a:prstGeom>
          <a:solidFill>
            <a:srgbClr val="0F3460"/>
          </a:solidFill>
          <a:ln w="12700">
            <a:solidFill>
              <a:srgbClr val="0F3460"/>
            </a:solidFill>
            <a:prstDash val="solid"/>
          </a:ln>
        </p:spPr>
      </p:sp>
      <p:sp>
        <p:nvSpPr>
          <p:cNvPr id="3" name="Text 1"/>
          <p:cNvSpPr/>
          <p:nvPr/>
        </p:nvSpPr>
        <p:spPr>
          <a:xfrm>
            <a:off x="228600" y="0"/>
            <a:ext cx="10515600" cy="502920"/>
          </a:xfrm>
          <a:prstGeom prst="rect">
            <a:avLst/>
          </a:prstGeom>
          <a:noFill/>
          <a:ln/>
        </p:spPr>
        <p:txBody>
          <a:bodyPr wrap="square" lIns="38100" tIns="38100" rIns="38100" bIns="3810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Pipeline C — Checkpoint System, Sanity Checks &amp; Centroid Quality Metrics</a:t>
            </a:r>
            <a:endParaRPr lang="en-US" sz="1400" dirty="0"/>
          </a:p>
        </p:txBody>
      </p:sp>
      <p:sp>
        <p:nvSpPr>
          <p:cNvPr id="4" name="Text 2"/>
          <p:cNvSpPr/>
          <p:nvPr/>
        </p:nvSpPr>
        <p:spPr>
          <a:xfrm>
            <a:off x="10789920" y="0"/>
            <a:ext cx="1188720" cy="502920"/>
          </a:xfrm>
          <a:prstGeom prst="rect">
            <a:avLst/>
          </a:prstGeom>
          <a:noFill/>
          <a:ln/>
        </p:spPr>
        <p:txBody>
          <a:bodyPr wrap="square" lIns="38100" tIns="38100" rIns="38100" bIns="38100" rtlCol="0" anchor="ctr"/>
          <a:lstStyle/>
          <a:p>
            <a:pPr algn="r" indent="0" marL="0">
              <a:buNone/>
            </a:pPr>
            <a:r>
              <a:rPr lang="en-US" sz="1100" b="1" dirty="0">
                <a:solidFill>
                  <a:srgbClr val="9EC8FF"/>
                </a:solidFill>
                <a:latin typeface="Calibri" pitchFamily="34" charset="0"/>
                <a:ea typeface="Calibri" pitchFamily="34" charset="-122"/>
                <a:cs typeface="Calibri" pitchFamily="34" charset="-120"/>
              </a:rPr>
              <a:t>8/9</a:t>
            </a:r>
            <a:endParaRPr lang="en-US" sz="1100" dirty="0"/>
          </a:p>
        </p:txBody>
      </p:sp>
      <p:sp>
        <p:nvSpPr>
          <p:cNvPr id="5" name="Text 3"/>
          <p:cNvSpPr/>
          <p:nvPr/>
        </p:nvSpPr>
        <p:spPr>
          <a:xfrm>
            <a:off x="228600" y="274320"/>
            <a:ext cx="11704320" cy="237744"/>
          </a:xfrm>
          <a:prstGeom prst="rect">
            <a:avLst/>
          </a:prstGeom>
          <a:noFill/>
          <a:ln/>
        </p:spPr>
        <p:txBody>
          <a:bodyPr wrap="square" lIns="38100" tIns="38100" rIns="38100" bIns="38100" rtlCol="0" anchor="ctr"/>
          <a:lstStyle/>
          <a:p>
            <a:pPr algn="l" indent="0" marL="0">
              <a:buNone/>
            </a:pPr>
            <a:r>
              <a:rPr lang="en-US" sz="750" dirty="0">
                <a:solidFill>
                  <a:srgbClr val="9EC8FF"/>
                </a:solidFill>
                <a:latin typeface="Calibri" pitchFamily="34" charset="0"/>
                <a:ea typeface="Calibri" pitchFamily="34" charset="-122"/>
                <a:cs typeface="Calibri" pitchFamily="34" charset="-120"/>
              </a:rPr>
              <a:t>Colab-resilient  |  Resume from epoch  |  2 safety guards  |  3 pre-training checks  |  Inter-centroid similarity</a:t>
            </a:r>
            <a:endParaRPr lang="en-US" sz="750" dirty="0"/>
          </a:p>
        </p:txBody>
      </p:sp>
      <p:sp>
        <p:nvSpPr>
          <p:cNvPr id="6" name="Shape 4"/>
          <p:cNvSpPr/>
          <p:nvPr/>
        </p:nvSpPr>
        <p:spPr>
          <a:xfrm>
            <a:off x="0" y="6583680"/>
            <a:ext cx="12161520" cy="274320"/>
          </a:xfrm>
          <a:prstGeom prst="rect">
            <a:avLst/>
          </a:prstGeom>
          <a:solidFill>
            <a:srgbClr val="0F3460"/>
          </a:solidFill>
          <a:ln w="12700">
            <a:solidFill>
              <a:srgbClr val="0F3460"/>
            </a:solidFill>
            <a:prstDash val="solid"/>
          </a:ln>
        </p:spPr>
      </p:sp>
      <p:sp>
        <p:nvSpPr>
          <p:cNvPr id="7" name="Text 5"/>
          <p:cNvSpPr/>
          <p:nvPr/>
        </p:nvSpPr>
        <p:spPr>
          <a:xfrm>
            <a:off x="228600" y="6583680"/>
            <a:ext cx="11704320" cy="274320"/>
          </a:xfrm>
          <a:prstGeom prst="rect">
            <a:avLst/>
          </a:prstGeom>
          <a:noFill/>
          <a:ln/>
        </p:spPr>
        <p:txBody>
          <a:bodyPr wrap="square" lIns="38100" tIns="38100" rIns="38100" bIns="38100" rtlCol="0" anchor="ctr"/>
          <a:lstStyle/>
          <a:p>
            <a:pPr algn="l" indent="0" marL="0">
              <a:buNone/>
            </a:pPr>
            <a:r>
              <a:rPr lang="en-US" sz="600" dirty="0">
                <a:solidFill>
                  <a:srgbClr val="9EC8FF"/>
                </a:solidFill>
                <a:latin typeface="Calibri" pitchFamily="34" charset="0"/>
                <a:ea typeface="Calibri" pitchFamily="34" charset="-122"/>
                <a:cs typeface="Calibri" pitchFamily="34" charset="-120"/>
              </a:rPr>
              <a:t>MIVA-KNIGHT  |  IT 581 Capstone  |  Concordia University of Edmonton  |  Pipeline C — RAVDESS Standalone Audio Emotion Training</a:t>
            </a:r>
            <a:endParaRPr lang="en-US" sz="600" dirty="0"/>
          </a:p>
        </p:txBody>
      </p:sp>
      <p:sp>
        <p:nvSpPr>
          <p:cNvPr id="8" name="Shape 6"/>
          <p:cNvSpPr/>
          <p:nvPr/>
        </p:nvSpPr>
        <p:spPr>
          <a:xfrm>
            <a:off x="182880" y="621792"/>
            <a:ext cx="36576" cy="237744"/>
          </a:xfrm>
          <a:prstGeom prst="rect">
            <a:avLst/>
          </a:prstGeom>
          <a:solidFill>
            <a:srgbClr val="14407A"/>
          </a:solidFill>
          <a:ln w="12700">
            <a:solidFill>
              <a:srgbClr val="14407A"/>
            </a:solidFill>
            <a:prstDash val="solid"/>
          </a:ln>
        </p:spPr>
      </p:sp>
      <p:sp>
        <p:nvSpPr>
          <p:cNvPr id="9" name="Text 7"/>
          <p:cNvSpPr/>
          <p:nvPr/>
        </p:nvSpPr>
        <p:spPr>
          <a:xfrm>
            <a:off x="256032" y="621792"/>
            <a:ext cx="5486400" cy="237744"/>
          </a:xfrm>
          <a:prstGeom prst="rect">
            <a:avLst/>
          </a:prstGeom>
          <a:noFill/>
          <a:ln/>
        </p:spPr>
        <p:txBody>
          <a:bodyPr wrap="square" lIns="38100" tIns="38100" rIns="38100" bIns="38100" rtlCol="0" anchor="ctr"/>
          <a:lstStyle/>
          <a:p>
            <a:pPr algn="l" indent="0" marL="0">
              <a:buNone/>
            </a:pPr>
            <a:r>
              <a:rPr lang="en-US" sz="800" b="1" dirty="0">
                <a:solidFill>
                  <a:srgbClr val="14407A"/>
                </a:solidFill>
                <a:latin typeface="Calibri" pitchFamily="34" charset="0"/>
                <a:ea typeface="Calibri" pitchFamily="34" charset="-122"/>
                <a:cs typeface="Calibri" pitchFamily="34" charset="-120"/>
              </a:rPr>
              <a:t>Checkpoint System — Colab Resilience</a:t>
            </a:r>
            <a:endParaRPr lang="en-US" sz="800" dirty="0"/>
          </a:p>
        </p:txBody>
      </p:sp>
      <p:sp>
        <p:nvSpPr>
          <p:cNvPr id="10" name="Shape 8"/>
          <p:cNvSpPr/>
          <p:nvPr/>
        </p:nvSpPr>
        <p:spPr>
          <a:xfrm>
            <a:off x="182880" y="859536"/>
            <a:ext cx="5486400" cy="2212848"/>
          </a:xfrm>
          <a:prstGeom prst="rect">
            <a:avLst/>
          </a:prstGeom>
          <a:solidFill>
            <a:srgbClr val="D7E4F5"/>
          </a:solidFill>
          <a:ln w="12700">
            <a:solidFill>
              <a:srgbClr val="14407A"/>
            </a:solidFill>
            <a:prstDash val="solid"/>
          </a:ln>
          <a:effectLst>
            <a:outerShdw sx="100000" sy="100000" kx="0" ky="0" algn="bl" rotWithShape="0" blurRad="38100" dist="25400" dir="8100000">
              <a:srgbClr val="000000">
                <a:alpha val="9000"/>
              </a:srgbClr>
            </a:outerShdw>
          </a:effectLst>
        </p:spPr>
      </p:sp>
      <p:sp>
        <p:nvSpPr>
          <p:cNvPr id="11" name="Text 9"/>
          <p:cNvSpPr/>
          <p:nvPr/>
        </p:nvSpPr>
        <p:spPr>
          <a:xfrm>
            <a:off x="274320" y="859536"/>
            <a:ext cx="5303520" cy="256032"/>
          </a:xfrm>
          <a:prstGeom prst="rect">
            <a:avLst/>
          </a:prstGeom>
          <a:noFill/>
          <a:ln/>
        </p:spPr>
        <p:txBody>
          <a:bodyPr wrap="square" lIns="38100" tIns="38100" rIns="38100" bIns="38100" rtlCol="0" anchor="ctr"/>
          <a:lstStyle/>
          <a:p>
            <a:pPr algn="l" indent="0" marL="0">
              <a:buNone/>
            </a:pPr>
            <a:r>
              <a:rPr lang="en-US" sz="900" b="1" dirty="0">
                <a:solidFill>
                  <a:srgbClr val="14407A"/>
                </a:solidFill>
                <a:latin typeface="Calibri" pitchFamily="34" charset="0"/>
                <a:ea typeface="Calibri" pitchFamily="34" charset="-122"/>
                <a:cs typeface="Calibri" pitchFamily="34" charset="-120"/>
              </a:rPr>
              <a:t>What Gets Saved — Complete Checkpoint Schema</a:t>
            </a:r>
            <a:endParaRPr lang="en-US" sz="900" dirty="0"/>
          </a:p>
        </p:txBody>
      </p:sp>
      <p:sp>
        <p:nvSpPr>
          <p:cNvPr id="12" name="Text 10"/>
          <p:cNvSpPr/>
          <p:nvPr/>
        </p:nvSpPr>
        <p:spPr>
          <a:xfrm>
            <a:off x="274320" y="1097280"/>
            <a:ext cx="5303520" cy="1938528"/>
          </a:xfrm>
          <a:prstGeom prst="rect">
            <a:avLst/>
          </a:prstGeom>
          <a:noFill/>
          <a:ln/>
        </p:spPr>
        <p:txBody>
          <a:bodyPr wrap="square" lIns="38100" tIns="38100" rIns="38100" bIns="38100" rtlCol="0" anchor="t"/>
          <a:lstStyle/>
          <a:p>
            <a:pPr algn="l" indent="0" marL="0">
              <a:buNone/>
            </a:pPr>
            <a:r>
              <a:rPr lang="en-US" sz="750" dirty="0">
                <a:solidFill>
                  <a:srgbClr val="1A1A1A"/>
                </a:solidFill>
                <a:latin typeface="Calibri" pitchFamily="34" charset="0"/>
                <a:ea typeface="Calibri" pitchFamily="34" charset="-122"/>
                <a:cs typeface="Calibri" pitchFamily="34" charset="-120"/>
              </a:rPr>
              <a:t>torch.save({</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  'epoch'            : epoch,               # last completed epoch</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  'audio_proj_state' : audio_proj.state_dict(),  # model weights θ</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  'optimizer_state'  : optimizer.state_dict(),   # AdamW moments m_t, v_t</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  'scheduler_state'  : scheduler.state_dict(),   # LR schedule step t</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  'all_losses'       : all_losses,          # full loss history</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  'all_accs'         : all_accs,            # full accuracy history</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  'wav2vec_dim'      : 768,    # ← dimension guard (rejects old 512d files)</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  'embed_dim'        : 512,</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  'pipeline'         : 'C-RAVDESS-standalone',  # identity guard</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 CHECKPOINT)</a:t>
            </a:r>
            <a:endParaRPr lang="en-US" sz="750" dirty="0"/>
          </a:p>
          <a:p>
            <a:pPr algn="l" indent="0" marL="0">
              <a:buNone/>
            </a:pP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Theorem — Checkpoint Completeness:</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Resume exactly from epoch e iff checkpoint has:</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  (1) weights θ_e   (2) optimiser {m_t,v_t}   (3) scheduler step t_e</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Without optimiser: momentum resets → ~1-2 warm-up epochs wasted</a:t>
            </a:r>
            <a:endParaRPr lang="en-US" sz="750" dirty="0"/>
          </a:p>
        </p:txBody>
      </p:sp>
      <p:sp>
        <p:nvSpPr>
          <p:cNvPr id="13" name="Shape 11"/>
          <p:cNvSpPr/>
          <p:nvPr/>
        </p:nvSpPr>
        <p:spPr>
          <a:xfrm>
            <a:off x="5852160" y="859536"/>
            <a:ext cx="6126480" cy="2212848"/>
          </a:xfrm>
          <a:prstGeom prst="rect">
            <a:avLst/>
          </a:prstGeom>
          <a:solidFill>
            <a:srgbClr val="FAE0E0"/>
          </a:solidFill>
          <a:ln w="12700">
            <a:solidFill>
              <a:srgbClr val="9B2020"/>
            </a:solidFill>
            <a:prstDash val="solid"/>
          </a:ln>
          <a:effectLst>
            <a:outerShdw sx="100000" sy="100000" kx="0" ky="0" algn="bl" rotWithShape="0" blurRad="38100" dist="25400" dir="8100000">
              <a:srgbClr val="000000">
                <a:alpha val="9000"/>
              </a:srgbClr>
            </a:outerShdw>
          </a:effectLst>
        </p:spPr>
      </p:sp>
      <p:sp>
        <p:nvSpPr>
          <p:cNvPr id="14" name="Text 12"/>
          <p:cNvSpPr/>
          <p:nvPr/>
        </p:nvSpPr>
        <p:spPr>
          <a:xfrm>
            <a:off x="5943600" y="859536"/>
            <a:ext cx="5943600" cy="256032"/>
          </a:xfrm>
          <a:prstGeom prst="rect">
            <a:avLst/>
          </a:prstGeom>
          <a:noFill/>
          <a:ln/>
        </p:spPr>
        <p:txBody>
          <a:bodyPr wrap="square" lIns="38100" tIns="38100" rIns="38100" bIns="38100" rtlCol="0" anchor="ctr"/>
          <a:lstStyle/>
          <a:p>
            <a:pPr algn="l" indent="0" marL="0">
              <a:buNone/>
            </a:pPr>
            <a:r>
              <a:rPr lang="en-US" sz="900" b="1" dirty="0">
                <a:solidFill>
                  <a:srgbClr val="9B2020"/>
                </a:solidFill>
                <a:latin typeface="Calibri" pitchFamily="34" charset="0"/>
                <a:ea typeface="Calibri" pitchFamily="34" charset="-122"/>
                <a:cs typeface="Calibri" pitchFamily="34" charset="-120"/>
              </a:rPr>
              <a:t>Two Safety Guards in load_checkpoint()</a:t>
            </a:r>
            <a:endParaRPr lang="en-US" sz="900" dirty="0"/>
          </a:p>
        </p:txBody>
      </p:sp>
      <p:sp>
        <p:nvSpPr>
          <p:cNvPr id="15" name="Text 13"/>
          <p:cNvSpPr/>
          <p:nvPr/>
        </p:nvSpPr>
        <p:spPr>
          <a:xfrm>
            <a:off x="5943600" y="1097280"/>
            <a:ext cx="5943600" cy="1938528"/>
          </a:xfrm>
          <a:prstGeom prst="rect">
            <a:avLst/>
          </a:prstGeom>
          <a:noFill/>
          <a:ln/>
        </p:spPr>
        <p:txBody>
          <a:bodyPr wrap="square" lIns="38100" tIns="38100" rIns="38100" bIns="38100" rtlCol="0" anchor="t"/>
          <a:lstStyle/>
          <a:p>
            <a:pPr algn="l" indent="0" marL="0">
              <a:buNone/>
            </a:pPr>
            <a:r>
              <a:rPr lang="en-US" sz="750" dirty="0">
                <a:solidFill>
                  <a:srgbClr val="1A1A1A"/>
                </a:solidFill>
                <a:latin typeface="Calibri" pitchFamily="34" charset="0"/>
                <a:ea typeface="Calibri" pitchFamily="34" charset="-122"/>
                <a:cs typeface="Calibri" pitchFamily="34" charset="-120"/>
              </a:rPr>
              <a:t>Guard 1 — Pipeline identity check:</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  if ckpt.get('pipeline') != 'C-RAVDESS-standalone':</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      → start from scratch</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  Protects against accidentally loading Month 2 joint-training</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  weights which have contaminated geometry. Pipeline name is</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  embedded at save time and verified at load time.</a:t>
            </a:r>
            <a:endParaRPr lang="en-US" sz="750" dirty="0"/>
          </a:p>
          <a:p>
            <a:pPr algn="l" indent="0" marL="0">
              <a:buNone/>
            </a:pP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Guard 2 — Dimension check:</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  if ckpt.get('wav2vec_dim') != WAV2VEC_DIM (768):</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      → start from scratch</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  Protects against loading old 512d Month 2 cache-based checkpoint</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  into the new 768d AudioProjection. Dimension mismatch would cause</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  silent shape errors or incorrect projection behaviour.</a:t>
            </a:r>
            <a:endParaRPr lang="en-US" sz="750" dirty="0"/>
          </a:p>
          <a:p>
            <a:pPr algn="l" indent="0" marL="0">
              <a:buNone/>
            </a:pP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Without these guards: wrong checkpoint loaded, training appears</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to continue but regresses to a corrupted prior state.</a:t>
            </a:r>
            <a:endParaRPr lang="en-US" sz="750" dirty="0"/>
          </a:p>
        </p:txBody>
      </p:sp>
      <p:sp>
        <p:nvSpPr>
          <p:cNvPr id="16" name="Shape 14"/>
          <p:cNvSpPr/>
          <p:nvPr/>
        </p:nvSpPr>
        <p:spPr>
          <a:xfrm>
            <a:off x="182880" y="3182112"/>
            <a:ext cx="36576" cy="237744"/>
          </a:xfrm>
          <a:prstGeom prst="rect">
            <a:avLst/>
          </a:prstGeom>
          <a:solidFill>
            <a:srgbClr val="8A5200"/>
          </a:solidFill>
          <a:ln w="12700">
            <a:solidFill>
              <a:srgbClr val="8A5200"/>
            </a:solidFill>
            <a:prstDash val="solid"/>
          </a:ln>
        </p:spPr>
      </p:sp>
      <p:sp>
        <p:nvSpPr>
          <p:cNvPr id="17" name="Text 15"/>
          <p:cNvSpPr/>
          <p:nvPr/>
        </p:nvSpPr>
        <p:spPr>
          <a:xfrm>
            <a:off x="256032" y="3182112"/>
            <a:ext cx="5486400" cy="237744"/>
          </a:xfrm>
          <a:prstGeom prst="rect">
            <a:avLst/>
          </a:prstGeom>
          <a:noFill/>
          <a:ln/>
        </p:spPr>
        <p:txBody>
          <a:bodyPr wrap="square" lIns="38100" tIns="38100" rIns="38100" bIns="38100" rtlCol="0" anchor="ctr"/>
          <a:lstStyle/>
          <a:p>
            <a:pPr algn="l" indent="0" marL="0">
              <a:buNone/>
            </a:pPr>
            <a:r>
              <a:rPr lang="en-US" sz="800" b="1" dirty="0">
                <a:solidFill>
                  <a:srgbClr val="8A5200"/>
                </a:solidFill>
                <a:latin typeface="Calibri" pitchFamily="34" charset="0"/>
                <a:ea typeface="Calibri" pitchFamily="34" charset="-122"/>
                <a:cs typeface="Calibri" pitchFamily="34" charset="-120"/>
              </a:rPr>
              <a:t>Pre-Training Sanity Checks — Three Verifications (Cell 11)</a:t>
            </a:r>
            <a:endParaRPr lang="en-US" sz="800" dirty="0"/>
          </a:p>
        </p:txBody>
      </p:sp>
      <p:sp>
        <p:nvSpPr>
          <p:cNvPr id="18" name="Shape 16"/>
          <p:cNvSpPr/>
          <p:nvPr/>
        </p:nvSpPr>
        <p:spPr>
          <a:xfrm>
            <a:off x="182880" y="3401568"/>
            <a:ext cx="3913632" cy="2157984"/>
          </a:xfrm>
          <a:prstGeom prst="rect">
            <a:avLst/>
          </a:prstGeom>
          <a:solidFill>
            <a:srgbClr val="FFF0CC"/>
          </a:solidFill>
          <a:ln w="12700">
            <a:solidFill>
              <a:srgbClr val="8A5200"/>
            </a:solidFill>
            <a:prstDash val="solid"/>
          </a:ln>
          <a:effectLst>
            <a:outerShdw sx="100000" sy="100000" kx="0" ky="0" algn="bl" rotWithShape="0" blurRad="38100" dist="25400" dir="8100000">
              <a:srgbClr val="000000">
                <a:alpha val="9000"/>
              </a:srgbClr>
            </a:outerShdw>
          </a:effectLst>
        </p:spPr>
      </p:sp>
      <p:sp>
        <p:nvSpPr>
          <p:cNvPr id="19" name="Shape 17"/>
          <p:cNvSpPr/>
          <p:nvPr/>
        </p:nvSpPr>
        <p:spPr>
          <a:xfrm>
            <a:off x="182880" y="3401568"/>
            <a:ext cx="50292" cy="2157984"/>
          </a:xfrm>
          <a:prstGeom prst="rect">
            <a:avLst/>
          </a:prstGeom>
          <a:solidFill>
            <a:srgbClr val="8A5200"/>
          </a:solidFill>
          <a:ln w="12700">
            <a:solidFill>
              <a:srgbClr val="8A5200"/>
            </a:solidFill>
            <a:prstDash val="solid"/>
          </a:ln>
        </p:spPr>
      </p:sp>
      <p:sp>
        <p:nvSpPr>
          <p:cNvPr id="20" name="Text 18"/>
          <p:cNvSpPr/>
          <p:nvPr/>
        </p:nvSpPr>
        <p:spPr>
          <a:xfrm>
            <a:off x="292608" y="3401568"/>
            <a:ext cx="3749040" cy="256032"/>
          </a:xfrm>
          <a:prstGeom prst="rect">
            <a:avLst/>
          </a:prstGeom>
          <a:noFill/>
          <a:ln/>
        </p:spPr>
        <p:txBody>
          <a:bodyPr wrap="square" lIns="38100" tIns="38100" rIns="38100" bIns="38100" rtlCol="0" anchor="ctr"/>
          <a:lstStyle/>
          <a:p>
            <a:pPr algn="l" indent="0" marL="0">
              <a:buNone/>
            </a:pPr>
            <a:r>
              <a:rPr lang="en-US" sz="800" b="1" dirty="0">
                <a:solidFill>
                  <a:srgbClr val="8A5200"/>
                </a:solidFill>
                <a:latin typeface="Calibri" pitchFamily="34" charset="0"/>
                <a:ea typeface="Calibri" pitchFamily="34" charset="-122"/>
                <a:cs typeface="Calibri" pitchFamily="34" charset="-120"/>
              </a:rPr>
              <a:t>Check 1 — Loss at Random Initialisation</a:t>
            </a:r>
            <a:endParaRPr lang="en-US" sz="800" dirty="0"/>
          </a:p>
        </p:txBody>
      </p:sp>
      <p:sp>
        <p:nvSpPr>
          <p:cNvPr id="21" name="Text 19"/>
          <p:cNvSpPr/>
          <p:nvPr/>
        </p:nvSpPr>
        <p:spPr>
          <a:xfrm>
            <a:off x="292608" y="3639312"/>
            <a:ext cx="3749040" cy="1883664"/>
          </a:xfrm>
          <a:prstGeom prst="rect">
            <a:avLst/>
          </a:prstGeom>
          <a:noFill/>
          <a:ln/>
        </p:spPr>
        <p:txBody>
          <a:bodyPr wrap="square" lIns="38100" tIns="38100" rIns="38100" bIns="38100" rtlCol="0" anchor="t"/>
          <a:lstStyle/>
          <a:p>
            <a:pPr algn="l" indent="0" marL="0">
              <a:buNone/>
            </a:pPr>
            <a:r>
              <a:rPr lang="en-US" sz="750" dirty="0">
                <a:solidFill>
                  <a:srgbClr val="1A1A1A"/>
                </a:solidFill>
                <a:latin typeface="Calibri" pitchFamily="34" charset="0"/>
                <a:ea typeface="Calibri" pitchFamily="34" charset="-122"/>
                <a:cs typeface="Calibri" pitchFamily="34" charset="-120"/>
              </a:rPr>
              <a:t>For B=16, 8 balanced emotions, 1 positive per anchor, 14 negatives:</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Expected SupCon loss ≈ log(B-1) = log(15) ≈ 2.71</a:t>
            </a:r>
            <a:endParaRPr lang="en-US" sz="750" dirty="0"/>
          </a:p>
          <a:p>
            <a:pPr algn="l" indent="0" marL="0">
              <a:buNone/>
            </a:pP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If observed loss:</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 &lt; 1.0: something wrong (data leaked or model not random)</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 1.0–4.0: ✅ expected random range</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 &gt; 4.0: check SupCon implementation</a:t>
            </a:r>
            <a:endParaRPr lang="en-US" sz="750" dirty="0"/>
          </a:p>
          <a:p>
            <a:pPr algn="l" indent="0" marL="0">
              <a:buNone/>
            </a:pP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Purpose: confirms loss function computes correct baseline before 60-min training begins.</a:t>
            </a:r>
            <a:endParaRPr lang="en-US" sz="750" dirty="0"/>
          </a:p>
        </p:txBody>
      </p:sp>
      <p:sp>
        <p:nvSpPr>
          <p:cNvPr id="22" name="Shape 20"/>
          <p:cNvSpPr/>
          <p:nvPr/>
        </p:nvSpPr>
        <p:spPr>
          <a:xfrm>
            <a:off x="4187952" y="3401568"/>
            <a:ext cx="3913632" cy="2157984"/>
          </a:xfrm>
          <a:prstGeom prst="rect">
            <a:avLst/>
          </a:prstGeom>
          <a:solidFill>
            <a:srgbClr val="EAE0F8"/>
          </a:solidFill>
          <a:ln w="12700">
            <a:solidFill>
              <a:srgbClr val="5B2D8E"/>
            </a:solidFill>
            <a:prstDash val="solid"/>
          </a:ln>
          <a:effectLst>
            <a:outerShdw sx="100000" sy="100000" kx="0" ky="0" algn="bl" rotWithShape="0" blurRad="38100" dist="25400" dir="8100000">
              <a:srgbClr val="000000">
                <a:alpha val="9000"/>
              </a:srgbClr>
            </a:outerShdw>
          </a:effectLst>
        </p:spPr>
      </p:sp>
      <p:sp>
        <p:nvSpPr>
          <p:cNvPr id="23" name="Shape 21"/>
          <p:cNvSpPr/>
          <p:nvPr/>
        </p:nvSpPr>
        <p:spPr>
          <a:xfrm>
            <a:off x="4187952" y="3401568"/>
            <a:ext cx="50292" cy="2157984"/>
          </a:xfrm>
          <a:prstGeom prst="rect">
            <a:avLst/>
          </a:prstGeom>
          <a:solidFill>
            <a:srgbClr val="5B2D8E"/>
          </a:solidFill>
          <a:ln w="12700">
            <a:solidFill>
              <a:srgbClr val="5B2D8E"/>
            </a:solidFill>
            <a:prstDash val="solid"/>
          </a:ln>
        </p:spPr>
      </p:sp>
      <p:sp>
        <p:nvSpPr>
          <p:cNvPr id="24" name="Text 22"/>
          <p:cNvSpPr/>
          <p:nvPr/>
        </p:nvSpPr>
        <p:spPr>
          <a:xfrm>
            <a:off x="4297680" y="3401568"/>
            <a:ext cx="3749040" cy="256032"/>
          </a:xfrm>
          <a:prstGeom prst="rect">
            <a:avLst/>
          </a:prstGeom>
          <a:noFill/>
          <a:ln/>
        </p:spPr>
        <p:txBody>
          <a:bodyPr wrap="square" lIns="38100" tIns="38100" rIns="38100" bIns="38100" rtlCol="0" anchor="ctr"/>
          <a:lstStyle/>
          <a:p>
            <a:pPr algn="l" indent="0" marL="0">
              <a:buNone/>
            </a:pPr>
            <a:r>
              <a:rPr lang="en-US" sz="800" b="1" dirty="0">
                <a:solidFill>
                  <a:srgbClr val="5B2D8E"/>
                </a:solidFill>
                <a:latin typeface="Calibri" pitchFamily="34" charset="0"/>
                <a:ea typeface="Calibri" pitchFamily="34" charset="-122"/>
                <a:cs typeface="Calibri" pitchFamily="34" charset="-120"/>
              </a:rPr>
              <a:t>Check 2 — Embedding Diversity (Mean Pairwise Cosine Sim)</a:t>
            </a:r>
            <a:endParaRPr lang="en-US" sz="800" dirty="0"/>
          </a:p>
        </p:txBody>
      </p:sp>
      <p:sp>
        <p:nvSpPr>
          <p:cNvPr id="25" name="Text 23"/>
          <p:cNvSpPr/>
          <p:nvPr/>
        </p:nvSpPr>
        <p:spPr>
          <a:xfrm>
            <a:off x="4297680" y="3639312"/>
            <a:ext cx="3749040" cy="1883664"/>
          </a:xfrm>
          <a:prstGeom prst="rect">
            <a:avLst/>
          </a:prstGeom>
          <a:noFill/>
          <a:ln/>
        </p:spPr>
        <p:txBody>
          <a:bodyPr wrap="square" lIns="38100" tIns="38100" rIns="38100" bIns="38100" rtlCol="0" anchor="t"/>
          <a:lstStyle/>
          <a:p>
            <a:pPr algn="l" indent="0" marL="0">
              <a:buNone/>
            </a:pPr>
            <a:r>
              <a:rPr lang="en-US" sz="750" dirty="0">
                <a:solidFill>
                  <a:srgbClr val="1A1A1A"/>
                </a:solidFill>
                <a:latin typeface="Calibri" pitchFamily="34" charset="0"/>
                <a:ea typeface="Calibri" pitchFamily="34" charset="-122"/>
                <a:cs typeface="Calibri" pitchFamily="34" charset="-120"/>
              </a:rPr>
              <a:t>Pre-training: s̄ = (2/n(n-1)) Σᵢ&lt;ⱼ cos(êᵢ, êⱼ)</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Expected range for random 768→512 projection: 0.3–0.7</a:t>
            </a:r>
            <a:endParaRPr lang="en-US" sz="750" dirty="0"/>
          </a:p>
          <a:p>
            <a:pPr algn="l" indent="0" marL="0">
              <a:buNone/>
            </a:pP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Failure: s̄ ≈ 1.0 → all embeddings collapsed to same direction (representation collapse). In Month 2, s̄_pre = 0.9729 (512d cache bug caused this).</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Post-training target: s̄_post &lt; s̄_pre (SupCon pushes apart).</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Pipeline C result: 0.9729 → 0.7854.</a:t>
            </a:r>
            <a:endParaRPr lang="en-US" sz="750" dirty="0"/>
          </a:p>
        </p:txBody>
      </p:sp>
      <p:sp>
        <p:nvSpPr>
          <p:cNvPr id="26" name="Shape 24"/>
          <p:cNvSpPr/>
          <p:nvPr/>
        </p:nvSpPr>
        <p:spPr>
          <a:xfrm>
            <a:off x="8193024" y="3401568"/>
            <a:ext cx="3913632" cy="2157984"/>
          </a:xfrm>
          <a:prstGeom prst="rect">
            <a:avLst/>
          </a:prstGeom>
          <a:solidFill>
            <a:srgbClr val="D1F0E6"/>
          </a:solidFill>
          <a:ln w="12700">
            <a:solidFill>
              <a:srgbClr val="0D7C5F"/>
            </a:solidFill>
            <a:prstDash val="solid"/>
          </a:ln>
          <a:effectLst>
            <a:outerShdw sx="100000" sy="100000" kx="0" ky="0" algn="bl" rotWithShape="0" blurRad="38100" dist="25400" dir="8100000">
              <a:srgbClr val="000000">
                <a:alpha val="9000"/>
              </a:srgbClr>
            </a:outerShdw>
          </a:effectLst>
        </p:spPr>
      </p:sp>
      <p:sp>
        <p:nvSpPr>
          <p:cNvPr id="27" name="Shape 25"/>
          <p:cNvSpPr/>
          <p:nvPr/>
        </p:nvSpPr>
        <p:spPr>
          <a:xfrm>
            <a:off x="8193024" y="3401568"/>
            <a:ext cx="50292" cy="2157984"/>
          </a:xfrm>
          <a:prstGeom prst="rect">
            <a:avLst/>
          </a:prstGeom>
          <a:solidFill>
            <a:srgbClr val="0D7C5F"/>
          </a:solidFill>
          <a:ln w="12700">
            <a:solidFill>
              <a:srgbClr val="0D7C5F"/>
            </a:solidFill>
            <a:prstDash val="solid"/>
          </a:ln>
        </p:spPr>
      </p:sp>
      <p:sp>
        <p:nvSpPr>
          <p:cNvPr id="28" name="Text 26"/>
          <p:cNvSpPr/>
          <p:nvPr/>
        </p:nvSpPr>
        <p:spPr>
          <a:xfrm>
            <a:off x="8302752" y="3401568"/>
            <a:ext cx="3749040" cy="256032"/>
          </a:xfrm>
          <a:prstGeom prst="rect">
            <a:avLst/>
          </a:prstGeom>
          <a:noFill/>
          <a:ln/>
        </p:spPr>
        <p:txBody>
          <a:bodyPr wrap="square" lIns="38100" tIns="38100" rIns="38100" bIns="38100" rtlCol="0" anchor="ctr"/>
          <a:lstStyle/>
          <a:p>
            <a:pPr algn="l" indent="0" marL="0">
              <a:buNone/>
            </a:pPr>
            <a:r>
              <a:rPr lang="en-US" sz="800" b="1" dirty="0">
                <a:solidFill>
                  <a:srgbClr val="0D7C5F"/>
                </a:solidFill>
                <a:latin typeface="Calibri" pitchFamily="34" charset="0"/>
                <a:ea typeface="Calibri" pitchFamily="34" charset="-122"/>
                <a:cs typeface="Calibri" pitchFamily="34" charset="-120"/>
              </a:rPr>
              <a:t>Check 3 — Label Distribution &amp; Positive Pair Count</a:t>
            </a:r>
            <a:endParaRPr lang="en-US" sz="800" dirty="0"/>
          </a:p>
        </p:txBody>
      </p:sp>
      <p:sp>
        <p:nvSpPr>
          <p:cNvPr id="29" name="Text 27"/>
          <p:cNvSpPr/>
          <p:nvPr/>
        </p:nvSpPr>
        <p:spPr>
          <a:xfrm>
            <a:off x="8302752" y="3639312"/>
            <a:ext cx="3749040" cy="1883664"/>
          </a:xfrm>
          <a:prstGeom prst="rect">
            <a:avLst/>
          </a:prstGeom>
          <a:noFill/>
          <a:ln/>
        </p:spPr>
        <p:txBody>
          <a:bodyPr wrap="square" lIns="38100" tIns="38100" rIns="38100" bIns="38100" rtlCol="0" anchor="t"/>
          <a:lstStyle/>
          <a:p>
            <a:pPr algn="l" indent="0" marL="0">
              <a:buNone/>
            </a:pPr>
            <a:r>
              <a:rPr lang="en-US" sz="750" dirty="0">
                <a:solidFill>
                  <a:srgbClr val="1A1A1A"/>
                </a:solidFill>
                <a:latin typeface="Calibri" pitchFamily="34" charset="0"/>
                <a:ea typeface="Calibri" pitchFamily="34" charset="-122"/>
                <a:cs typeface="Calibri" pitchFamily="34" charset="-120"/>
              </a:rPr>
              <a:t>Counts emotion distribution in first batch.</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Computes N_pos = Σ_c n_c(n_c - 1) total positive pairs.</a:t>
            </a:r>
            <a:endParaRPr lang="en-US" sz="750" dirty="0"/>
          </a:p>
          <a:p>
            <a:pPr algn="l" indent="0" marL="0">
              <a:buNone/>
            </a:pP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For B=16, 8 emotions balanced: n_c≈2 → N_pos = 8×2×1 = 16</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If N_pos = 0: SupCon returns 0.0 and produces no gradient.</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This would mean training loop runs silently but learns nothing.</a:t>
            </a:r>
            <a:endParaRPr lang="en-US" sz="750" dirty="0"/>
          </a:p>
          <a:p>
            <a:pPr algn="l" indent="0" marL="0">
              <a:buNone/>
            </a:pP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Fix if N_pos=0: increase BATCH_SIZE to 32 or check DataLoader shuffle.</a:t>
            </a:r>
            <a:endParaRPr lang="en-US" sz="750" dirty="0"/>
          </a:p>
        </p:txBody>
      </p:sp>
      <p:sp>
        <p:nvSpPr>
          <p:cNvPr id="30" name="Shape 28"/>
          <p:cNvSpPr/>
          <p:nvPr/>
        </p:nvSpPr>
        <p:spPr>
          <a:xfrm>
            <a:off x="182880" y="5669280"/>
            <a:ext cx="36576" cy="237744"/>
          </a:xfrm>
          <a:prstGeom prst="rect">
            <a:avLst/>
          </a:prstGeom>
          <a:solidFill>
            <a:srgbClr val="0D7C5F"/>
          </a:solidFill>
          <a:ln w="12700">
            <a:solidFill>
              <a:srgbClr val="0D7C5F"/>
            </a:solidFill>
            <a:prstDash val="solid"/>
          </a:ln>
        </p:spPr>
      </p:sp>
      <p:sp>
        <p:nvSpPr>
          <p:cNvPr id="31" name="Text 29"/>
          <p:cNvSpPr/>
          <p:nvPr/>
        </p:nvSpPr>
        <p:spPr>
          <a:xfrm>
            <a:off x="256032" y="5669280"/>
            <a:ext cx="5486400" cy="237744"/>
          </a:xfrm>
          <a:prstGeom prst="rect">
            <a:avLst/>
          </a:prstGeom>
          <a:noFill/>
          <a:ln/>
        </p:spPr>
        <p:txBody>
          <a:bodyPr wrap="square" lIns="38100" tIns="38100" rIns="38100" bIns="38100" rtlCol="0" anchor="ctr"/>
          <a:lstStyle/>
          <a:p>
            <a:pPr algn="l" indent="0" marL="0">
              <a:buNone/>
            </a:pPr>
            <a:r>
              <a:rPr lang="en-US" sz="800" b="1" dirty="0">
                <a:solidFill>
                  <a:srgbClr val="0D7C5F"/>
                </a:solidFill>
                <a:latin typeface="Calibri" pitchFamily="34" charset="0"/>
                <a:ea typeface="Calibri" pitchFamily="34" charset="-122"/>
                <a:cs typeface="Calibri" pitchFamily="34" charset="-120"/>
              </a:rPr>
              <a:t>Centroid Quality Metrics (Cell 17)</a:t>
            </a:r>
            <a:endParaRPr lang="en-US" sz="800" dirty="0"/>
          </a:p>
        </p:txBody>
      </p:sp>
      <p:sp>
        <p:nvSpPr>
          <p:cNvPr id="32" name="Shape 30"/>
          <p:cNvSpPr/>
          <p:nvPr/>
        </p:nvSpPr>
        <p:spPr>
          <a:xfrm>
            <a:off x="182880" y="5888736"/>
            <a:ext cx="5760720" cy="950976"/>
          </a:xfrm>
          <a:prstGeom prst="rect">
            <a:avLst/>
          </a:prstGeom>
          <a:solidFill>
            <a:srgbClr val="D1F0E6"/>
          </a:solidFill>
          <a:ln w="10160">
            <a:solidFill>
              <a:srgbClr val="0D7C5F"/>
            </a:solidFill>
            <a:prstDash val="solid"/>
          </a:ln>
          <a:effectLst>
            <a:outerShdw sx="100000" sy="100000" kx="0" ky="0" algn="bl" rotWithShape="0" blurRad="38100" dist="25400" dir="8100000">
              <a:srgbClr val="000000">
                <a:alpha val="9000"/>
              </a:srgbClr>
            </a:outerShdw>
          </a:effectLst>
        </p:spPr>
      </p:sp>
      <p:sp>
        <p:nvSpPr>
          <p:cNvPr id="33" name="Text 31"/>
          <p:cNvSpPr/>
          <p:nvPr/>
        </p:nvSpPr>
        <p:spPr>
          <a:xfrm>
            <a:off x="274320" y="5888736"/>
            <a:ext cx="5577840" cy="237744"/>
          </a:xfrm>
          <a:prstGeom prst="rect">
            <a:avLst/>
          </a:prstGeom>
          <a:noFill/>
          <a:ln/>
        </p:spPr>
        <p:txBody>
          <a:bodyPr wrap="square" lIns="38100" tIns="38100" rIns="38100" bIns="38100" rtlCol="0" anchor="ctr"/>
          <a:lstStyle/>
          <a:p>
            <a:pPr algn="l" indent="0" marL="0">
              <a:buNone/>
            </a:pPr>
            <a:r>
              <a:rPr lang="en-US" sz="850" b="1" dirty="0">
                <a:solidFill>
                  <a:srgbClr val="0D7C5F"/>
                </a:solidFill>
                <a:latin typeface="Calibri" pitchFamily="34" charset="0"/>
                <a:ea typeface="Calibri" pitchFamily="34" charset="-122"/>
                <a:cs typeface="Calibri" pitchFamily="34" charset="-120"/>
              </a:rPr>
              <a:t>Centroid norms — all should be ≈1.0</a:t>
            </a:r>
            <a:endParaRPr lang="en-US" sz="850" dirty="0"/>
          </a:p>
        </p:txBody>
      </p:sp>
      <p:sp>
        <p:nvSpPr>
          <p:cNvPr id="34" name="Text 32"/>
          <p:cNvSpPr/>
          <p:nvPr/>
        </p:nvSpPr>
        <p:spPr>
          <a:xfrm>
            <a:off x="274320" y="6108192"/>
            <a:ext cx="5577840" cy="694944"/>
          </a:xfrm>
          <a:prstGeom prst="rect">
            <a:avLst/>
          </a:prstGeom>
          <a:noFill/>
          <a:ln/>
        </p:spPr>
        <p:txBody>
          <a:bodyPr wrap="square" lIns="38100" tIns="38100" rIns="38100" bIns="38100" rtlCol="0" anchor="t"/>
          <a:lstStyle/>
          <a:p>
            <a:pPr algn="l" indent="0" marL="0">
              <a:buNone/>
            </a:pPr>
            <a:r>
              <a:rPr lang="en-US" sz="750" dirty="0">
                <a:solidFill>
                  <a:srgbClr val="1A1A1A"/>
                </a:solidFill>
                <a:latin typeface="Calibri" pitchFamily="34" charset="0"/>
                <a:ea typeface="Calibri" pitchFamily="34" charset="-122"/>
                <a:cs typeface="Calibri" pitchFamily="34" charset="-120"/>
              </a:rPr>
              <a:t>centroids_tensor.norm(dim=1) should all be ≈1.0 (L2-normalised by construction)</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zero_cents = (centroids_tensor.norm(dim=1) &lt; 0.01).sum()</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zero_cents == 0/8: ✅  zero centroid = that emotion had no samples in cache (check parse filter)</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All 8 centroids non-zero: integration test 1.7 verifies this at deployment</a:t>
            </a:r>
            <a:endParaRPr lang="en-US" sz="750" dirty="0"/>
          </a:p>
        </p:txBody>
      </p:sp>
      <p:sp>
        <p:nvSpPr>
          <p:cNvPr id="35" name="Shape 33"/>
          <p:cNvSpPr/>
          <p:nvPr/>
        </p:nvSpPr>
        <p:spPr>
          <a:xfrm>
            <a:off x="6108192" y="5888736"/>
            <a:ext cx="5870448" cy="950976"/>
          </a:xfrm>
          <a:prstGeom prst="rect">
            <a:avLst/>
          </a:prstGeom>
          <a:solidFill>
            <a:srgbClr val="D8F2DF"/>
          </a:solidFill>
          <a:ln w="10160">
            <a:solidFill>
              <a:srgbClr val="1A6B30"/>
            </a:solidFill>
            <a:prstDash val="solid"/>
          </a:ln>
          <a:effectLst>
            <a:outerShdw sx="100000" sy="100000" kx="0" ky="0" algn="bl" rotWithShape="0" blurRad="38100" dist="25400" dir="8100000">
              <a:srgbClr val="000000">
                <a:alpha val="9000"/>
              </a:srgbClr>
            </a:outerShdw>
          </a:effectLst>
        </p:spPr>
      </p:sp>
      <p:sp>
        <p:nvSpPr>
          <p:cNvPr id="36" name="Text 34"/>
          <p:cNvSpPr/>
          <p:nvPr/>
        </p:nvSpPr>
        <p:spPr>
          <a:xfrm>
            <a:off x="6199632" y="5888736"/>
            <a:ext cx="5687568" cy="237744"/>
          </a:xfrm>
          <a:prstGeom prst="rect">
            <a:avLst/>
          </a:prstGeom>
          <a:noFill/>
          <a:ln/>
        </p:spPr>
        <p:txBody>
          <a:bodyPr wrap="square" lIns="38100" tIns="38100" rIns="38100" bIns="38100" rtlCol="0" anchor="ctr"/>
          <a:lstStyle/>
          <a:p>
            <a:pPr algn="l" indent="0" marL="0">
              <a:buNone/>
            </a:pPr>
            <a:r>
              <a:rPr lang="en-US" sz="850" b="1" dirty="0">
                <a:solidFill>
                  <a:srgbClr val="1A6B30"/>
                </a:solidFill>
                <a:latin typeface="Calibri" pitchFamily="34" charset="0"/>
                <a:ea typeface="Calibri" pitchFamily="34" charset="-122"/>
                <a:cs typeface="Calibri" pitchFamily="34" charset="-120"/>
              </a:rPr>
              <a:t>Inter-centroid cosine similarity — lower = better separated</a:t>
            </a:r>
            <a:endParaRPr lang="en-US" sz="850" dirty="0"/>
          </a:p>
        </p:txBody>
      </p:sp>
      <p:sp>
        <p:nvSpPr>
          <p:cNvPr id="37" name="Text 35"/>
          <p:cNvSpPr/>
          <p:nvPr/>
        </p:nvSpPr>
        <p:spPr>
          <a:xfrm>
            <a:off x="6199632" y="6108192"/>
            <a:ext cx="5687568" cy="694944"/>
          </a:xfrm>
          <a:prstGeom prst="rect">
            <a:avLst/>
          </a:prstGeom>
          <a:noFill/>
          <a:ln/>
        </p:spPr>
        <p:txBody>
          <a:bodyPr wrap="square" lIns="38100" tIns="38100" rIns="38100" bIns="38100" rtlCol="0" anchor="t"/>
          <a:lstStyle/>
          <a:p>
            <a:pPr algn="l" indent="0" marL="0">
              <a:buNone/>
            </a:pPr>
            <a:r>
              <a:rPr lang="en-US" sz="750" dirty="0">
                <a:solidFill>
                  <a:srgbClr val="1A1A1A"/>
                </a:solidFill>
                <a:latin typeface="Calibri" pitchFamily="34" charset="0"/>
                <a:ea typeface="Calibri" pitchFamily="34" charset="-122"/>
                <a:cs typeface="Calibri" pitchFamily="34" charset="-120"/>
              </a:rPr>
              <a:t>s̄_off-diag = (1/(8×7)) Σ_{e≠e'} c̄_e · c̄_e'</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sim_mat = centroids @ centroids.T   # [8,8]</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off_diag = sim_mat[~eye(8)].mean()</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 &lt; 0.3: ✅ well-separated emotion clusters</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 0.3–0.5: ⚠️ moderate separation — consider more epochs</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 &gt; 0.5: ⚠️ emotions still close — SupCon not converged</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Training diagnostic: if off_diag barely moves per epoch, check LR and τ</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61520" cy="502920"/>
          </a:xfrm>
          <a:prstGeom prst="rect">
            <a:avLst/>
          </a:prstGeom>
          <a:solidFill>
            <a:srgbClr val="0F3460"/>
          </a:solidFill>
          <a:ln w="12700">
            <a:solidFill>
              <a:srgbClr val="0F3460"/>
            </a:solidFill>
            <a:prstDash val="solid"/>
          </a:ln>
        </p:spPr>
      </p:sp>
      <p:sp>
        <p:nvSpPr>
          <p:cNvPr id="3" name="Text 1"/>
          <p:cNvSpPr/>
          <p:nvPr/>
        </p:nvSpPr>
        <p:spPr>
          <a:xfrm>
            <a:off x="228600" y="0"/>
            <a:ext cx="10515600" cy="502920"/>
          </a:xfrm>
          <a:prstGeom prst="rect">
            <a:avLst/>
          </a:prstGeom>
          <a:noFill/>
          <a:ln/>
        </p:spPr>
        <p:txBody>
          <a:bodyPr wrap="square" lIns="38100" tIns="38100" rIns="38100" bIns="3810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Pipeline C — Saved Outputs, domain_config Update &amp; MIVA-KNIGHT Integration</a:t>
            </a:r>
            <a:endParaRPr lang="en-US" sz="1400" dirty="0"/>
          </a:p>
        </p:txBody>
      </p:sp>
      <p:sp>
        <p:nvSpPr>
          <p:cNvPr id="4" name="Text 2"/>
          <p:cNvSpPr/>
          <p:nvPr/>
        </p:nvSpPr>
        <p:spPr>
          <a:xfrm>
            <a:off x="10789920" y="0"/>
            <a:ext cx="1188720" cy="502920"/>
          </a:xfrm>
          <a:prstGeom prst="rect">
            <a:avLst/>
          </a:prstGeom>
          <a:noFill/>
          <a:ln/>
        </p:spPr>
        <p:txBody>
          <a:bodyPr wrap="square" lIns="38100" tIns="38100" rIns="38100" bIns="38100" rtlCol="0" anchor="ctr"/>
          <a:lstStyle/>
          <a:p>
            <a:pPr algn="r" indent="0" marL="0">
              <a:buNone/>
            </a:pPr>
            <a:r>
              <a:rPr lang="en-US" sz="1100" b="1" dirty="0">
                <a:solidFill>
                  <a:srgbClr val="9EC8FF"/>
                </a:solidFill>
                <a:latin typeface="Calibri" pitchFamily="34" charset="0"/>
                <a:ea typeface="Calibri" pitchFamily="34" charset="-122"/>
                <a:cs typeface="Calibri" pitchFamily="34" charset="-120"/>
              </a:rPr>
              <a:t>9/9</a:t>
            </a:r>
            <a:endParaRPr lang="en-US" sz="1100" dirty="0"/>
          </a:p>
        </p:txBody>
      </p:sp>
      <p:sp>
        <p:nvSpPr>
          <p:cNvPr id="5" name="Text 3"/>
          <p:cNvSpPr/>
          <p:nvPr/>
        </p:nvSpPr>
        <p:spPr>
          <a:xfrm>
            <a:off x="228600" y="274320"/>
            <a:ext cx="11704320" cy="237744"/>
          </a:xfrm>
          <a:prstGeom prst="rect">
            <a:avLst/>
          </a:prstGeom>
          <a:noFill/>
          <a:ln/>
        </p:spPr>
        <p:txBody>
          <a:bodyPr wrap="square" lIns="38100" tIns="38100" rIns="38100" bIns="38100" rtlCol="0" anchor="ctr"/>
          <a:lstStyle/>
          <a:p>
            <a:pPr algn="l" indent="0" marL="0">
              <a:buNone/>
            </a:pPr>
            <a:r>
              <a:rPr lang="en-US" sz="750" dirty="0">
                <a:solidFill>
                  <a:srgbClr val="9EC8FF"/>
                </a:solidFill>
                <a:latin typeface="Calibri" pitchFamily="34" charset="0"/>
                <a:ea typeface="Calibri" pitchFamily="34" charset="-122"/>
                <a:cs typeface="Calibri" pitchFamily="34" charset="-120"/>
              </a:rPr>
              <a:t>audio_projection.pth  |  emotion_centroids.pt  |  domain_config.py path update  |  Pipeline D next steps</a:t>
            </a:r>
            <a:endParaRPr lang="en-US" sz="750" dirty="0"/>
          </a:p>
        </p:txBody>
      </p:sp>
      <p:sp>
        <p:nvSpPr>
          <p:cNvPr id="6" name="Shape 4"/>
          <p:cNvSpPr/>
          <p:nvPr/>
        </p:nvSpPr>
        <p:spPr>
          <a:xfrm>
            <a:off x="0" y="6583680"/>
            <a:ext cx="12161520" cy="274320"/>
          </a:xfrm>
          <a:prstGeom prst="rect">
            <a:avLst/>
          </a:prstGeom>
          <a:solidFill>
            <a:srgbClr val="0F3460"/>
          </a:solidFill>
          <a:ln w="12700">
            <a:solidFill>
              <a:srgbClr val="0F3460"/>
            </a:solidFill>
            <a:prstDash val="solid"/>
          </a:ln>
        </p:spPr>
      </p:sp>
      <p:sp>
        <p:nvSpPr>
          <p:cNvPr id="7" name="Text 5"/>
          <p:cNvSpPr/>
          <p:nvPr/>
        </p:nvSpPr>
        <p:spPr>
          <a:xfrm>
            <a:off x="228600" y="6583680"/>
            <a:ext cx="11704320" cy="274320"/>
          </a:xfrm>
          <a:prstGeom prst="rect">
            <a:avLst/>
          </a:prstGeom>
          <a:noFill/>
          <a:ln/>
        </p:spPr>
        <p:txBody>
          <a:bodyPr wrap="square" lIns="38100" tIns="38100" rIns="38100" bIns="38100" rtlCol="0" anchor="ctr"/>
          <a:lstStyle/>
          <a:p>
            <a:pPr algn="l" indent="0" marL="0">
              <a:buNone/>
            </a:pPr>
            <a:r>
              <a:rPr lang="en-US" sz="600" dirty="0">
                <a:solidFill>
                  <a:srgbClr val="9EC8FF"/>
                </a:solidFill>
                <a:latin typeface="Calibri" pitchFamily="34" charset="0"/>
                <a:ea typeface="Calibri" pitchFamily="34" charset="-122"/>
                <a:cs typeface="Calibri" pitchFamily="34" charset="-120"/>
              </a:rPr>
              <a:t>MIVA-KNIGHT  |  IT 581 Capstone  |  Concordia University of Edmonton  |  Pipeline C — RAVDESS Standalone Audio Emotion Training</a:t>
            </a:r>
            <a:endParaRPr lang="en-US" sz="600" dirty="0"/>
          </a:p>
        </p:txBody>
      </p:sp>
      <p:sp>
        <p:nvSpPr>
          <p:cNvPr id="8" name="Shape 6"/>
          <p:cNvSpPr/>
          <p:nvPr/>
        </p:nvSpPr>
        <p:spPr>
          <a:xfrm>
            <a:off x="182880" y="621792"/>
            <a:ext cx="36576" cy="237744"/>
          </a:xfrm>
          <a:prstGeom prst="rect">
            <a:avLst/>
          </a:prstGeom>
          <a:solidFill>
            <a:srgbClr val="0D7C5F"/>
          </a:solidFill>
          <a:ln w="12700">
            <a:solidFill>
              <a:srgbClr val="0D7C5F"/>
            </a:solidFill>
            <a:prstDash val="solid"/>
          </a:ln>
        </p:spPr>
      </p:sp>
      <p:sp>
        <p:nvSpPr>
          <p:cNvPr id="9" name="Text 7"/>
          <p:cNvSpPr/>
          <p:nvPr/>
        </p:nvSpPr>
        <p:spPr>
          <a:xfrm>
            <a:off x="256032" y="621792"/>
            <a:ext cx="5486400" cy="237744"/>
          </a:xfrm>
          <a:prstGeom prst="rect">
            <a:avLst/>
          </a:prstGeom>
          <a:noFill/>
          <a:ln/>
        </p:spPr>
        <p:txBody>
          <a:bodyPr wrap="square" lIns="38100" tIns="38100" rIns="38100" bIns="38100" rtlCol="0" anchor="ctr"/>
          <a:lstStyle/>
          <a:p>
            <a:pPr algn="l" indent="0" marL="0">
              <a:buNone/>
            </a:pPr>
            <a:r>
              <a:rPr lang="en-US" sz="800" b="1" dirty="0">
                <a:solidFill>
                  <a:srgbClr val="0D7C5F"/>
                </a:solidFill>
                <a:latin typeface="Calibri" pitchFamily="34" charset="0"/>
                <a:ea typeface="Calibri" pitchFamily="34" charset="-122"/>
                <a:cs typeface="Calibri" pitchFamily="34" charset="-120"/>
              </a:rPr>
              <a:t>All Pipeline C Outputs — Files Saved to Google Drive</a:t>
            </a:r>
            <a:endParaRPr lang="en-US" sz="800" dirty="0"/>
          </a:p>
        </p:txBody>
      </p:sp>
      <p:sp>
        <p:nvSpPr>
          <p:cNvPr id="10" name="Shape 8"/>
          <p:cNvSpPr/>
          <p:nvPr/>
        </p:nvSpPr>
        <p:spPr>
          <a:xfrm>
            <a:off x="182880" y="859536"/>
            <a:ext cx="2834640" cy="2542032"/>
          </a:xfrm>
          <a:prstGeom prst="rect">
            <a:avLst/>
          </a:prstGeom>
          <a:solidFill>
            <a:srgbClr val="F3E5F5"/>
          </a:solidFill>
          <a:ln w="11430">
            <a:solidFill>
              <a:srgbClr val="7B1FA2"/>
            </a:solidFill>
            <a:prstDash val="solid"/>
          </a:ln>
          <a:effectLst>
            <a:outerShdw sx="100000" sy="100000" kx="0" ky="0" algn="bl" rotWithShape="0" blurRad="38100" dist="25400" dir="8100000">
              <a:srgbClr val="000000">
                <a:alpha val="9000"/>
              </a:srgbClr>
            </a:outerShdw>
          </a:effectLst>
        </p:spPr>
      </p:sp>
      <p:sp>
        <p:nvSpPr>
          <p:cNvPr id="11" name="Shape 9"/>
          <p:cNvSpPr/>
          <p:nvPr/>
        </p:nvSpPr>
        <p:spPr>
          <a:xfrm>
            <a:off x="182880" y="859536"/>
            <a:ext cx="50292" cy="2542032"/>
          </a:xfrm>
          <a:prstGeom prst="rect">
            <a:avLst/>
          </a:prstGeom>
          <a:solidFill>
            <a:srgbClr val="7B1FA2"/>
          </a:solidFill>
          <a:ln w="12700">
            <a:solidFill>
              <a:srgbClr val="7B1FA2"/>
            </a:solidFill>
            <a:prstDash val="solid"/>
          </a:ln>
        </p:spPr>
      </p:sp>
      <p:sp>
        <p:nvSpPr>
          <p:cNvPr id="12" name="Text 10"/>
          <p:cNvSpPr/>
          <p:nvPr/>
        </p:nvSpPr>
        <p:spPr>
          <a:xfrm>
            <a:off x="274320" y="859536"/>
            <a:ext cx="2670048" cy="237744"/>
          </a:xfrm>
          <a:prstGeom prst="rect">
            <a:avLst/>
          </a:prstGeom>
          <a:noFill/>
          <a:ln/>
        </p:spPr>
        <p:txBody>
          <a:bodyPr wrap="square" lIns="38100" tIns="38100" rIns="38100" bIns="38100" rtlCol="0" anchor="ctr"/>
          <a:lstStyle/>
          <a:p>
            <a:pPr algn="l" indent="0" marL="0">
              <a:buNone/>
            </a:pPr>
            <a:r>
              <a:rPr lang="en-US" sz="800" b="1" dirty="0">
                <a:solidFill>
                  <a:srgbClr val="7B1FA2"/>
                </a:solidFill>
                <a:latin typeface="Calibri" pitchFamily="34" charset="0"/>
                <a:ea typeface="Calibri" pitchFamily="34" charset="-122"/>
                <a:cs typeface="Calibri" pitchFamily="34" charset="-120"/>
              </a:rPr>
              <a:t>audio_projection.pth</a:t>
            </a:r>
            <a:endParaRPr lang="en-US" sz="800" dirty="0"/>
          </a:p>
        </p:txBody>
      </p:sp>
      <p:sp>
        <p:nvSpPr>
          <p:cNvPr id="13" name="Text 11"/>
          <p:cNvSpPr/>
          <p:nvPr/>
        </p:nvSpPr>
        <p:spPr>
          <a:xfrm>
            <a:off x="274320" y="1078992"/>
            <a:ext cx="2670048" cy="182880"/>
          </a:xfrm>
          <a:prstGeom prst="rect">
            <a:avLst/>
          </a:prstGeom>
          <a:noFill/>
          <a:ln/>
        </p:spPr>
        <p:txBody>
          <a:bodyPr wrap="square" lIns="38100" tIns="38100" rIns="38100" bIns="38100" rtlCol="0" anchor="ctr"/>
          <a:lstStyle/>
          <a:p>
            <a:pPr algn="l" indent="0" marL="0">
              <a:buNone/>
            </a:pPr>
            <a:r>
              <a:rPr lang="en-US" sz="700" dirty="0">
                <a:solidFill>
                  <a:srgbClr val="444444"/>
                </a:solidFill>
                <a:latin typeface="Calibri" pitchFamily="34" charset="0"/>
                <a:ea typeface="Calibri" pitchFamily="34" charset="-122"/>
                <a:cs typeface="Calibri" pitchFamily="34" charset="-120"/>
              </a:rPr>
              <a:t>PyTorch checkpoint dict</a:t>
            </a:r>
            <a:endParaRPr lang="en-US" sz="700" dirty="0"/>
          </a:p>
        </p:txBody>
      </p:sp>
      <p:sp>
        <p:nvSpPr>
          <p:cNvPr id="14" name="Text 12"/>
          <p:cNvSpPr/>
          <p:nvPr/>
        </p:nvSpPr>
        <p:spPr>
          <a:xfrm>
            <a:off x="274320" y="1243584"/>
            <a:ext cx="2670048" cy="182880"/>
          </a:xfrm>
          <a:prstGeom prst="rect">
            <a:avLst/>
          </a:prstGeom>
          <a:noFill/>
          <a:ln/>
        </p:spPr>
        <p:txBody>
          <a:bodyPr wrap="square" lIns="38100" tIns="38100" rIns="38100" bIns="38100" rtlCol="0" anchor="ctr"/>
          <a:lstStyle/>
          <a:p>
            <a:pPr algn="l" indent="0" marL="0">
              <a:buNone/>
            </a:pPr>
            <a:r>
              <a:rPr lang="en-US" sz="700" dirty="0">
                <a:solidFill>
                  <a:srgbClr val="1A1A1A"/>
                </a:solidFill>
                <a:latin typeface="Calibri" pitchFamily="34" charset="0"/>
                <a:ea typeface="Calibri" pitchFamily="34" charset="-122"/>
                <a:cs typeface="Calibri" pitchFamily="34" charset="-120"/>
              </a:rPr>
              <a:t>pipeline.py, domain_config.py</a:t>
            </a:r>
            <a:endParaRPr lang="en-US" sz="700" dirty="0"/>
          </a:p>
        </p:txBody>
      </p:sp>
      <p:sp>
        <p:nvSpPr>
          <p:cNvPr id="15" name="Shape 13"/>
          <p:cNvSpPr/>
          <p:nvPr/>
        </p:nvSpPr>
        <p:spPr>
          <a:xfrm>
            <a:off x="274320" y="1408176"/>
            <a:ext cx="2651760" cy="1956816"/>
          </a:xfrm>
          <a:prstGeom prst="rect">
            <a:avLst/>
          </a:prstGeom>
          <a:solidFill>
            <a:srgbClr val="1E1E2E"/>
          </a:solidFill>
          <a:ln w="10160">
            <a:solidFill>
              <a:srgbClr val="AAAAAA"/>
            </a:solidFill>
            <a:prstDash val="solid"/>
          </a:ln>
        </p:spPr>
      </p:sp>
      <p:sp>
        <p:nvSpPr>
          <p:cNvPr id="16" name="Text 14"/>
          <p:cNvSpPr/>
          <p:nvPr/>
        </p:nvSpPr>
        <p:spPr>
          <a:xfrm>
            <a:off x="347472" y="1444752"/>
            <a:ext cx="2523744" cy="173736"/>
          </a:xfrm>
          <a:prstGeom prst="rect">
            <a:avLst/>
          </a:prstGeom>
          <a:noFill/>
          <a:ln/>
        </p:spPr>
        <p:txBody>
          <a:bodyPr wrap="square" lIns="38100" tIns="38100" rIns="38100" bIns="38100" rtlCol="0" anchor="ctr"/>
          <a:lstStyle/>
          <a:p>
            <a:pPr algn="l" indent="0" marL="0">
              <a:buNone/>
            </a:pPr>
            <a:r>
              <a:rPr lang="en-US" sz="650" dirty="0">
                <a:solidFill>
                  <a:srgbClr val="E2E8F0"/>
                </a:solidFill>
                <a:latin typeface="Consolas" pitchFamily="34" charset="0"/>
                <a:ea typeface="Consolas" pitchFamily="34" charset="-122"/>
                <a:cs typeface="Consolas" pitchFamily="34" charset="-120"/>
              </a:rPr>
              <a:t>{</a:t>
            </a:r>
            <a:endParaRPr lang="en-US" sz="650" dirty="0"/>
          </a:p>
        </p:txBody>
      </p:sp>
      <p:sp>
        <p:nvSpPr>
          <p:cNvPr id="17" name="Text 15"/>
          <p:cNvSpPr/>
          <p:nvPr/>
        </p:nvSpPr>
        <p:spPr>
          <a:xfrm>
            <a:off x="347472" y="1618488"/>
            <a:ext cx="2523744" cy="173736"/>
          </a:xfrm>
          <a:prstGeom prst="rect">
            <a:avLst/>
          </a:prstGeom>
          <a:noFill/>
          <a:ln/>
        </p:spPr>
        <p:txBody>
          <a:bodyPr wrap="square" lIns="38100" tIns="38100" rIns="38100" bIns="38100" rtlCol="0" anchor="ctr"/>
          <a:lstStyle/>
          <a:p>
            <a:pPr algn="l" indent="0" marL="0">
              <a:buNone/>
            </a:pPr>
            <a:r>
              <a:rPr lang="en-US" sz="650" dirty="0">
                <a:solidFill>
                  <a:srgbClr val="E2E8F0"/>
                </a:solidFill>
                <a:latin typeface="Consolas" pitchFamily="34" charset="0"/>
                <a:ea typeface="Consolas" pitchFamily="34" charset="-122"/>
                <a:cs typeface="Consolas" pitchFamily="34" charset="-120"/>
              </a:rPr>
              <a:t>  'model_state_dict': audio_proj.state_dict(),</a:t>
            </a:r>
            <a:endParaRPr lang="en-US" sz="650" dirty="0"/>
          </a:p>
        </p:txBody>
      </p:sp>
      <p:sp>
        <p:nvSpPr>
          <p:cNvPr id="18" name="Text 16"/>
          <p:cNvSpPr/>
          <p:nvPr/>
        </p:nvSpPr>
        <p:spPr>
          <a:xfrm>
            <a:off x="347472" y="1792224"/>
            <a:ext cx="2523744" cy="173736"/>
          </a:xfrm>
          <a:prstGeom prst="rect">
            <a:avLst/>
          </a:prstGeom>
          <a:noFill/>
          <a:ln/>
        </p:spPr>
        <p:txBody>
          <a:bodyPr wrap="square" lIns="38100" tIns="38100" rIns="38100" bIns="38100" rtlCol="0" anchor="ctr"/>
          <a:lstStyle/>
          <a:p>
            <a:pPr algn="l" indent="0" marL="0">
              <a:buNone/>
            </a:pPr>
            <a:r>
              <a:rPr lang="en-US" sz="650" dirty="0">
                <a:solidFill>
                  <a:srgbClr val="E2E8F0"/>
                </a:solidFill>
                <a:latin typeface="Consolas" pitchFamily="34" charset="0"/>
                <a:ea typeface="Consolas" pitchFamily="34" charset="-122"/>
                <a:cs typeface="Consolas" pitchFamily="34" charset="-120"/>
              </a:rPr>
              <a:t>  'wav2vec_dim'     : 768,    # ← critical: confirms 768d (not old 512d)</a:t>
            </a:r>
            <a:endParaRPr lang="en-US" sz="650" dirty="0"/>
          </a:p>
        </p:txBody>
      </p:sp>
      <p:sp>
        <p:nvSpPr>
          <p:cNvPr id="19" name="Text 17"/>
          <p:cNvSpPr/>
          <p:nvPr/>
        </p:nvSpPr>
        <p:spPr>
          <a:xfrm>
            <a:off x="347472" y="1965960"/>
            <a:ext cx="2523744" cy="173736"/>
          </a:xfrm>
          <a:prstGeom prst="rect">
            <a:avLst/>
          </a:prstGeom>
          <a:noFill/>
          <a:ln/>
        </p:spPr>
        <p:txBody>
          <a:bodyPr wrap="square" lIns="38100" tIns="38100" rIns="38100" bIns="38100" rtlCol="0" anchor="ctr"/>
          <a:lstStyle/>
          <a:p>
            <a:pPr algn="l" indent="0" marL="0">
              <a:buNone/>
            </a:pPr>
            <a:r>
              <a:rPr lang="en-US" sz="650" dirty="0">
                <a:solidFill>
                  <a:srgbClr val="E2E8F0"/>
                </a:solidFill>
                <a:latin typeface="Consolas" pitchFamily="34" charset="0"/>
                <a:ea typeface="Consolas" pitchFamily="34" charset="-122"/>
                <a:cs typeface="Consolas" pitchFamily="34" charset="-120"/>
              </a:rPr>
              <a:t>  'embed_dim'       : 512,</a:t>
            </a:r>
            <a:endParaRPr lang="en-US" sz="650" dirty="0"/>
          </a:p>
        </p:txBody>
      </p:sp>
      <p:sp>
        <p:nvSpPr>
          <p:cNvPr id="20" name="Text 18"/>
          <p:cNvSpPr/>
          <p:nvPr/>
        </p:nvSpPr>
        <p:spPr>
          <a:xfrm>
            <a:off x="347472" y="2139696"/>
            <a:ext cx="2523744" cy="173736"/>
          </a:xfrm>
          <a:prstGeom prst="rect">
            <a:avLst/>
          </a:prstGeom>
          <a:noFill/>
          <a:ln/>
        </p:spPr>
        <p:txBody>
          <a:bodyPr wrap="square" lIns="38100" tIns="38100" rIns="38100" bIns="38100" rtlCol="0" anchor="ctr"/>
          <a:lstStyle/>
          <a:p>
            <a:pPr algn="l" indent="0" marL="0">
              <a:buNone/>
            </a:pPr>
            <a:r>
              <a:rPr lang="en-US" sz="650" dirty="0">
                <a:solidFill>
                  <a:srgbClr val="E2E8F0"/>
                </a:solidFill>
                <a:latin typeface="Consolas" pitchFamily="34" charset="0"/>
                <a:ea typeface="Consolas" pitchFamily="34" charset="-122"/>
                <a:cs typeface="Consolas" pitchFamily="34" charset="-120"/>
              </a:rPr>
              <a:t>  'best_epoch'      : int,</a:t>
            </a:r>
            <a:endParaRPr lang="en-US" sz="650" dirty="0"/>
          </a:p>
        </p:txBody>
      </p:sp>
      <p:sp>
        <p:nvSpPr>
          <p:cNvPr id="21" name="Text 19"/>
          <p:cNvSpPr/>
          <p:nvPr/>
        </p:nvSpPr>
        <p:spPr>
          <a:xfrm>
            <a:off x="347472" y="2313432"/>
            <a:ext cx="2523744" cy="173736"/>
          </a:xfrm>
          <a:prstGeom prst="rect">
            <a:avLst/>
          </a:prstGeom>
          <a:noFill/>
          <a:ln/>
        </p:spPr>
        <p:txBody>
          <a:bodyPr wrap="square" lIns="38100" tIns="38100" rIns="38100" bIns="38100" rtlCol="0" anchor="ctr"/>
          <a:lstStyle/>
          <a:p>
            <a:pPr algn="l" indent="0" marL="0">
              <a:buNone/>
            </a:pPr>
            <a:r>
              <a:rPr lang="en-US" sz="650" dirty="0">
                <a:solidFill>
                  <a:srgbClr val="E2E8F0"/>
                </a:solidFill>
                <a:latin typeface="Consolas" pitchFamily="34" charset="0"/>
                <a:ea typeface="Consolas" pitchFamily="34" charset="-122"/>
                <a:cs typeface="Consolas" pitchFamily="34" charset="-120"/>
              </a:rPr>
              <a:t>  'best_accuracy'   : float,</a:t>
            </a:r>
            <a:endParaRPr lang="en-US" sz="650" dirty="0"/>
          </a:p>
        </p:txBody>
      </p:sp>
      <p:sp>
        <p:nvSpPr>
          <p:cNvPr id="22" name="Text 20"/>
          <p:cNvSpPr/>
          <p:nvPr/>
        </p:nvSpPr>
        <p:spPr>
          <a:xfrm>
            <a:off x="347472" y="2487168"/>
            <a:ext cx="2523744" cy="173736"/>
          </a:xfrm>
          <a:prstGeom prst="rect">
            <a:avLst/>
          </a:prstGeom>
          <a:noFill/>
          <a:ln/>
        </p:spPr>
        <p:txBody>
          <a:bodyPr wrap="square" lIns="38100" tIns="38100" rIns="38100" bIns="38100" rtlCol="0" anchor="ctr"/>
          <a:lstStyle/>
          <a:p>
            <a:pPr algn="l" indent="0" marL="0">
              <a:buNone/>
            </a:pPr>
            <a:r>
              <a:rPr lang="en-US" sz="650" dirty="0">
                <a:solidFill>
                  <a:srgbClr val="E2E8F0"/>
                </a:solidFill>
                <a:latin typeface="Consolas" pitchFamily="34" charset="0"/>
                <a:ea typeface="Consolas" pitchFamily="34" charset="-122"/>
                <a:cs typeface="Consolas" pitchFamily="34" charset="-120"/>
              </a:rPr>
              <a:t>  'pipeline'        : 'C-RAVDESS-standalone'</a:t>
            </a:r>
            <a:endParaRPr lang="en-US" sz="650" dirty="0"/>
          </a:p>
        </p:txBody>
      </p:sp>
      <p:sp>
        <p:nvSpPr>
          <p:cNvPr id="23" name="Text 21"/>
          <p:cNvSpPr/>
          <p:nvPr/>
        </p:nvSpPr>
        <p:spPr>
          <a:xfrm>
            <a:off x="347472" y="2660904"/>
            <a:ext cx="2523744" cy="173736"/>
          </a:xfrm>
          <a:prstGeom prst="rect">
            <a:avLst/>
          </a:prstGeom>
          <a:noFill/>
          <a:ln/>
        </p:spPr>
        <p:txBody>
          <a:bodyPr wrap="square" lIns="38100" tIns="38100" rIns="38100" bIns="38100" rtlCol="0" anchor="ctr"/>
          <a:lstStyle/>
          <a:p>
            <a:pPr algn="l" indent="0" marL="0">
              <a:buNone/>
            </a:pPr>
            <a:r>
              <a:rPr lang="en-US" sz="650" dirty="0">
                <a:solidFill>
                  <a:srgbClr val="E2E8F0"/>
                </a:solidFill>
                <a:latin typeface="Consolas" pitchFamily="34" charset="0"/>
                <a:ea typeface="Consolas" pitchFamily="34" charset="-122"/>
                <a:cs typeface="Consolas" pitchFamily="34" charset="-120"/>
              </a:rPr>
              <a:t>}</a:t>
            </a:r>
            <a:endParaRPr lang="en-US" sz="650" dirty="0"/>
          </a:p>
        </p:txBody>
      </p:sp>
      <p:sp>
        <p:nvSpPr>
          <p:cNvPr id="24" name="Shape 22"/>
          <p:cNvSpPr/>
          <p:nvPr/>
        </p:nvSpPr>
        <p:spPr>
          <a:xfrm>
            <a:off x="3182112" y="859536"/>
            <a:ext cx="2834640" cy="2542032"/>
          </a:xfrm>
          <a:prstGeom prst="rect">
            <a:avLst/>
          </a:prstGeom>
          <a:solidFill>
            <a:srgbClr val="D1F0E6"/>
          </a:solidFill>
          <a:ln w="11430">
            <a:solidFill>
              <a:srgbClr val="0D7C5F"/>
            </a:solidFill>
            <a:prstDash val="solid"/>
          </a:ln>
          <a:effectLst>
            <a:outerShdw sx="100000" sy="100000" kx="0" ky="0" algn="bl" rotWithShape="0" blurRad="38100" dist="25400" dir="8100000">
              <a:srgbClr val="000000">
                <a:alpha val="9000"/>
              </a:srgbClr>
            </a:outerShdw>
          </a:effectLst>
        </p:spPr>
      </p:sp>
      <p:sp>
        <p:nvSpPr>
          <p:cNvPr id="25" name="Shape 23"/>
          <p:cNvSpPr/>
          <p:nvPr/>
        </p:nvSpPr>
        <p:spPr>
          <a:xfrm>
            <a:off x="3182112" y="859536"/>
            <a:ext cx="50292" cy="2542032"/>
          </a:xfrm>
          <a:prstGeom prst="rect">
            <a:avLst/>
          </a:prstGeom>
          <a:solidFill>
            <a:srgbClr val="0D7C5F"/>
          </a:solidFill>
          <a:ln w="12700">
            <a:solidFill>
              <a:srgbClr val="0D7C5F"/>
            </a:solidFill>
            <a:prstDash val="solid"/>
          </a:ln>
        </p:spPr>
      </p:sp>
      <p:sp>
        <p:nvSpPr>
          <p:cNvPr id="26" name="Text 24"/>
          <p:cNvSpPr/>
          <p:nvPr/>
        </p:nvSpPr>
        <p:spPr>
          <a:xfrm>
            <a:off x="3273552" y="859536"/>
            <a:ext cx="2670048" cy="237744"/>
          </a:xfrm>
          <a:prstGeom prst="rect">
            <a:avLst/>
          </a:prstGeom>
          <a:noFill/>
          <a:ln/>
        </p:spPr>
        <p:txBody>
          <a:bodyPr wrap="square" lIns="38100" tIns="38100" rIns="38100" bIns="38100" rtlCol="0" anchor="ctr"/>
          <a:lstStyle/>
          <a:p>
            <a:pPr algn="l" indent="0" marL="0">
              <a:buNone/>
            </a:pPr>
            <a:r>
              <a:rPr lang="en-US" sz="800" b="1" dirty="0">
                <a:solidFill>
                  <a:srgbClr val="0D7C5F"/>
                </a:solidFill>
                <a:latin typeface="Calibri" pitchFamily="34" charset="0"/>
                <a:ea typeface="Calibri" pitchFamily="34" charset="-122"/>
                <a:cs typeface="Calibri" pitchFamily="34" charset="-120"/>
              </a:rPr>
              <a:t>emotion_centroids.pt</a:t>
            </a:r>
            <a:endParaRPr lang="en-US" sz="800" dirty="0"/>
          </a:p>
        </p:txBody>
      </p:sp>
      <p:sp>
        <p:nvSpPr>
          <p:cNvPr id="27" name="Text 25"/>
          <p:cNvSpPr/>
          <p:nvPr/>
        </p:nvSpPr>
        <p:spPr>
          <a:xfrm>
            <a:off x="3273552" y="1078992"/>
            <a:ext cx="2670048" cy="182880"/>
          </a:xfrm>
          <a:prstGeom prst="rect">
            <a:avLst/>
          </a:prstGeom>
          <a:noFill/>
          <a:ln/>
        </p:spPr>
        <p:txBody>
          <a:bodyPr wrap="square" lIns="38100" tIns="38100" rIns="38100" bIns="38100" rtlCol="0" anchor="ctr"/>
          <a:lstStyle/>
          <a:p>
            <a:pPr algn="l" indent="0" marL="0">
              <a:buNone/>
            </a:pPr>
            <a:r>
              <a:rPr lang="en-US" sz="700" dirty="0">
                <a:solidFill>
                  <a:srgbClr val="444444"/>
                </a:solidFill>
                <a:latin typeface="Calibri" pitchFamily="34" charset="0"/>
                <a:ea typeface="Calibri" pitchFamily="34" charset="-122"/>
                <a:cs typeface="Calibri" pitchFamily="34" charset="-120"/>
              </a:rPr>
              <a:t>Raw tensor [8, 512]</a:t>
            </a:r>
            <a:endParaRPr lang="en-US" sz="700" dirty="0"/>
          </a:p>
        </p:txBody>
      </p:sp>
      <p:sp>
        <p:nvSpPr>
          <p:cNvPr id="28" name="Text 26"/>
          <p:cNvSpPr/>
          <p:nvPr/>
        </p:nvSpPr>
        <p:spPr>
          <a:xfrm>
            <a:off x="3273552" y="1243584"/>
            <a:ext cx="2670048" cy="182880"/>
          </a:xfrm>
          <a:prstGeom prst="rect">
            <a:avLst/>
          </a:prstGeom>
          <a:noFill/>
          <a:ln/>
        </p:spPr>
        <p:txBody>
          <a:bodyPr wrap="square" lIns="38100" tIns="38100" rIns="38100" bIns="38100" rtlCol="0" anchor="ctr"/>
          <a:lstStyle/>
          <a:p>
            <a:pPr algn="l" indent="0" marL="0">
              <a:buNone/>
            </a:pPr>
            <a:r>
              <a:rPr lang="en-US" sz="700" dirty="0">
                <a:solidFill>
                  <a:srgbClr val="1A1A1A"/>
                </a:solidFill>
                <a:latin typeface="Calibri" pitchFamily="34" charset="0"/>
                <a:ea typeface="Calibri" pitchFamily="34" charset="-122"/>
                <a:cs typeface="Calibri" pitchFamily="34" charset="-120"/>
              </a:rPr>
              <a:t>Inference: detect user emotion at query time</a:t>
            </a:r>
            <a:endParaRPr lang="en-US" sz="700" dirty="0"/>
          </a:p>
        </p:txBody>
      </p:sp>
      <p:sp>
        <p:nvSpPr>
          <p:cNvPr id="29" name="Shape 27"/>
          <p:cNvSpPr/>
          <p:nvPr/>
        </p:nvSpPr>
        <p:spPr>
          <a:xfrm>
            <a:off x="3273552" y="1408176"/>
            <a:ext cx="2651760" cy="1956816"/>
          </a:xfrm>
          <a:prstGeom prst="rect">
            <a:avLst/>
          </a:prstGeom>
          <a:solidFill>
            <a:srgbClr val="1E1E2E"/>
          </a:solidFill>
          <a:ln w="10160">
            <a:solidFill>
              <a:srgbClr val="AAAAAA"/>
            </a:solidFill>
            <a:prstDash val="solid"/>
          </a:ln>
        </p:spPr>
      </p:sp>
      <p:sp>
        <p:nvSpPr>
          <p:cNvPr id="30" name="Text 28"/>
          <p:cNvSpPr/>
          <p:nvPr/>
        </p:nvSpPr>
        <p:spPr>
          <a:xfrm>
            <a:off x="3346704" y="1444752"/>
            <a:ext cx="2523744" cy="173736"/>
          </a:xfrm>
          <a:prstGeom prst="rect">
            <a:avLst/>
          </a:prstGeom>
          <a:noFill/>
          <a:ln/>
        </p:spPr>
        <p:txBody>
          <a:bodyPr wrap="square" lIns="38100" tIns="38100" rIns="38100" bIns="38100" rtlCol="0" anchor="ctr"/>
          <a:lstStyle/>
          <a:p>
            <a:pPr algn="l" indent="0" marL="0">
              <a:buNone/>
            </a:pPr>
            <a:r>
              <a:rPr lang="en-US" sz="650" dirty="0">
                <a:solidFill>
                  <a:srgbClr val="E2E8F0"/>
                </a:solidFill>
                <a:latin typeface="Consolas" pitchFamily="34" charset="0"/>
                <a:ea typeface="Consolas" pitchFamily="34" charset="-122"/>
                <a:cs typeface="Consolas" pitchFamily="34" charset="-120"/>
              </a:rPr>
              <a:t>Row order (matches EMOTIONS_8 list):</a:t>
            </a:r>
            <a:endParaRPr lang="en-US" sz="650" dirty="0"/>
          </a:p>
        </p:txBody>
      </p:sp>
      <p:sp>
        <p:nvSpPr>
          <p:cNvPr id="31" name="Text 29"/>
          <p:cNvSpPr/>
          <p:nvPr/>
        </p:nvSpPr>
        <p:spPr>
          <a:xfrm>
            <a:off x="3346704" y="1618488"/>
            <a:ext cx="2523744" cy="173736"/>
          </a:xfrm>
          <a:prstGeom prst="rect">
            <a:avLst/>
          </a:prstGeom>
          <a:noFill/>
          <a:ln/>
        </p:spPr>
        <p:txBody>
          <a:bodyPr wrap="square" lIns="38100" tIns="38100" rIns="38100" bIns="38100" rtlCol="0" anchor="ctr"/>
          <a:lstStyle/>
          <a:p>
            <a:pPr algn="l" indent="0" marL="0">
              <a:buNone/>
            </a:pPr>
            <a:r>
              <a:rPr lang="en-US" sz="650" dirty="0">
                <a:solidFill>
                  <a:srgbClr val="E2E8F0"/>
                </a:solidFill>
                <a:latin typeface="Consolas" pitchFamily="34" charset="0"/>
                <a:ea typeface="Consolas" pitchFamily="34" charset="-122"/>
                <a:cs typeface="Consolas" pitchFamily="34" charset="-120"/>
              </a:rPr>
              <a:t>  Row 0: neutral  Row 1: calm</a:t>
            </a:r>
            <a:endParaRPr lang="en-US" sz="650" dirty="0"/>
          </a:p>
        </p:txBody>
      </p:sp>
      <p:sp>
        <p:nvSpPr>
          <p:cNvPr id="32" name="Text 30"/>
          <p:cNvSpPr/>
          <p:nvPr/>
        </p:nvSpPr>
        <p:spPr>
          <a:xfrm>
            <a:off x="3346704" y="1792224"/>
            <a:ext cx="2523744" cy="173736"/>
          </a:xfrm>
          <a:prstGeom prst="rect">
            <a:avLst/>
          </a:prstGeom>
          <a:noFill/>
          <a:ln/>
        </p:spPr>
        <p:txBody>
          <a:bodyPr wrap="square" lIns="38100" tIns="38100" rIns="38100" bIns="38100" rtlCol="0" anchor="ctr"/>
          <a:lstStyle/>
          <a:p>
            <a:pPr algn="l" indent="0" marL="0">
              <a:buNone/>
            </a:pPr>
            <a:r>
              <a:rPr lang="en-US" sz="650" dirty="0">
                <a:solidFill>
                  <a:srgbClr val="E2E8F0"/>
                </a:solidFill>
                <a:latin typeface="Consolas" pitchFamily="34" charset="0"/>
                <a:ea typeface="Consolas" pitchFamily="34" charset="-122"/>
                <a:cs typeface="Consolas" pitchFamily="34" charset="-120"/>
              </a:rPr>
              <a:t>  Row 2: happy    Row 3: sad</a:t>
            </a:r>
            <a:endParaRPr lang="en-US" sz="650" dirty="0"/>
          </a:p>
        </p:txBody>
      </p:sp>
      <p:sp>
        <p:nvSpPr>
          <p:cNvPr id="33" name="Text 31"/>
          <p:cNvSpPr/>
          <p:nvPr/>
        </p:nvSpPr>
        <p:spPr>
          <a:xfrm>
            <a:off x="3346704" y="1965960"/>
            <a:ext cx="2523744" cy="173736"/>
          </a:xfrm>
          <a:prstGeom prst="rect">
            <a:avLst/>
          </a:prstGeom>
          <a:noFill/>
          <a:ln/>
        </p:spPr>
        <p:txBody>
          <a:bodyPr wrap="square" lIns="38100" tIns="38100" rIns="38100" bIns="38100" rtlCol="0" anchor="ctr"/>
          <a:lstStyle/>
          <a:p>
            <a:pPr algn="l" indent="0" marL="0">
              <a:buNone/>
            </a:pPr>
            <a:r>
              <a:rPr lang="en-US" sz="650" dirty="0">
                <a:solidFill>
                  <a:srgbClr val="E2E8F0"/>
                </a:solidFill>
                <a:latin typeface="Consolas" pitchFamily="34" charset="0"/>
                <a:ea typeface="Consolas" pitchFamily="34" charset="-122"/>
                <a:cs typeface="Consolas" pitchFamily="34" charset="-120"/>
              </a:rPr>
              <a:t>  Row 4: angry    Row 5: fearful</a:t>
            </a:r>
            <a:endParaRPr lang="en-US" sz="650" dirty="0"/>
          </a:p>
        </p:txBody>
      </p:sp>
      <p:sp>
        <p:nvSpPr>
          <p:cNvPr id="34" name="Text 32"/>
          <p:cNvSpPr/>
          <p:nvPr/>
        </p:nvSpPr>
        <p:spPr>
          <a:xfrm>
            <a:off x="3346704" y="2139696"/>
            <a:ext cx="2523744" cy="173736"/>
          </a:xfrm>
          <a:prstGeom prst="rect">
            <a:avLst/>
          </a:prstGeom>
          <a:noFill/>
          <a:ln/>
        </p:spPr>
        <p:txBody>
          <a:bodyPr wrap="square" lIns="38100" tIns="38100" rIns="38100" bIns="38100" rtlCol="0" anchor="ctr"/>
          <a:lstStyle/>
          <a:p>
            <a:pPr algn="l" indent="0" marL="0">
              <a:buNone/>
            </a:pPr>
            <a:r>
              <a:rPr lang="en-US" sz="650" dirty="0">
                <a:solidFill>
                  <a:srgbClr val="E2E8F0"/>
                </a:solidFill>
                <a:latin typeface="Consolas" pitchFamily="34" charset="0"/>
                <a:ea typeface="Consolas" pitchFamily="34" charset="-122"/>
                <a:cs typeface="Consolas" pitchFamily="34" charset="-120"/>
              </a:rPr>
              <a:t>  Row 6: disgust  Row 7: surprised</a:t>
            </a:r>
            <a:endParaRPr lang="en-US" sz="650" dirty="0"/>
          </a:p>
        </p:txBody>
      </p:sp>
      <p:sp>
        <p:nvSpPr>
          <p:cNvPr id="35" name="Text 33"/>
          <p:cNvSpPr/>
          <p:nvPr/>
        </p:nvSpPr>
        <p:spPr>
          <a:xfrm>
            <a:off x="3346704" y="2313432"/>
            <a:ext cx="2523744" cy="173736"/>
          </a:xfrm>
          <a:prstGeom prst="rect">
            <a:avLst/>
          </a:prstGeom>
          <a:noFill/>
          <a:ln/>
        </p:spPr>
        <p:txBody>
          <a:bodyPr wrap="square" lIns="38100" tIns="38100" rIns="38100" bIns="38100" rtlCol="0" anchor="ctr"/>
          <a:lstStyle/>
          <a:p>
            <a:pPr algn="l" indent="0" marL="0">
              <a:buNone/>
            </a:pPr>
            <a:endParaRPr lang="en-US" sz="650" dirty="0"/>
          </a:p>
        </p:txBody>
      </p:sp>
      <p:sp>
        <p:nvSpPr>
          <p:cNvPr id="36" name="Text 34"/>
          <p:cNvSpPr/>
          <p:nvPr/>
        </p:nvSpPr>
        <p:spPr>
          <a:xfrm>
            <a:off x="3346704" y="2487168"/>
            <a:ext cx="2523744" cy="173736"/>
          </a:xfrm>
          <a:prstGeom prst="rect">
            <a:avLst/>
          </a:prstGeom>
          <a:noFill/>
          <a:ln/>
        </p:spPr>
        <p:txBody>
          <a:bodyPr wrap="square" lIns="38100" tIns="38100" rIns="38100" bIns="38100" rtlCol="0" anchor="ctr"/>
          <a:lstStyle/>
          <a:p>
            <a:pPr algn="l" indent="0" marL="0">
              <a:buNone/>
            </a:pPr>
            <a:r>
              <a:rPr lang="en-US" sz="650" dirty="0">
                <a:solidFill>
                  <a:srgbClr val="E2E8F0"/>
                </a:solidFill>
                <a:latin typeface="Consolas" pitchFamily="34" charset="0"/>
                <a:ea typeface="Consolas" pitchFamily="34" charset="-122"/>
                <a:cs typeface="Consolas" pitchFamily="34" charset="-120"/>
              </a:rPr>
              <a:t>Used in AudioEncoderV2:</a:t>
            </a:r>
            <a:endParaRPr lang="en-US" sz="650" dirty="0"/>
          </a:p>
        </p:txBody>
      </p:sp>
      <p:sp>
        <p:nvSpPr>
          <p:cNvPr id="37" name="Text 35"/>
          <p:cNvSpPr/>
          <p:nvPr/>
        </p:nvSpPr>
        <p:spPr>
          <a:xfrm>
            <a:off x="3346704" y="2660904"/>
            <a:ext cx="2523744" cy="173736"/>
          </a:xfrm>
          <a:prstGeom prst="rect">
            <a:avLst/>
          </a:prstGeom>
          <a:noFill/>
          <a:ln/>
        </p:spPr>
        <p:txBody>
          <a:bodyPr wrap="square" lIns="38100" tIns="38100" rIns="38100" bIns="38100" rtlCol="0" anchor="ctr"/>
          <a:lstStyle/>
          <a:p>
            <a:pPr algn="l" indent="0" marL="0">
              <a:buNone/>
            </a:pPr>
            <a:r>
              <a:rPr lang="en-US" sz="650" dirty="0">
                <a:solidFill>
                  <a:srgbClr val="E2E8F0"/>
                </a:solidFill>
                <a:latin typeface="Consolas" pitchFamily="34" charset="0"/>
                <a:ea typeface="Consolas" pitchFamily="34" charset="-122"/>
                <a:cs typeface="Consolas" pitchFamily="34" charset="-120"/>
              </a:rPr>
              <a:t>  sims = centroids @ e_audio.T   # [8,1]</a:t>
            </a:r>
            <a:endParaRPr lang="en-US" sz="650" dirty="0"/>
          </a:p>
        </p:txBody>
      </p:sp>
      <p:sp>
        <p:nvSpPr>
          <p:cNvPr id="38" name="Text 36"/>
          <p:cNvSpPr/>
          <p:nvPr/>
        </p:nvSpPr>
        <p:spPr>
          <a:xfrm>
            <a:off x="3346704" y="2834640"/>
            <a:ext cx="2523744" cy="173736"/>
          </a:xfrm>
          <a:prstGeom prst="rect">
            <a:avLst/>
          </a:prstGeom>
          <a:noFill/>
          <a:ln/>
        </p:spPr>
        <p:txBody>
          <a:bodyPr wrap="square" lIns="38100" tIns="38100" rIns="38100" bIns="38100" rtlCol="0" anchor="ctr"/>
          <a:lstStyle/>
          <a:p>
            <a:pPr algn="l" indent="0" marL="0">
              <a:buNone/>
            </a:pPr>
            <a:r>
              <a:rPr lang="en-US" sz="650" dirty="0">
                <a:solidFill>
                  <a:srgbClr val="E2E8F0"/>
                </a:solidFill>
                <a:latin typeface="Consolas" pitchFamily="34" charset="0"/>
                <a:ea typeface="Consolas" pitchFamily="34" charset="-122"/>
                <a:cs typeface="Consolas" pitchFamily="34" charset="-120"/>
              </a:rPr>
              <a:t>  emotion = EMOTIONS_8[sims.argmax()]</a:t>
            </a:r>
            <a:endParaRPr lang="en-US" sz="650" dirty="0"/>
          </a:p>
        </p:txBody>
      </p:sp>
      <p:sp>
        <p:nvSpPr>
          <p:cNvPr id="39" name="Shape 37"/>
          <p:cNvSpPr/>
          <p:nvPr/>
        </p:nvSpPr>
        <p:spPr>
          <a:xfrm>
            <a:off x="6181344" y="859536"/>
            <a:ext cx="2834640" cy="2542032"/>
          </a:xfrm>
          <a:prstGeom prst="rect">
            <a:avLst/>
          </a:prstGeom>
          <a:solidFill>
            <a:srgbClr val="D7E4F5"/>
          </a:solidFill>
          <a:ln w="11430">
            <a:solidFill>
              <a:srgbClr val="14407A"/>
            </a:solidFill>
            <a:prstDash val="solid"/>
          </a:ln>
          <a:effectLst>
            <a:outerShdw sx="100000" sy="100000" kx="0" ky="0" algn="bl" rotWithShape="0" blurRad="38100" dist="25400" dir="8100000">
              <a:srgbClr val="000000">
                <a:alpha val="9000"/>
              </a:srgbClr>
            </a:outerShdw>
          </a:effectLst>
        </p:spPr>
      </p:sp>
      <p:sp>
        <p:nvSpPr>
          <p:cNvPr id="40" name="Shape 38"/>
          <p:cNvSpPr/>
          <p:nvPr/>
        </p:nvSpPr>
        <p:spPr>
          <a:xfrm>
            <a:off x="6181344" y="859536"/>
            <a:ext cx="50292" cy="2542032"/>
          </a:xfrm>
          <a:prstGeom prst="rect">
            <a:avLst/>
          </a:prstGeom>
          <a:solidFill>
            <a:srgbClr val="14407A"/>
          </a:solidFill>
          <a:ln w="12700">
            <a:solidFill>
              <a:srgbClr val="14407A"/>
            </a:solidFill>
            <a:prstDash val="solid"/>
          </a:ln>
        </p:spPr>
      </p:sp>
      <p:sp>
        <p:nvSpPr>
          <p:cNvPr id="41" name="Text 39"/>
          <p:cNvSpPr/>
          <p:nvPr/>
        </p:nvSpPr>
        <p:spPr>
          <a:xfrm>
            <a:off x="6272784" y="859536"/>
            <a:ext cx="2670048" cy="237744"/>
          </a:xfrm>
          <a:prstGeom prst="rect">
            <a:avLst/>
          </a:prstGeom>
          <a:noFill/>
          <a:ln/>
        </p:spPr>
        <p:txBody>
          <a:bodyPr wrap="square" lIns="38100" tIns="38100" rIns="38100" bIns="38100" rtlCol="0" anchor="ctr"/>
          <a:lstStyle/>
          <a:p>
            <a:pPr algn="l" indent="0" marL="0">
              <a:buNone/>
            </a:pPr>
            <a:r>
              <a:rPr lang="en-US" sz="800" b="1" dirty="0">
                <a:solidFill>
                  <a:srgbClr val="14407A"/>
                </a:solidFill>
                <a:latin typeface="Calibri" pitchFamily="34" charset="0"/>
                <a:ea typeface="Calibri" pitchFamily="34" charset="-122"/>
                <a:cs typeface="Calibri" pitchFamily="34" charset="-120"/>
              </a:rPr>
              <a:t>checkpoint_pipelineC_latest.pth</a:t>
            </a:r>
            <a:endParaRPr lang="en-US" sz="800" dirty="0"/>
          </a:p>
        </p:txBody>
      </p:sp>
      <p:sp>
        <p:nvSpPr>
          <p:cNvPr id="42" name="Text 40"/>
          <p:cNvSpPr/>
          <p:nvPr/>
        </p:nvSpPr>
        <p:spPr>
          <a:xfrm>
            <a:off x="6272784" y="1078992"/>
            <a:ext cx="2670048" cy="182880"/>
          </a:xfrm>
          <a:prstGeom prst="rect">
            <a:avLst/>
          </a:prstGeom>
          <a:noFill/>
          <a:ln/>
        </p:spPr>
        <p:txBody>
          <a:bodyPr wrap="square" lIns="38100" tIns="38100" rIns="38100" bIns="38100" rtlCol="0" anchor="ctr"/>
          <a:lstStyle/>
          <a:p>
            <a:pPr algn="l" indent="0" marL="0">
              <a:buNone/>
            </a:pPr>
            <a:r>
              <a:rPr lang="en-US" sz="700" dirty="0">
                <a:solidFill>
                  <a:srgbClr val="444444"/>
                </a:solidFill>
                <a:latin typeface="Calibri" pitchFamily="34" charset="0"/>
                <a:ea typeface="Calibri" pitchFamily="34" charset="-122"/>
                <a:cs typeface="Calibri" pitchFamily="34" charset="-120"/>
              </a:rPr>
              <a:t>Full training state</a:t>
            </a:r>
            <a:endParaRPr lang="en-US" sz="700" dirty="0"/>
          </a:p>
        </p:txBody>
      </p:sp>
      <p:sp>
        <p:nvSpPr>
          <p:cNvPr id="43" name="Text 41"/>
          <p:cNvSpPr/>
          <p:nvPr/>
        </p:nvSpPr>
        <p:spPr>
          <a:xfrm>
            <a:off x="6272784" y="1243584"/>
            <a:ext cx="2670048" cy="182880"/>
          </a:xfrm>
          <a:prstGeom prst="rect">
            <a:avLst/>
          </a:prstGeom>
          <a:noFill/>
          <a:ln/>
        </p:spPr>
        <p:txBody>
          <a:bodyPr wrap="square" lIns="38100" tIns="38100" rIns="38100" bIns="38100" rtlCol="0" anchor="ctr"/>
          <a:lstStyle/>
          <a:p>
            <a:pPr algn="l" indent="0" marL="0">
              <a:buNone/>
            </a:pPr>
            <a:r>
              <a:rPr lang="en-US" sz="700" dirty="0">
                <a:solidFill>
                  <a:srgbClr val="1A1A1A"/>
                </a:solidFill>
                <a:latin typeface="Calibri" pitchFamily="34" charset="0"/>
                <a:ea typeface="Calibri" pitchFamily="34" charset="-122"/>
                <a:cs typeface="Calibri" pitchFamily="34" charset="-120"/>
              </a:rPr>
              <a:t>Resume training after Colab disconnect</a:t>
            </a:r>
            <a:endParaRPr lang="en-US" sz="700" dirty="0"/>
          </a:p>
        </p:txBody>
      </p:sp>
      <p:sp>
        <p:nvSpPr>
          <p:cNvPr id="44" name="Shape 42"/>
          <p:cNvSpPr/>
          <p:nvPr/>
        </p:nvSpPr>
        <p:spPr>
          <a:xfrm>
            <a:off x="6272784" y="1408176"/>
            <a:ext cx="2651760" cy="1956816"/>
          </a:xfrm>
          <a:prstGeom prst="rect">
            <a:avLst/>
          </a:prstGeom>
          <a:solidFill>
            <a:srgbClr val="1E1E2E"/>
          </a:solidFill>
          <a:ln w="10160">
            <a:solidFill>
              <a:srgbClr val="AAAAAA"/>
            </a:solidFill>
            <a:prstDash val="solid"/>
          </a:ln>
        </p:spPr>
      </p:sp>
      <p:sp>
        <p:nvSpPr>
          <p:cNvPr id="45" name="Text 43"/>
          <p:cNvSpPr/>
          <p:nvPr/>
        </p:nvSpPr>
        <p:spPr>
          <a:xfrm>
            <a:off x="6345936" y="1444752"/>
            <a:ext cx="2523744" cy="173736"/>
          </a:xfrm>
          <a:prstGeom prst="rect">
            <a:avLst/>
          </a:prstGeom>
          <a:noFill/>
          <a:ln/>
        </p:spPr>
        <p:txBody>
          <a:bodyPr wrap="square" lIns="38100" tIns="38100" rIns="38100" bIns="38100" rtlCol="0" anchor="ctr"/>
          <a:lstStyle/>
          <a:p>
            <a:pPr algn="l" indent="0" marL="0">
              <a:buNone/>
            </a:pPr>
            <a:r>
              <a:rPr lang="en-US" sz="650" dirty="0">
                <a:solidFill>
                  <a:srgbClr val="E2E8F0"/>
                </a:solidFill>
                <a:latin typeface="Consolas" pitchFamily="34" charset="0"/>
                <a:ea typeface="Consolas" pitchFamily="34" charset="-122"/>
                <a:cs typeface="Consolas" pitchFamily="34" charset="-120"/>
              </a:rPr>
              <a:t>Full state for exact resume:</a:t>
            </a:r>
            <a:endParaRPr lang="en-US" sz="650" dirty="0"/>
          </a:p>
        </p:txBody>
      </p:sp>
      <p:sp>
        <p:nvSpPr>
          <p:cNvPr id="46" name="Text 44"/>
          <p:cNvSpPr/>
          <p:nvPr/>
        </p:nvSpPr>
        <p:spPr>
          <a:xfrm>
            <a:off x="6345936" y="1618488"/>
            <a:ext cx="2523744" cy="173736"/>
          </a:xfrm>
          <a:prstGeom prst="rect">
            <a:avLst/>
          </a:prstGeom>
          <a:noFill/>
          <a:ln/>
        </p:spPr>
        <p:txBody>
          <a:bodyPr wrap="square" lIns="38100" tIns="38100" rIns="38100" bIns="38100" rtlCol="0" anchor="ctr"/>
          <a:lstStyle/>
          <a:p>
            <a:pPr algn="l" indent="0" marL="0">
              <a:buNone/>
            </a:pPr>
            <a:r>
              <a:rPr lang="en-US" sz="650" dirty="0">
                <a:solidFill>
                  <a:srgbClr val="E2E8F0"/>
                </a:solidFill>
                <a:latin typeface="Consolas" pitchFamily="34" charset="0"/>
                <a:ea typeface="Consolas" pitchFamily="34" charset="-122"/>
                <a:cs typeface="Consolas" pitchFamily="34" charset="-120"/>
              </a:rPr>
              <a:t>  epoch, model_state, optimizer_state,</a:t>
            </a:r>
            <a:endParaRPr lang="en-US" sz="650" dirty="0"/>
          </a:p>
        </p:txBody>
      </p:sp>
      <p:sp>
        <p:nvSpPr>
          <p:cNvPr id="47" name="Text 45"/>
          <p:cNvSpPr/>
          <p:nvPr/>
        </p:nvSpPr>
        <p:spPr>
          <a:xfrm>
            <a:off x="6345936" y="1792224"/>
            <a:ext cx="2523744" cy="173736"/>
          </a:xfrm>
          <a:prstGeom prst="rect">
            <a:avLst/>
          </a:prstGeom>
          <a:noFill/>
          <a:ln/>
        </p:spPr>
        <p:txBody>
          <a:bodyPr wrap="square" lIns="38100" tIns="38100" rIns="38100" bIns="38100" rtlCol="0" anchor="ctr"/>
          <a:lstStyle/>
          <a:p>
            <a:pPr algn="l" indent="0" marL="0">
              <a:buNone/>
            </a:pPr>
            <a:r>
              <a:rPr lang="en-US" sz="650" dirty="0">
                <a:solidFill>
                  <a:srgbClr val="E2E8F0"/>
                </a:solidFill>
                <a:latin typeface="Consolas" pitchFamily="34" charset="0"/>
                <a:ea typeface="Consolas" pitchFamily="34" charset="-122"/>
                <a:cs typeface="Consolas" pitchFamily="34" charset="-120"/>
              </a:rPr>
              <a:t>  scheduler_state, all_losses, all_accs,</a:t>
            </a:r>
            <a:endParaRPr lang="en-US" sz="650" dirty="0"/>
          </a:p>
        </p:txBody>
      </p:sp>
      <p:sp>
        <p:nvSpPr>
          <p:cNvPr id="48" name="Text 46"/>
          <p:cNvSpPr/>
          <p:nvPr/>
        </p:nvSpPr>
        <p:spPr>
          <a:xfrm>
            <a:off x="6345936" y="1965960"/>
            <a:ext cx="2523744" cy="173736"/>
          </a:xfrm>
          <a:prstGeom prst="rect">
            <a:avLst/>
          </a:prstGeom>
          <a:noFill/>
          <a:ln/>
        </p:spPr>
        <p:txBody>
          <a:bodyPr wrap="square" lIns="38100" tIns="38100" rIns="38100" bIns="38100" rtlCol="0" anchor="ctr"/>
          <a:lstStyle/>
          <a:p>
            <a:pPr algn="l" indent="0" marL="0">
              <a:buNone/>
            </a:pPr>
            <a:r>
              <a:rPr lang="en-US" sz="650" dirty="0">
                <a:solidFill>
                  <a:srgbClr val="E2E8F0"/>
                </a:solidFill>
                <a:latin typeface="Consolas" pitchFamily="34" charset="0"/>
                <a:ea typeface="Consolas" pitchFamily="34" charset="-122"/>
                <a:cs typeface="Consolas" pitchFamily="34" charset="-120"/>
              </a:rPr>
              <a:t>  wav2vec_dim (guard), pipeline (guard)</a:t>
            </a:r>
            <a:endParaRPr lang="en-US" sz="650" dirty="0"/>
          </a:p>
        </p:txBody>
      </p:sp>
      <p:sp>
        <p:nvSpPr>
          <p:cNvPr id="49" name="Text 47"/>
          <p:cNvSpPr/>
          <p:nvPr/>
        </p:nvSpPr>
        <p:spPr>
          <a:xfrm>
            <a:off x="6345936" y="2139696"/>
            <a:ext cx="2523744" cy="173736"/>
          </a:xfrm>
          <a:prstGeom prst="rect">
            <a:avLst/>
          </a:prstGeom>
          <a:noFill/>
          <a:ln/>
        </p:spPr>
        <p:txBody>
          <a:bodyPr wrap="square" lIns="38100" tIns="38100" rIns="38100" bIns="38100" rtlCol="0" anchor="ctr"/>
          <a:lstStyle/>
          <a:p>
            <a:pPr algn="l" indent="0" marL="0">
              <a:buNone/>
            </a:pPr>
            <a:endParaRPr lang="en-US" sz="650" dirty="0"/>
          </a:p>
        </p:txBody>
      </p:sp>
      <p:sp>
        <p:nvSpPr>
          <p:cNvPr id="50" name="Text 48"/>
          <p:cNvSpPr/>
          <p:nvPr/>
        </p:nvSpPr>
        <p:spPr>
          <a:xfrm>
            <a:off x="6345936" y="2313432"/>
            <a:ext cx="2523744" cy="173736"/>
          </a:xfrm>
          <a:prstGeom prst="rect">
            <a:avLst/>
          </a:prstGeom>
          <a:noFill/>
          <a:ln/>
        </p:spPr>
        <p:txBody>
          <a:bodyPr wrap="square" lIns="38100" tIns="38100" rIns="38100" bIns="38100" rtlCol="0" anchor="ctr"/>
          <a:lstStyle/>
          <a:p>
            <a:pPr algn="l" indent="0" marL="0">
              <a:buNone/>
            </a:pPr>
            <a:r>
              <a:rPr lang="en-US" sz="650" dirty="0">
                <a:solidFill>
                  <a:srgbClr val="E2E8F0"/>
                </a:solidFill>
                <a:latin typeface="Consolas" pitchFamily="34" charset="0"/>
                <a:ea typeface="Consolas" pitchFamily="34" charset="-122"/>
                <a:cs typeface="Consolas" pitchFamily="34" charset="-120"/>
              </a:rPr>
              <a:t>Delete this file to force fresh training</a:t>
            </a:r>
            <a:endParaRPr lang="en-US" sz="650" dirty="0"/>
          </a:p>
        </p:txBody>
      </p:sp>
      <p:sp>
        <p:nvSpPr>
          <p:cNvPr id="51" name="Text 49"/>
          <p:cNvSpPr/>
          <p:nvPr/>
        </p:nvSpPr>
        <p:spPr>
          <a:xfrm>
            <a:off x="6345936" y="2487168"/>
            <a:ext cx="2523744" cy="173736"/>
          </a:xfrm>
          <a:prstGeom prst="rect">
            <a:avLst/>
          </a:prstGeom>
          <a:noFill/>
          <a:ln/>
        </p:spPr>
        <p:txBody>
          <a:bodyPr wrap="square" lIns="38100" tIns="38100" rIns="38100" bIns="38100" rtlCol="0" anchor="ctr"/>
          <a:lstStyle/>
          <a:p>
            <a:pPr algn="l" indent="0" marL="0">
              <a:buNone/>
            </a:pPr>
            <a:r>
              <a:rPr lang="en-US" sz="650" dirty="0">
                <a:solidFill>
                  <a:srgbClr val="E2E8F0"/>
                </a:solidFill>
                <a:latin typeface="Consolas" pitchFamily="34" charset="0"/>
                <a:ea typeface="Consolas" pitchFamily="34" charset="-122"/>
                <a:cs typeface="Consolas" pitchFamily="34" charset="-120"/>
              </a:rPr>
              <a:t>(audio_projection.pth still preserved)</a:t>
            </a:r>
            <a:endParaRPr lang="en-US" sz="650" dirty="0"/>
          </a:p>
        </p:txBody>
      </p:sp>
      <p:sp>
        <p:nvSpPr>
          <p:cNvPr id="52" name="Shape 50"/>
          <p:cNvSpPr/>
          <p:nvPr/>
        </p:nvSpPr>
        <p:spPr>
          <a:xfrm>
            <a:off x="9180576" y="859536"/>
            <a:ext cx="2834640" cy="2542032"/>
          </a:xfrm>
          <a:prstGeom prst="rect">
            <a:avLst/>
          </a:prstGeom>
          <a:solidFill>
            <a:srgbClr val="FFF0CC"/>
          </a:solidFill>
          <a:ln w="11430">
            <a:solidFill>
              <a:srgbClr val="8A5200"/>
            </a:solidFill>
            <a:prstDash val="solid"/>
          </a:ln>
          <a:effectLst>
            <a:outerShdw sx="100000" sy="100000" kx="0" ky="0" algn="bl" rotWithShape="0" blurRad="38100" dist="25400" dir="8100000">
              <a:srgbClr val="000000">
                <a:alpha val="9000"/>
              </a:srgbClr>
            </a:outerShdw>
          </a:effectLst>
        </p:spPr>
      </p:sp>
      <p:sp>
        <p:nvSpPr>
          <p:cNvPr id="53" name="Shape 51"/>
          <p:cNvSpPr/>
          <p:nvPr/>
        </p:nvSpPr>
        <p:spPr>
          <a:xfrm>
            <a:off x="9180576" y="859536"/>
            <a:ext cx="50292" cy="2542032"/>
          </a:xfrm>
          <a:prstGeom prst="rect">
            <a:avLst/>
          </a:prstGeom>
          <a:solidFill>
            <a:srgbClr val="8A5200"/>
          </a:solidFill>
          <a:ln w="12700">
            <a:solidFill>
              <a:srgbClr val="8A5200"/>
            </a:solidFill>
            <a:prstDash val="solid"/>
          </a:ln>
        </p:spPr>
      </p:sp>
      <p:sp>
        <p:nvSpPr>
          <p:cNvPr id="54" name="Text 52"/>
          <p:cNvSpPr/>
          <p:nvPr/>
        </p:nvSpPr>
        <p:spPr>
          <a:xfrm>
            <a:off x="9272016" y="859536"/>
            <a:ext cx="2670048" cy="237744"/>
          </a:xfrm>
          <a:prstGeom prst="rect">
            <a:avLst/>
          </a:prstGeom>
          <a:noFill/>
          <a:ln/>
        </p:spPr>
        <p:txBody>
          <a:bodyPr wrap="square" lIns="38100" tIns="38100" rIns="38100" bIns="38100" rtlCol="0" anchor="ctr"/>
          <a:lstStyle/>
          <a:p>
            <a:pPr algn="l" indent="0" marL="0">
              <a:buNone/>
            </a:pPr>
            <a:r>
              <a:rPr lang="en-US" sz="800" b="1" dirty="0">
                <a:solidFill>
                  <a:srgbClr val="8A5200"/>
                </a:solidFill>
                <a:latin typeface="Calibri" pitchFamily="34" charset="0"/>
                <a:ea typeface="Calibri" pitchFamily="34" charset="-122"/>
                <a:cs typeface="Calibri" pitchFamily="34" charset="-120"/>
              </a:rPr>
              <a:t>config.json</a:t>
            </a:r>
            <a:endParaRPr lang="en-US" sz="800" dirty="0"/>
          </a:p>
        </p:txBody>
      </p:sp>
      <p:sp>
        <p:nvSpPr>
          <p:cNvPr id="55" name="Text 53"/>
          <p:cNvSpPr/>
          <p:nvPr/>
        </p:nvSpPr>
        <p:spPr>
          <a:xfrm>
            <a:off x="9272016" y="1078992"/>
            <a:ext cx="2670048" cy="182880"/>
          </a:xfrm>
          <a:prstGeom prst="rect">
            <a:avLst/>
          </a:prstGeom>
          <a:noFill/>
          <a:ln/>
        </p:spPr>
        <p:txBody>
          <a:bodyPr wrap="square" lIns="38100" tIns="38100" rIns="38100" bIns="38100" rtlCol="0" anchor="ctr"/>
          <a:lstStyle/>
          <a:p>
            <a:pPr algn="l" indent="0" marL="0">
              <a:buNone/>
            </a:pPr>
            <a:r>
              <a:rPr lang="en-US" sz="700" dirty="0">
                <a:solidFill>
                  <a:srgbClr val="444444"/>
                </a:solidFill>
                <a:latin typeface="Calibri" pitchFamily="34" charset="0"/>
                <a:ea typeface="Calibri" pitchFamily="34" charset="-122"/>
                <a:cs typeface="Calibri" pitchFamily="34" charset="-120"/>
              </a:rPr>
              <a:t>JSON — human + machine readable</a:t>
            </a:r>
            <a:endParaRPr lang="en-US" sz="700" dirty="0"/>
          </a:p>
        </p:txBody>
      </p:sp>
      <p:sp>
        <p:nvSpPr>
          <p:cNvPr id="56" name="Text 54"/>
          <p:cNvSpPr/>
          <p:nvPr/>
        </p:nvSpPr>
        <p:spPr>
          <a:xfrm>
            <a:off x="9272016" y="1243584"/>
            <a:ext cx="2670048" cy="182880"/>
          </a:xfrm>
          <a:prstGeom prst="rect">
            <a:avLst/>
          </a:prstGeom>
          <a:noFill/>
          <a:ln/>
        </p:spPr>
        <p:txBody>
          <a:bodyPr wrap="square" lIns="38100" tIns="38100" rIns="38100" bIns="38100" rtlCol="0" anchor="ctr"/>
          <a:lstStyle/>
          <a:p>
            <a:pPr algn="l" indent="0" marL="0">
              <a:buNone/>
            </a:pPr>
            <a:r>
              <a:rPr lang="en-US" sz="700" dirty="0">
                <a:solidFill>
                  <a:srgbClr val="1A1A1A"/>
                </a:solidFill>
                <a:latin typeface="Calibri" pitchFamily="34" charset="0"/>
                <a:ea typeface="Calibri" pitchFamily="34" charset="-122"/>
                <a:cs typeface="Calibri" pitchFamily="34" charset="-120"/>
              </a:rPr>
              <a:t>Thesis reproducibility record</a:t>
            </a:r>
            <a:endParaRPr lang="en-US" sz="700" dirty="0"/>
          </a:p>
        </p:txBody>
      </p:sp>
      <p:sp>
        <p:nvSpPr>
          <p:cNvPr id="57" name="Shape 55"/>
          <p:cNvSpPr/>
          <p:nvPr/>
        </p:nvSpPr>
        <p:spPr>
          <a:xfrm>
            <a:off x="9272016" y="1408176"/>
            <a:ext cx="2651760" cy="1956816"/>
          </a:xfrm>
          <a:prstGeom prst="rect">
            <a:avLst/>
          </a:prstGeom>
          <a:solidFill>
            <a:srgbClr val="1E1E2E"/>
          </a:solidFill>
          <a:ln w="10160">
            <a:solidFill>
              <a:srgbClr val="AAAAAA"/>
            </a:solidFill>
            <a:prstDash val="solid"/>
          </a:ln>
        </p:spPr>
      </p:sp>
      <p:sp>
        <p:nvSpPr>
          <p:cNvPr id="58" name="Text 56"/>
          <p:cNvSpPr/>
          <p:nvPr/>
        </p:nvSpPr>
        <p:spPr>
          <a:xfrm>
            <a:off x="9345168" y="1444752"/>
            <a:ext cx="2523744" cy="173736"/>
          </a:xfrm>
          <a:prstGeom prst="rect">
            <a:avLst/>
          </a:prstGeom>
          <a:noFill/>
          <a:ln/>
        </p:spPr>
        <p:txBody>
          <a:bodyPr wrap="square" lIns="38100" tIns="38100" rIns="38100" bIns="38100" rtlCol="0" anchor="ctr"/>
          <a:lstStyle/>
          <a:p>
            <a:pPr algn="l" indent="0" marL="0">
              <a:buNone/>
            </a:pPr>
            <a:r>
              <a:rPr lang="en-US" sz="650" dirty="0">
                <a:solidFill>
                  <a:srgbClr val="E2E8F0"/>
                </a:solidFill>
                <a:latin typeface="Consolas" pitchFamily="34" charset="0"/>
                <a:ea typeface="Consolas" pitchFamily="34" charset="-122"/>
                <a:cs typeface="Consolas" pitchFamily="34" charset="-120"/>
              </a:rPr>
              <a:t>Records:</a:t>
            </a:r>
            <a:endParaRPr lang="en-US" sz="650" dirty="0"/>
          </a:p>
        </p:txBody>
      </p:sp>
      <p:sp>
        <p:nvSpPr>
          <p:cNvPr id="59" name="Text 57"/>
          <p:cNvSpPr/>
          <p:nvPr/>
        </p:nvSpPr>
        <p:spPr>
          <a:xfrm>
            <a:off x="9345168" y="1618488"/>
            <a:ext cx="2523744" cy="173736"/>
          </a:xfrm>
          <a:prstGeom prst="rect">
            <a:avLst/>
          </a:prstGeom>
          <a:noFill/>
          <a:ln/>
        </p:spPr>
        <p:txBody>
          <a:bodyPr wrap="square" lIns="38100" tIns="38100" rIns="38100" bIns="38100" rtlCol="0" anchor="ctr"/>
          <a:lstStyle/>
          <a:p>
            <a:pPr algn="l" indent="0" marL="0">
              <a:buNone/>
            </a:pPr>
            <a:r>
              <a:rPr lang="en-US" sz="650" dirty="0">
                <a:solidFill>
                  <a:srgbClr val="E2E8F0"/>
                </a:solidFill>
                <a:latin typeface="Consolas" pitchFamily="34" charset="0"/>
                <a:ea typeface="Consolas" pitchFamily="34" charset="-122"/>
                <a:cs typeface="Consolas" pitchFamily="34" charset="-120"/>
              </a:rPr>
              <a:t>  dataset, loss, all hyperparameters,</a:t>
            </a:r>
            <a:endParaRPr lang="en-US" sz="650" dirty="0"/>
          </a:p>
        </p:txBody>
      </p:sp>
      <p:sp>
        <p:nvSpPr>
          <p:cNvPr id="60" name="Text 58"/>
          <p:cNvSpPr/>
          <p:nvPr/>
        </p:nvSpPr>
        <p:spPr>
          <a:xfrm>
            <a:off x="9345168" y="1792224"/>
            <a:ext cx="2523744" cy="173736"/>
          </a:xfrm>
          <a:prstGeom prst="rect">
            <a:avLst/>
          </a:prstGeom>
          <a:noFill/>
          <a:ln/>
        </p:spPr>
        <p:txBody>
          <a:bodyPr wrap="square" lIns="38100" tIns="38100" rIns="38100" bIns="38100" rtlCol="0" anchor="ctr"/>
          <a:lstStyle/>
          <a:p>
            <a:pPr algn="l" indent="0" marL="0">
              <a:buNone/>
            </a:pPr>
            <a:r>
              <a:rPr lang="en-US" sz="650" dirty="0">
                <a:solidFill>
                  <a:srgbClr val="E2E8F0"/>
                </a:solidFill>
                <a:latin typeface="Consolas" pitchFamily="34" charset="0"/>
                <a:ea typeface="Consolas" pitchFamily="34" charset="-122"/>
                <a:cs typeface="Consolas" pitchFamily="34" charset="-120"/>
              </a:rPr>
              <a:t>  what_changed (bug fix description),</a:t>
            </a:r>
            <a:endParaRPr lang="en-US" sz="650" dirty="0"/>
          </a:p>
        </p:txBody>
      </p:sp>
      <p:sp>
        <p:nvSpPr>
          <p:cNvPr id="61" name="Text 59"/>
          <p:cNvSpPr/>
          <p:nvPr/>
        </p:nvSpPr>
        <p:spPr>
          <a:xfrm>
            <a:off x="9345168" y="1965960"/>
            <a:ext cx="2523744" cy="173736"/>
          </a:xfrm>
          <a:prstGeom prst="rect">
            <a:avLst/>
          </a:prstGeom>
          <a:noFill/>
          <a:ln/>
        </p:spPr>
        <p:txBody>
          <a:bodyPr wrap="square" lIns="38100" tIns="38100" rIns="38100" bIns="38100" rtlCol="0" anchor="ctr"/>
          <a:lstStyle/>
          <a:p>
            <a:pPr algn="l" indent="0" marL="0">
              <a:buNone/>
            </a:pPr>
            <a:r>
              <a:rPr lang="en-US" sz="650" dirty="0">
                <a:solidFill>
                  <a:srgbClr val="E2E8F0"/>
                </a:solidFill>
                <a:latin typeface="Consolas" pitchFamily="34" charset="0"/>
                <a:ea typeface="Consolas" pitchFamily="34" charset="-122"/>
                <a:cs typeface="Consolas" pitchFamily="34" charset="-120"/>
              </a:rPr>
              <a:t>  per_emotion_accuracy for all 8,</a:t>
            </a:r>
            <a:endParaRPr lang="en-US" sz="650" dirty="0"/>
          </a:p>
        </p:txBody>
      </p:sp>
      <p:sp>
        <p:nvSpPr>
          <p:cNvPr id="62" name="Text 60"/>
          <p:cNvSpPr/>
          <p:nvPr/>
        </p:nvSpPr>
        <p:spPr>
          <a:xfrm>
            <a:off x="9345168" y="2139696"/>
            <a:ext cx="2523744" cy="173736"/>
          </a:xfrm>
          <a:prstGeom prst="rect">
            <a:avLst/>
          </a:prstGeom>
          <a:noFill/>
          <a:ln/>
        </p:spPr>
        <p:txBody>
          <a:bodyPr wrap="square" lIns="38100" tIns="38100" rIns="38100" bIns="38100" rtlCol="0" anchor="ctr"/>
          <a:lstStyle/>
          <a:p>
            <a:pPr algn="l" indent="0" marL="0">
              <a:buNone/>
            </a:pPr>
            <a:r>
              <a:rPr lang="en-US" sz="650" dirty="0">
                <a:solidFill>
                  <a:srgbClr val="E2E8F0"/>
                </a:solidFill>
                <a:latin typeface="Consolas" pitchFamily="34" charset="0"/>
                <a:ea typeface="Consolas" pitchFamily="34" charset="-122"/>
                <a:cs typeface="Consolas" pitchFamily="34" charset="-120"/>
              </a:rPr>
              <a:t>  n_emotions_correct vs Month 2 baseline</a:t>
            </a:r>
            <a:endParaRPr lang="en-US" sz="650" dirty="0"/>
          </a:p>
        </p:txBody>
      </p:sp>
      <p:sp>
        <p:nvSpPr>
          <p:cNvPr id="63" name="Text 61"/>
          <p:cNvSpPr/>
          <p:nvPr/>
        </p:nvSpPr>
        <p:spPr>
          <a:xfrm>
            <a:off x="9345168" y="2313432"/>
            <a:ext cx="2523744" cy="173736"/>
          </a:xfrm>
          <a:prstGeom prst="rect">
            <a:avLst/>
          </a:prstGeom>
          <a:noFill/>
          <a:ln/>
        </p:spPr>
        <p:txBody>
          <a:bodyPr wrap="square" lIns="38100" tIns="38100" rIns="38100" bIns="38100" rtlCol="0" anchor="ctr"/>
          <a:lstStyle/>
          <a:p>
            <a:pPr algn="l" indent="0" marL="0">
              <a:buNone/>
            </a:pPr>
            <a:endParaRPr lang="en-US" sz="650" dirty="0"/>
          </a:p>
        </p:txBody>
      </p:sp>
      <p:sp>
        <p:nvSpPr>
          <p:cNvPr id="64" name="Text 62"/>
          <p:cNvSpPr/>
          <p:nvPr/>
        </p:nvSpPr>
        <p:spPr>
          <a:xfrm>
            <a:off x="9345168" y="2487168"/>
            <a:ext cx="2523744" cy="173736"/>
          </a:xfrm>
          <a:prstGeom prst="rect">
            <a:avLst/>
          </a:prstGeom>
          <a:noFill/>
          <a:ln/>
        </p:spPr>
        <p:txBody>
          <a:bodyPr wrap="square" lIns="38100" tIns="38100" rIns="38100" bIns="38100" rtlCol="0" anchor="ctr"/>
          <a:lstStyle/>
          <a:p>
            <a:pPr algn="l" indent="0" marL="0">
              <a:buNone/>
            </a:pPr>
            <a:r>
              <a:rPr lang="en-US" sz="650" dirty="0">
                <a:solidFill>
                  <a:srgbClr val="E2E8F0"/>
                </a:solidFill>
                <a:latin typeface="Consolas" pitchFamily="34" charset="0"/>
                <a:ea typeface="Consolas" pitchFamily="34" charset="-122"/>
                <a:cs typeface="Consolas" pitchFamily="34" charset="-120"/>
              </a:rPr>
              <a:t>Hash-verifiable: config.json + weights</a:t>
            </a:r>
            <a:endParaRPr lang="en-US" sz="650" dirty="0"/>
          </a:p>
        </p:txBody>
      </p:sp>
      <p:sp>
        <p:nvSpPr>
          <p:cNvPr id="65" name="Text 63"/>
          <p:cNvSpPr/>
          <p:nvPr/>
        </p:nvSpPr>
        <p:spPr>
          <a:xfrm>
            <a:off x="9345168" y="2660904"/>
            <a:ext cx="2523744" cy="173736"/>
          </a:xfrm>
          <a:prstGeom prst="rect">
            <a:avLst/>
          </a:prstGeom>
          <a:noFill/>
          <a:ln/>
        </p:spPr>
        <p:txBody>
          <a:bodyPr wrap="square" lIns="38100" tIns="38100" rIns="38100" bIns="38100" rtlCol="0" anchor="ctr"/>
          <a:lstStyle/>
          <a:p>
            <a:pPr algn="l" indent="0" marL="0">
              <a:buNone/>
            </a:pPr>
            <a:r>
              <a:rPr lang="en-US" sz="650" dirty="0">
                <a:solidFill>
                  <a:srgbClr val="E2E8F0"/>
                </a:solidFill>
                <a:latin typeface="Consolas" pitchFamily="34" charset="0"/>
                <a:ea typeface="Consolas" pitchFamily="34" charset="-122"/>
                <a:cs typeface="Consolas" pitchFamily="34" charset="-120"/>
              </a:rPr>
              <a:t>→ exact reproduction of results</a:t>
            </a:r>
            <a:endParaRPr lang="en-US" sz="650" dirty="0"/>
          </a:p>
        </p:txBody>
      </p:sp>
      <p:sp>
        <p:nvSpPr>
          <p:cNvPr id="66" name="Shape 64"/>
          <p:cNvSpPr/>
          <p:nvPr/>
        </p:nvSpPr>
        <p:spPr>
          <a:xfrm>
            <a:off x="182880" y="3511296"/>
            <a:ext cx="36576" cy="237744"/>
          </a:xfrm>
          <a:prstGeom prst="rect">
            <a:avLst/>
          </a:prstGeom>
          <a:solidFill>
            <a:srgbClr val="9B2020"/>
          </a:solidFill>
          <a:ln w="12700">
            <a:solidFill>
              <a:srgbClr val="9B2020"/>
            </a:solidFill>
            <a:prstDash val="solid"/>
          </a:ln>
        </p:spPr>
      </p:sp>
      <p:sp>
        <p:nvSpPr>
          <p:cNvPr id="67" name="Text 65"/>
          <p:cNvSpPr/>
          <p:nvPr/>
        </p:nvSpPr>
        <p:spPr>
          <a:xfrm>
            <a:off x="256032" y="3511296"/>
            <a:ext cx="5486400" cy="237744"/>
          </a:xfrm>
          <a:prstGeom prst="rect">
            <a:avLst/>
          </a:prstGeom>
          <a:noFill/>
          <a:ln/>
        </p:spPr>
        <p:txBody>
          <a:bodyPr wrap="square" lIns="38100" tIns="38100" rIns="38100" bIns="38100" rtlCol="0" anchor="ctr"/>
          <a:lstStyle/>
          <a:p>
            <a:pPr algn="l" indent="0" marL="0">
              <a:buNone/>
            </a:pPr>
            <a:r>
              <a:rPr lang="en-US" sz="800" b="1" dirty="0">
                <a:solidFill>
                  <a:srgbClr val="9B2020"/>
                </a:solidFill>
                <a:latin typeface="Calibri" pitchFamily="34" charset="0"/>
                <a:ea typeface="Calibri" pitchFamily="34" charset="-122"/>
                <a:cs typeface="Calibri" pitchFamily="34" charset="-120"/>
              </a:rPr>
              <a:t>ACTION: Update domain_config.py (Cell 19)</a:t>
            </a:r>
            <a:endParaRPr lang="en-US" sz="800" dirty="0"/>
          </a:p>
        </p:txBody>
      </p:sp>
      <p:sp>
        <p:nvSpPr>
          <p:cNvPr id="68" name="Shape 66"/>
          <p:cNvSpPr/>
          <p:nvPr/>
        </p:nvSpPr>
        <p:spPr>
          <a:xfrm>
            <a:off x="182880" y="3730752"/>
            <a:ext cx="5852160" cy="1389888"/>
          </a:xfrm>
          <a:prstGeom prst="rect">
            <a:avLst/>
          </a:prstGeom>
          <a:solidFill>
            <a:srgbClr val="FAE0E0"/>
          </a:solidFill>
          <a:ln w="12700">
            <a:solidFill>
              <a:srgbClr val="9B2020"/>
            </a:solidFill>
            <a:prstDash val="solid"/>
          </a:ln>
          <a:effectLst>
            <a:outerShdw sx="100000" sy="100000" kx="0" ky="0" algn="bl" rotWithShape="0" blurRad="38100" dist="25400" dir="8100000">
              <a:srgbClr val="000000">
                <a:alpha val="9000"/>
              </a:srgbClr>
            </a:outerShdw>
          </a:effectLst>
        </p:spPr>
      </p:sp>
      <p:sp>
        <p:nvSpPr>
          <p:cNvPr id="69" name="Text 67"/>
          <p:cNvSpPr/>
          <p:nvPr/>
        </p:nvSpPr>
        <p:spPr>
          <a:xfrm>
            <a:off x="274320" y="3730752"/>
            <a:ext cx="5669280" cy="237744"/>
          </a:xfrm>
          <a:prstGeom prst="rect">
            <a:avLst/>
          </a:prstGeom>
          <a:noFill/>
          <a:ln/>
        </p:spPr>
        <p:txBody>
          <a:bodyPr wrap="square" lIns="38100" tIns="38100" rIns="38100" bIns="38100" rtlCol="0" anchor="ctr"/>
          <a:lstStyle/>
          <a:p>
            <a:pPr algn="l" indent="0" marL="0">
              <a:buNone/>
            </a:pPr>
            <a:r>
              <a:rPr lang="en-US" sz="900" b="1" dirty="0">
                <a:solidFill>
                  <a:srgbClr val="9B2020"/>
                </a:solidFill>
                <a:latin typeface="Calibri" pitchFamily="34" charset="0"/>
                <a:ea typeface="Calibri" pitchFamily="34" charset="-122"/>
                <a:cs typeface="Calibri" pitchFamily="34" charset="-120"/>
              </a:rPr>
              <a:t>Two lines to change in domain_config.py:</a:t>
            </a:r>
            <a:endParaRPr lang="en-US" sz="900" dirty="0"/>
          </a:p>
        </p:txBody>
      </p:sp>
      <p:sp>
        <p:nvSpPr>
          <p:cNvPr id="70" name="Shape 68"/>
          <p:cNvSpPr/>
          <p:nvPr/>
        </p:nvSpPr>
        <p:spPr>
          <a:xfrm>
            <a:off x="274320" y="3950208"/>
            <a:ext cx="5669280" cy="1133856"/>
          </a:xfrm>
          <a:prstGeom prst="rect">
            <a:avLst/>
          </a:prstGeom>
          <a:solidFill>
            <a:srgbClr val="1E1E2E"/>
          </a:solidFill>
          <a:ln w="10160">
            <a:solidFill>
              <a:srgbClr val="AAAAAA"/>
            </a:solidFill>
            <a:prstDash val="solid"/>
          </a:ln>
        </p:spPr>
      </p:sp>
      <p:sp>
        <p:nvSpPr>
          <p:cNvPr id="71" name="Text 69"/>
          <p:cNvSpPr/>
          <p:nvPr/>
        </p:nvSpPr>
        <p:spPr>
          <a:xfrm>
            <a:off x="347472" y="3986784"/>
            <a:ext cx="5522976" cy="162763"/>
          </a:xfrm>
          <a:prstGeom prst="rect">
            <a:avLst/>
          </a:prstGeom>
          <a:noFill/>
          <a:ln/>
        </p:spPr>
        <p:txBody>
          <a:bodyPr wrap="square" lIns="38100" tIns="38100" rIns="38100" bIns="38100" rtlCol="0" anchor="ctr"/>
          <a:lstStyle/>
          <a:p>
            <a:pPr algn="l" indent="0" marL="0">
              <a:buNone/>
            </a:pPr>
            <a:r>
              <a:rPr lang="en-US" sz="700" dirty="0">
                <a:solidFill>
                  <a:srgbClr val="FA8080"/>
                </a:solidFill>
                <a:latin typeface="Consolas" pitchFamily="34" charset="0"/>
                <a:ea typeface="Consolas" pitchFamily="34" charset="-122"/>
                <a:cs typeface="Consolas" pitchFamily="34" charset="-120"/>
              </a:rPr>
              <a:t># OLD — contaminated Month 2 joint weights (512d):</a:t>
            </a:r>
            <a:endParaRPr lang="en-US" sz="700" dirty="0"/>
          </a:p>
        </p:txBody>
      </p:sp>
      <p:sp>
        <p:nvSpPr>
          <p:cNvPr id="72" name="Text 70"/>
          <p:cNvSpPr/>
          <p:nvPr/>
        </p:nvSpPr>
        <p:spPr>
          <a:xfrm>
            <a:off x="347472" y="4146804"/>
            <a:ext cx="5522976" cy="162763"/>
          </a:xfrm>
          <a:prstGeom prst="rect">
            <a:avLst/>
          </a:prstGeom>
          <a:noFill/>
          <a:ln/>
        </p:spPr>
        <p:txBody>
          <a:bodyPr wrap="square" lIns="38100" tIns="38100" rIns="38100" bIns="38100" rtlCol="0" anchor="ctr"/>
          <a:lstStyle/>
          <a:p>
            <a:pPr algn="l" indent="0" marL="0">
              <a:buNone/>
            </a:pPr>
            <a:r>
              <a:rPr lang="en-US" sz="700" dirty="0">
                <a:solidFill>
                  <a:srgbClr val="FA8080"/>
                </a:solidFill>
                <a:latin typeface="Consolas" pitchFamily="34" charset="0"/>
                <a:ea typeface="Consolas" pitchFamily="34" charset="-122"/>
                <a:cs typeface="Consolas" pitchFamily="34" charset="-120"/>
              </a:rPr>
              <a:t>audio_weights     = '.../miva_knight_month2_rebuilt/audio_projection.pth'</a:t>
            </a:r>
            <a:endParaRPr lang="en-US" sz="700" dirty="0"/>
          </a:p>
        </p:txBody>
      </p:sp>
      <p:sp>
        <p:nvSpPr>
          <p:cNvPr id="73" name="Text 71"/>
          <p:cNvSpPr/>
          <p:nvPr/>
        </p:nvSpPr>
        <p:spPr>
          <a:xfrm>
            <a:off x="347472" y="4306824"/>
            <a:ext cx="5522976" cy="162763"/>
          </a:xfrm>
          <a:prstGeom prst="rect">
            <a:avLst/>
          </a:prstGeom>
          <a:noFill/>
          <a:ln/>
        </p:spPr>
        <p:txBody>
          <a:bodyPr wrap="square" lIns="38100" tIns="38100" rIns="38100" bIns="38100" rtlCol="0" anchor="ctr"/>
          <a:lstStyle/>
          <a:p>
            <a:pPr algn="l" indent="0" marL="0">
              <a:buNone/>
            </a:pPr>
            <a:r>
              <a:rPr lang="en-US" sz="700" dirty="0">
                <a:solidFill>
                  <a:srgbClr val="FA8080"/>
                </a:solidFill>
                <a:latin typeface="Consolas" pitchFamily="34" charset="0"/>
                <a:ea typeface="Consolas" pitchFamily="34" charset="-122"/>
                <a:cs typeface="Consolas" pitchFamily="34" charset="-120"/>
              </a:rPr>
              <a:t>emotion_centroids = '.../miva_knight_month2_rebuilt/emotion_centroids.pt'</a:t>
            </a:r>
            <a:endParaRPr lang="en-US" sz="700" dirty="0"/>
          </a:p>
        </p:txBody>
      </p:sp>
      <p:sp>
        <p:nvSpPr>
          <p:cNvPr id="74" name="Text 72"/>
          <p:cNvSpPr/>
          <p:nvPr/>
        </p:nvSpPr>
        <p:spPr>
          <a:xfrm>
            <a:off x="347472" y="4466844"/>
            <a:ext cx="5522976" cy="162763"/>
          </a:xfrm>
          <a:prstGeom prst="rect">
            <a:avLst/>
          </a:prstGeom>
          <a:noFill/>
          <a:ln/>
        </p:spPr>
        <p:txBody>
          <a:bodyPr wrap="square" lIns="38100" tIns="38100" rIns="38100" bIns="38100" rtlCol="0" anchor="ctr"/>
          <a:lstStyle/>
          <a:p>
            <a:pPr algn="l" indent="0" marL="0">
              <a:buNone/>
            </a:pPr>
            <a:endParaRPr lang="en-US" sz="700" dirty="0"/>
          </a:p>
        </p:txBody>
      </p:sp>
      <p:sp>
        <p:nvSpPr>
          <p:cNvPr id="75" name="Text 73"/>
          <p:cNvSpPr/>
          <p:nvPr/>
        </p:nvSpPr>
        <p:spPr>
          <a:xfrm>
            <a:off x="347472" y="4626864"/>
            <a:ext cx="5522976" cy="162763"/>
          </a:xfrm>
          <a:prstGeom prst="rect">
            <a:avLst/>
          </a:prstGeom>
          <a:noFill/>
          <a:ln/>
        </p:spPr>
        <p:txBody>
          <a:bodyPr wrap="square" lIns="38100" tIns="38100" rIns="38100" bIns="38100" rtlCol="0" anchor="ctr"/>
          <a:lstStyle/>
          <a:p>
            <a:pPr algn="l" indent="0" marL="0">
              <a:buNone/>
            </a:pPr>
            <a:r>
              <a:rPr lang="en-US" sz="700" dirty="0">
                <a:solidFill>
                  <a:srgbClr val="34D399"/>
                </a:solidFill>
                <a:latin typeface="Consolas" pitchFamily="34" charset="0"/>
                <a:ea typeface="Consolas" pitchFamily="34" charset="-122"/>
                <a:cs typeface="Consolas" pitchFamily="34" charset="-120"/>
              </a:rPr>
              <a:t># NEW — Pipeline C standalone (768d correct):</a:t>
            </a:r>
            <a:endParaRPr lang="en-US" sz="700" dirty="0"/>
          </a:p>
        </p:txBody>
      </p:sp>
      <p:sp>
        <p:nvSpPr>
          <p:cNvPr id="76" name="Text 74"/>
          <p:cNvSpPr/>
          <p:nvPr/>
        </p:nvSpPr>
        <p:spPr>
          <a:xfrm>
            <a:off x="347472" y="4786884"/>
            <a:ext cx="5522976" cy="162763"/>
          </a:xfrm>
          <a:prstGeom prst="rect">
            <a:avLst/>
          </a:prstGeom>
          <a:noFill/>
          <a:ln/>
        </p:spPr>
        <p:txBody>
          <a:bodyPr wrap="square" lIns="38100" tIns="38100" rIns="38100" bIns="38100" rtlCol="0" anchor="ctr"/>
          <a:lstStyle/>
          <a:p>
            <a:pPr algn="l" indent="0" marL="0">
              <a:buNone/>
            </a:pPr>
            <a:r>
              <a:rPr lang="en-US" sz="700" dirty="0">
                <a:solidFill>
                  <a:srgbClr val="34D399"/>
                </a:solidFill>
                <a:latin typeface="Consolas" pitchFamily="34" charset="0"/>
                <a:ea typeface="Consolas" pitchFamily="34" charset="-122"/>
                <a:cs typeface="Consolas" pitchFamily="34" charset="-120"/>
              </a:rPr>
              <a:t>audio_weights     = '.../miva_knight_pipelineC/audio_projection.pth'</a:t>
            </a:r>
            <a:endParaRPr lang="en-US" sz="700" dirty="0"/>
          </a:p>
        </p:txBody>
      </p:sp>
      <p:sp>
        <p:nvSpPr>
          <p:cNvPr id="77" name="Text 75"/>
          <p:cNvSpPr/>
          <p:nvPr/>
        </p:nvSpPr>
        <p:spPr>
          <a:xfrm>
            <a:off x="347472" y="4946904"/>
            <a:ext cx="5522976" cy="162763"/>
          </a:xfrm>
          <a:prstGeom prst="rect">
            <a:avLst/>
          </a:prstGeom>
          <a:noFill/>
          <a:ln/>
        </p:spPr>
        <p:txBody>
          <a:bodyPr wrap="square" lIns="38100" tIns="38100" rIns="38100" bIns="38100" rtlCol="0" anchor="ctr"/>
          <a:lstStyle/>
          <a:p>
            <a:pPr algn="l" indent="0" marL="0">
              <a:buNone/>
            </a:pPr>
            <a:r>
              <a:rPr lang="en-US" sz="700" dirty="0">
                <a:solidFill>
                  <a:srgbClr val="34D399"/>
                </a:solidFill>
                <a:latin typeface="Consolas" pitchFamily="34" charset="0"/>
                <a:ea typeface="Consolas" pitchFamily="34" charset="-122"/>
                <a:cs typeface="Consolas" pitchFamily="34" charset="-120"/>
              </a:rPr>
              <a:t>emotion_centroids = '.../miva_knight_pipelineC/emotion_centroids.pt'</a:t>
            </a:r>
            <a:endParaRPr lang="en-US" sz="700" dirty="0"/>
          </a:p>
        </p:txBody>
      </p:sp>
      <p:sp>
        <p:nvSpPr>
          <p:cNvPr id="78" name="Shape 76"/>
          <p:cNvSpPr/>
          <p:nvPr/>
        </p:nvSpPr>
        <p:spPr>
          <a:xfrm>
            <a:off x="6199632" y="3730752"/>
            <a:ext cx="5779008" cy="1389888"/>
          </a:xfrm>
          <a:prstGeom prst="rect">
            <a:avLst/>
          </a:prstGeom>
          <a:solidFill>
            <a:srgbClr val="D8F2DF"/>
          </a:solidFill>
          <a:ln w="12700">
            <a:solidFill>
              <a:srgbClr val="1A6B30"/>
            </a:solidFill>
            <a:prstDash val="solid"/>
          </a:ln>
          <a:effectLst>
            <a:outerShdw sx="100000" sy="100000" kx="0" ky="0" algn="bl" rotWithShape="0" blurRad="38100" dist="25400" dir="8100000">
              <a:srgbClr val="000000">
                <a:alpha val="9000"/>
              </a:srgbClr>
            </a:outerShdw>
          </a:effectLst>
        </p:spPr>
      </p:sp>
      <p:sp>
        <p:nvSpPr>
          <p:cNvPr id="79" name="Text 77"/>
          <p:cNvSpPr/>
          <p:nvPr/>
        </p:nvSpPr>
        <p:spPr>
          <a:xfrm>
            <a:off x="6291072" y="3730752"/>
            <a:ext cx="5596128" cy="237744"/>
          </a:xfrm>
          <a:prstGeom prst="rect">
            <a:avLst/>
          </a:prstGeom>
          <a:noFill/>
          <a:ln/>
        </p:spPr>
        <p:txBody>
          <a:bodyPr wrap="square" lIns="38100" tIns="38100" rIns="38100" bIns="38100" rtlCol="0" anchor="ctr"/>
          <a:lstStyle/>
          <a:p>
            <a:pPr algn="l" indent="0" marL="0">
              <a:buNone/>
            </a:pPr>
            <a:r>
              <a:rPr lang="en-US" sz="900" b="1" dirty="0">
                <a:solidFill>
                  <a:srgbClr val="1A6B30"/>
                </a:solidFill>
                <a:latin typeface="Calibri" pitchFamily="34" charset="0"/>
                <a:ea typeface="Calibri" pitchFamily="34" charset="-122"/>
                <a:cs typeface="Calibri" pitchFamily="34" charset="-120"/>
              </a:rPr>
              <a:t>Integration into MIVA-KNIGHT — Both Domains</a:t>
            </a:r>
            <a:endParaRPr lang="en-US" sz="900" dirty="0"/>
          </a:p>
        </p:txBody>
      </p:sp>
      <p:sp>
        <p:nvSpPr>
          <p:cNvPr id="80" name="Text 78"/>
          <p:cNvSpPr/>
          <p:nvPr/>
        </p:nvSpPr>
        <p:spPr>
          <a:xfrm>
            <a:off x="6291072" y="3950208"/>
            <a:ext cx="5596128" cy="1133856"/>
          </a:xfrm>
          <a:prstGeom prst="rect">
            <a:avLst/>
          </a:prstGeom>
          <a:noFill/>
          <a:ln/>
        </p:spPr>
        <p:txBody>
          <a:bodyPr wrap="square" lIns="38100" tIns="38100" rIns="38100" bIns="38100" rtlCol="0" anchor="t"/>
          <a:lstStyle/>
          <a:p>
            <a:pPr algn="l" indent="0" marL="0">
              <a:buNone/>
            </a:pPr>
            <a:r>
              <a:rPr lang="en-US" sz="750" dirty="0">
                <a:solidFill>
                  <a:srgbClr val="1A1A1A"/>
                </a:solidFill>
                <a:latin typeface="Calibri" pitchFamily="34" charset="0"/>
                <a:ea typeface="Calibri" pitchFamily="34" charset="-122"/>
                <a:cs typeface="Calibri" pitchFamily="34" charset="-120"/>
              </a:rPr>
              <a:t>domain_config.py:</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 GeneralDomain</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   ├── faiss_index  : coco_val2017.faiss        (Pipeline A)</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   ├── image_proj   : COCO ImageProjection      (Pipeline A)</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   ├── audio_proj   : audio_projection.pth  ← Pipeline C (same file)</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   └── centroids    : emotion_centroids.pt  ← Pipeline C (same file)</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 MedicalDomain</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    ├── faiss_index  : roco_medical.faiss         (Pipeline B)</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    ├── image_proj   : ROCO ImageProjection       (Pipeline B)</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    ├── audio_proj   : audio_projection.pth  ← Pipeline C (same file)</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    └── centroids    : emotion_centroids.pt  ← Pipeline C (same file)</a:t>
            </a:r>
            <a:endParaRPr lang="en-US" sz="750" dirty="0"/>
          </a:p>
          <a:p>
            <a:pPr algn="l" indent="0" marL="0">
              <a:buNone/>
            </a:pP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Key insight: AudioProjection is domain-independent.</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A happy voice sounds happy whether asking about dogs or X-rays.</a:t>
            </a:r>
            <a:endParaRPr lang="en-US" sz="750" dirty="0"/>
          </a:p>
        </p:txBody>
      </p:sp>
      <p:sp>
        <p:nvSpPr>
          <p:cNvPr id="81" name="Shape 79"/>
          <p:cNvSpPr/>
          <p:nvPr/>
        </p:nvSpPr>
        <p:spPr>
          <a:xfrm>
            <a:off x="182880" y="5230368"/>
            <a:ext cx="36576" cy="237744"/>
          </a:xfrm>
          <a:prstGeom prst="rect">
            <a:avLst/>
          </a:prstGeom>
          <a:solidFill>
            <a:srgbClr val="1A6B30"/>
          </a:solidFill>
          <a:ln w="12700">
            <a:solidFill>
              <a:srgbClr val="1A6B30"/>
            </a:solidFill>
            <a:prstDash val="solid"/>
          </a:ln>
        </p:spPr>
      </p:sp>
      <p:sp>
        <p:nvSpPr>
          <p:cNvPr id="82" name="Text 80"/>
          <p:cNvSpPr/>
          <p:nvPr/>
        </p:nvSpPr>
        <p:spPr>
          <a:xfrm>
            <a:off x="256032" y="5230368"/>
            <a:ext cx="5486400" cy="237744"/>
          </a:xfrm>
          <a:prstGeom prst="rect">
            <a:avLst/>
          </a:prstGeom>
          <a:noFill/>
          <a:ln/>
        </p:spPr>
        <p:txBody>
          <a:bodyPr wrap="square" lIns="38100" tIns="38100" rIns="38100" bIns="38100" rtlCol="0" anchor="ctr"/>
          <a:lstStyle/>
          <a:p>
            <a:pPr algn="l" indent="0" marL="0">
              <a:buNone/>
            </a:pPr>
            <a:r>
              <a:rPr lang="en-US" sz="800" b="1" dirty="0">
                <a:solidFill>
                  <a:srgbClr val="1A6B30"/>
                </a:solidFill>
                <a:latin typeface="Calibri" pitchFamily="34" charset="0"/>
                <a:ea typeface="Calibri" pitchFamily="34" charset="-122"/>
                <a:cs typeface="Calibri" pitchFamily="34" charset="-120"/>
              </a:rPr>
              <a:t>Verification After Update</a:t>
            </a:r>
            <a:endParaRPr lang="en-US" sz="800" dirty="0"/>
          </a:p>
        </p:txBody>
      </p:sp>
      <p:sp>
        <p:nvSpPr>
          <p:cNvPr id="83" name="Shape 81"/>
          <p:cNvSpPr/>
          <p:nvPr/>
        </p:nvSpPr>
        <p:spPr>
          <a:xfrm>
            <a:off x="182880" y="5449824"/>
            <a:ext cx="5760720" cy="749808"/>
          </a:xfrm>
          <a:prstGeom prst="rect">
            <a:avLst/>
          </a:prstGeom>
          <a:solidFill>
            <a:srgbClr val="1E1E2E"/>
          </a:solidFill>
          <a:ln w="10160">
            <a:solidFill>
              <a:srgbClr val="AAAAAA"/>
            </a:solidFill>
            <a:prstDash val="solid"/>
          </a:ln>
        </p:spPr>
      </p:sp>
      <p:sp>
        <p:nvSpPr>
          <p:cNvPr id="84" name="Text 82"/>
          <p:cNvSpPr/>
          <p:nvPr/>
        </p:nvSpPr>
        <p:spPr>
          <a:xfrm>
            <a:off x="274320" y="5486400"/>
            <a:ext cx="5577840" cy="162763"/>
          </a:xfrm>
          <a:prstGeom prst="rect">
            <a:avLst/>
          </a:prstGeom>
          <a:noFill/>
          <a:ln/>
        </p:spPr>
        <p:txBody>
          <a:bodyPr wrap="square" lIns="38100" tIns="38100" rIns="38100" bIns="38100" rtlCol="0" anchor="ctr"/>
          <a:lstStyle/>
          <a:p>
            <a:pPr algn="l" indent="0" marL="0">
              <a:buNone/>
            </a:pPr>
            <a:r>
              <a:rPr lang="en-US" sz="700" dirty="0">
                <a:solidFill>
                  <a:srgbClr val="94A3B8"/>
                </a:solidFill>
                <a:latin typeface="Consolas" pitchFamily="34" charset="0"/>
                <a:ea typeface="Consolas" pitchFamily="34" charset="-122"/>
                <a:cs typeface="Consolas" pitchFamily="34" charset="-120"/>
              </a:rPr>
              <a:t>from domain_config import GeneralDomain; import torch</a:t>
            </a:r>
            <a:endParaRPr lang="en-US" sz="700" dirty="0"/>
          </a:p>
        </p:txBody>
      </p:sp>
      <p:sp>
        <p:nvSpPr>
          <p:cNvPr id="85" name="Text 83"/>
          <p:cNvSpPr/>
          <p:nvPr/>
        </p:nvSpPr>
        <p:spPr>
          <a:xfrm>
            <a:off x="274320" y="5632704"/>
            <a:ext cx="5577840" cy="162763"/>
          </a:xfrm>
          <a:prstGeom prst="rect">
            <a:avLst/>
          </a:prstGeom>
          <a:noFill/>
          <a:ln/>
        </p:spPr>
        <p:txBody>
          <a:bodyPr wrap="square" lIns="38100" tIns="38100" rIns="38100" bIns="38100" rtlCol="0" anchor="ctr"/>
          <a:lstStyle/>
          <a:p>
            <a:pPr algn="l" indent="0" marL="0">
              <a:buNone/>
            </a:pPr>
            <a:r>
              <a:rPr lang="en-US" sz="700" dirty="0">
                <a:solidFill>
                  <a:srgbClr val="94A3B8"/>
                </a:solidFill>
                <a:latin typeface="Consolas" pitchFamily="34" charset="0"/>
                <a:ea typeface="Consolas" pitchFamily="34" charset="-122"/>
                <a:cs typeface="Consolas" pitchFamily="34" charset="-120"/>
              </a:rPr>
              <a:t>cfg = GeneralDomain()</a:t>
            </a:r>
            <a:endParaRPr lang="en-US" sz="700" dirty="0"/>
          </a:p>
        </p:txBody>
      </p:sp>
      <p:sp>
        <p:nvSpPr>
          <p:cNvPr id="86" name="Text 84"/>
          <p:cNvSpPr/>
          <p:nvPr/>
        </p:nvSpPr>
        <p:spPr>
          <a:xfrm>
            <a:off x="274320" y="5779008"/>
            <a:ext cx="5577840" cy="162763"/>
          </a:xfrm>
          <a:prstGeom prst="rect">
            <a:avLst/>
          </a:prstGeom>
          <a:noFill/>
          <a:ln/>
        </p:spPr>
        <p:txBody>
          <a:bodyPr wrap="square" lIns="38100" tIns="38100" rIns="38100" bIns="38100" rtlCol="0" anchor="ctr"/>
          <a:lstStyle/>
          <a:p>
            <a:pPr algn="l" indent="0" marL="0">
              <a:buNone/>
            </a:pPr>
            <a:r>
              <a:rPr lang="en-US" sz="700" dirty="0">
                <a:solidFill>
                  <a:srgbClr val="94A3B8"/>
                </a:solidFill>
                <a:latin typeface="Consolas" pitchFamily="34" charset="0"/>
                <a:ea typeface="Consolas" pitchFamily="34" charset="-122"/>
                <a:cs typeface="Consolas" pitchFamily="34" charset="-120"/>
              </a:rPr>
              <a:t>ckpt = torch.load(cfg.audio_weights)</a:t>
            </a:r>
            <a:endParaRPr lang="en-US" sz="700" dirty="0"/>
          </a:p>
        </p:txBody>
      </p:sp>
      <p:sp>
        <p:nvSpPr>
          <p:cNvPr id="87" name="Text 85"/>
          <p:cNvSpPr/>
          <p:nvPr/>
        </p:nvSpPr>
        <p:spPr>
          <a:xfrm>
            <a:off x="274320" y="5925312"/>
            <a:ext cx="5577840" cy="162763"/>
          </a:xfrm>
          <a:prstGeom prst="rect">
            <a:avLst/>
          </a:prstGeom>
          <a:noFill/>
          <a:ln/>
        </p:spPr>
        <p:txBody>
          <a:bodyPr wrap="square" lIns="38100" tIns="38100" rIns="38100" bIns="38100" rtlCol="0" anchor="ctr"/>
          <a:lstStyle/>
          <a:p>
            <a:pPr algn="l" indent="0" marL="0">
              <a:buNone/>
            </a:pPr>
            <a:r>
              <a:rPr lang="en-US" sz="700" dirty="0">
                <a:solidFill>
                  <a:srgbClr val="34D399"/>
                </a:solidFill>
                <a:latin typeface="Consolas" pitchFamily="34" charset="0"/>
                <a:ea typeface="Consolas" pitchFamily="34" charset="-122"/>
                <a:cs typeface="Consolas" pitchFamily="34" charset="-120"/>
              </a:rPr>
              <a:t>assert ckpt['wav2vec_dim'] == 768,   'Still pointing to old 512d weights!'</a:t>
            </a:r>
            <a:endParaRPr lang="en-US" sz="700" dirty="0"/>
          </a:p>
        </p:txBody>
      </p:sp>
      <p:sp>
        <p:nvSpPr>
          <p:cNvPr id="88" name="Text 86"/>
          <p:cNvSpPr/>
          <p:nvPr/>
        </p:nvSpPr>
        <p:spPr>
          <a:xfrm>
            <a:off x="274320" y="6071616"/>
            <a:ext cx="5577840" cy="162763"/>
          </a:xfrm>
          <a:prstGeom prst="rect">
            <a:avLst/>
          </a:prstGeom>
          <a:noFill/>
          <a:ln/>
        </p:spPr>
        <p:txBody>
          <a:bodyPr wrap="square" lIns="38100" tIns="38100" rIns="38100" bIns="38100" rtlCol="0" anchor="ctr"/>
          <a:lstStyle/>
          <a:p>
            <a:pPr algn="l" indent="0" marL="0">
              <a:buNone/>
            </a:pPr>
            <a:r>
              <a:rPr lang="en-US" sz="700" dirty="0">
                <a:solidFill>
                  <a:srgbClr val="34D399"/>
                </a:solidFill>
                <a:latin typeface="Consolas" pitchFamily="34" charset="0"/>
                <a:ea typeface="Consolas" pitchFamily="34" charset="-122"/>
                <a:cs typeface="Consolas" pitchFamily="34" charset="-120"/>
              </a:rPr>
              <a:t>assert ckpt['pipeline'] == 'C-RAVDESS-standalone', 'Wrong pipeline!'</a:t>
            </a:r>
            <a:endParaRPr lang="en-US" sz="700" dirty="0"/>
          </a:p>
        </p:txBody>
      </p:sp>
      <p:sp>
        <p:nvSpPr>
          <p:cNvPr id="89" name="Shape 87"/>
          <p:cNvSpPr/>
          <p:nvPr/>
        </p:nvSpPr>
        <p:spPr>
          <a:xfrm>
            <a:off x="6108192" y="5230368"/>
            <a:ext cx="36576" cy="237744"/>
          </a:xfrm>
          <a:prstGeom prst="rect">
            <a:avLst/>
          </a:prstGeom>
          <a:solidFill>
            <a:srgbClr val="5B2D8E"/>
          </a:solidFill>
          <a:ln w="12700">
            <a:solidFill>
              <a:srgbClr val="5B2D8E"/>
            </a:solidFill>
            <a:prstDash val="solid"/>
          </a:ln>
        </p:spPr>
      </p:sp>
      <p:sp>
        <p:nvSpPr>
          <p:cNvPr id="90" name="Text 88"/>
          <p:cNvSpPr/>
          <p:nvPr/>
        </p:nvSpPr>
        <p:spPr>
          <a:xfrm>
            <a:off x="6181344" y="5230368"/>
            <a:ext cx="5486400" cy="237744"/>
          </a:xfrm>
          <a:prstGeom prst="rect">
            <a:avLst/>
          </a:prstGeom>
          <a:noFill/>
          <a:ln/>
        </p:spPr>
        <p:txBody>
          <a:bodyPr wrap="square" lIns="38100" tIns="38100" rIns="38100" bIns="38100" rtlCol="0" anchor="ctr"/>
          <a:lstStyle/>
          <a:p>
            <a:pPr algn="l" indent="0" marL="0">
              <a:buNone/>
            </a:pPr>
            <a:r>
              <a:rPr lang="en-US" sz="800" b="1" dirty="0">
                <a:solidFill>
                  <a:srgbClr val="5B2D8E"/>
                </a:solidFill>
                <a:latin typeface="Calibri" pitchFamily="34" charset="0"/>
                <a:ea typeface="Calibri" pitchFamily="34" charset="-122"/>
                <a:cs typeface="Calibri" pitchFamily="34" charset="-120"/>
              </a:rPr>
              <a:t>Next: Pipeline D — CREMA-D Audio-Visual MER</a:t>
            </a:r>
            <a:endParaRPr lang="en-US" sz="800" dirty="0"/>
          </a:p>
        </p:txBody>
      </p:sp>
      <p:sp>
        <p:nvSpPr>
          <p:cNvPr id="91" name="Shape 89"/>
          <p:cNvSpPr/>
          <p:nvPr/>
        </p:nvSpPr>
        <p:spPr>
          <a:xfrm>
            <a:off x="6108192" y="5449824"/>
            <a:ext cx="5870448" cy="749808"/>
          </a:xfrm>
          <a:prstGeom prst="rect">
            <a:avLst/>
          </a:prstGeom>
          <a:solidFill>
            <a:srgbClr val="EAE0F8"/>
          </a:solidFill>
          <a:ln w="10160">
            <a:solidFill>
              <a:srgbClr val="5B2D8E"/>
            </a:solidFill>
            <a:prstDash val="solid"/>
          </a:ln>
          <a:effectLst>
            <a:outerShdw sx="100000" sy="100000" kx="0" ky="0" algn="bl" rotWithShape="0" blurRad="38100" dist="25400" dir="8100000">
              <a:srgbClr val="000000">
                <a:alpha val="9000"/>
              </a:srgbClr>
            </a:outerShdw>
          </a:effectLst>
        </p:spPr>
      </p:sp>
      <p:sp>
        <p:nvSpPr>
          <p:cNvPr id="92" name="Text 90"/>
          <p:cNvSpPr/>
          <p:nvPr/>
        </p:nvSpPr>
        <p:spPr>
          <a:xfrm>
            <a:off x="6199632" y="5486400"/>
            <a:ext cx="5687568" cy="676656"/>
          </a:xfrm>
          <a:prstGeom prst="rect">
            <a:avLst/>
          </a:prstGeom>
          <a:noFill/>
          <a:ln/>
        </p:spPr>
        <p:txBody>
          <a:bodyPr wrap="square" lIns="38100" tIns="38100" rIns="38100" bIns="38100" rtlCol="0" anchor="t"/>
          <a:lstStyle/>
          <a:p>
            <a:pPr algn="l" indent="0" marL="0">
              <a:buNone/>
            </a:pPr>
            <a:r>
              <a:rPr lang="en-US" sz="750" dirty="0">
                <a:solidFill>
                  <a:srgbClr val="1A1A1A"/>
                </a:solidFill>
                <a:latin typeface="Calibri" pitchFamily="34" charset="0"/>
                <a:ea typeface="Calibri" pitchFamily="34" charset="-122"/>
                <a:cs typeface="Calibri" pitchFamily="34" charset="-120"/>
              </a:rPr>
              <a:t>Dataset: CREMA-D (7,442 .mp4 clips, 91 actors, 6 emotions)</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Architecture: AudioProjection (warm-start from Pipeline C) + VideoFrameProjection</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Loss: Cross-modal InfoNCE → then SupCon refinement</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Ground truth: audio + video from same actor, same utterance, same emotion</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(first genuine cross-modal alignment in MIVA-KNIGHT)</a:t>
            </a:r>
            <a:endParaRPr lang="en-US" sz="750" dirty="0"/>
          </a:p>
          <a:p>
            <a:pPr algn="l" indent="0" marL="0">
              <a:buNone/>
            </a:pPr>
            <a:r>
              <a:rPr lang="en-US" sz="750" dirty="0">
                <a:solidFill>
                  <a:srgbClr val="1A1A1A"/>
                </a:solidFill>
                <a:latin typeface="Calibri" pitchFamily="34" charset="0"/>
                <a:ea typeface="Calibri" pitchFamily="34" charset="-122"/>
                <a:cs typeface="Calibri" pitchFamily="34" charset="-120"/>
              </a:rPr>
              <a:t>Pipeline C centroids → warm-start for Pipeline D centroid computation</a:t>
            </a:r>
            <a:endParaRPr lang="en-US" sz="750" dirty="0"/>
          </a:p>
        </p:txBody>
      </p:sp>
      <p:sp>
        <p:nvSpPr>
          <p:cNvPr id="93" name="Shape 91"/>
          <p:cNvSpPr/>
          <p:nvPr/>
        </p:nvSpPr>
        <p:spPr>
          <a:xfrm>
            <a:off x="182880" y="6272784"/>
            <a:ext cx="11795760" cy="347472"/>
          </a:xfrm>
          <a:prstGeom prst="rect">
            <a:avLst/>
          </a:prstGeom>
          <a:solidFill>
            <a:srgbClr val="0F3460"/>
          </a:solidFill>
          <a:ln w="12700">
            <a:solidFill>
              <a:srgbClr val="0F3460"/>
            </a:solidFill>
            <a:prstDash val="solid"/>
          </a:ln>
        </p:spPr>
      </p:sp>
      <p:sp>
        <p:nvSpPr>
          <p:cNvPr id="94" name="Text 92"/>
          <p:cNvSpPr/>
          <p:nvPr/>
        </p:nvSpPr>
        <p:spPr>
          <a:xfrm>
            <a:off x="274320" y="6272784"/>
            <a:ext cx="11521440" cy="347472"/>
          </a:xfrm>
          <a:prstGeom prst="rect">
            <a:avLst/>
          </a:prstGeom>
          <a:noFill/>
          <a:ln/>
        </p:spPr>
        <p:txBody>
          <a:bodyPr wrap="square" lIns="38100" tIns="38100" rIns="38100" bIns="3810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PIPELINE C COMPLETE  |  Dataset: RAVDESS 1,440 clips 8 emotions  |  Loss: SupCon (no text, no COCO)  |  wav2vec_dim: 768 (bug fixed from 512)  |  Best acc: 59.0%  |  Best epoch: 27  |  6/8 emotions correct  |  5/8 → 6/8 vs Month 2</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MIVA-KNIGHT Pipeline C — RAVDESS Standalone Audio</dc:title>
  <dc:subject>PptxGenJS Presentation</dc:subject>
  <dc:creator>PptxGenJS</dc:creator>
  <cp:lastModifiedBy>PptxGenJS</cp:lastModifiedBy>
  <cp:revision>1</cp:revision>
  <dcterms:created xsi:type="dcterms:W3CDTF">2026-03-17T18:25:30Z</dcterms:created>
  <dcterms:modified xsi:type="dcterms:W3CDTF">2026-03-17T18:25:30Z</dcterms:modified>
</cp:coreProperties>
</file>