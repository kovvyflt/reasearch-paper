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05156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 — CREMA-D Audio-Visual Multimodal Emotion Recognition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0" y="0"/>
            <a:ext cx="11887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117043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InfoNCE → SupCon Refinement  |  7,442 .mp4 clips  |  91 actors  |  6 emotions  |  Audio + Video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IT 581 Capstone  |  Concordia University of Edmonton  |  Pipeline D — CREMA-D Audio-Visual Emotion Recognition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182880" y="621792"/>
            <a:ext cx="36576" cy="23774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621792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4-Pipeline Architecture — Pipeline D in Context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859536"/>
            <a:ext cx="2816352" cy="914400"/>
          </a:xfrm>
          <a:prstGeom prst="rect">
            <a:avLst/>
          </a:prstGeom>
          <a:solidFill>
            <a:srgbClr val="D1F0E6"/>
          </a:solidFill>
          <a:ln w="8890">
            <a:solidFill>
              <a:srgbClr val="0D7C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859536"/>
            <a:ext cx="265176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COCO (Text+Image)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1097280"/>
            <a:ext cx="265176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  |  15 epochs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TextProj + ImageProj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P@1=64.6%  MRR=0.727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82880" y="1773936"/>
            <a:ext cx="281635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512-d space  S⁵¹¹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182112" y="859536"/>
            <a:ext cx="2816352" cy="914400"/>
          </a:xfrm>
          <a:prstGeom prst="rect">
            <a:avLst/>
          </a:prstGeom>
          <a:solidFill>
            <a:srgbClr val="D7E4F5"/>
          </a:solidFill>
          <a:ln w="8890">
            <a:solidFill>
              <a:srgbClr val="1440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859536"/>
            <a:ext cx="265176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ROCO (Medical)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73552" y="1097280"/>
            <a:ext cx="265176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  |  ~20 epochs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ImageProj (ROCO head)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P@1=62.8%  MRR=0.767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182112" y="1773936"/>
            <a:ext cx="281635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512-d space  S⁵¹¹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6181344" y="859536"/>
            <a:ext cx="2816352" cy="914400"/>
          </a:xfrm>
          <a:prstGeom prst="rect">
            <a:avLst/>
          </a:prstGeom>
          <a:solidFill>
            <a:srgbClr val="F3E5F5"/>
          </a:solidFill>
          <a:ln w="8890">
            <a:solidFill>
              <a:srgbClr val="7B1FA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2784" y="859536"/>
            <a:ext cx="265176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RAVDESS (Audio)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72784" y="1097280"/>
            <a:ext cx="265176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SupCon  |  30 epochs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AudioProjection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 @ 59.0%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181344" y="1773936"/>
            <a:ext cx="281635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512-d space  S⁵¹¹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9180576" y="859536"/>
            <a:ext cx="2816352" cy="91440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80576" y="859536"/>
            <a:ext cx="50292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0" y="859536"/>
            <a:ext cx="265176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CREMA-D ← THIS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326880" y="1097280"/>
            <a:ext cx="265176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InfoNCE→SupCon  |  13+10+15 ep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AudioProj + VideoFrameProj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phases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180576" y="1773936"/>
            <a:ext cx="281635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512-d space  S⁵¹¹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82880" y="2066544"/>
            <a:ext cx="36576" cy="2377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066544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CREMA-D Dataset — Crowd-sourced Emotional Multimodal Actors Dataset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" y="2286000"/>
            <a:ext cx="5394960" cy="2066544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2286000"/>
            <a:ext cx="521208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CREMA-D Core Properties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9456" y="2578608"/>
            <a:ext cx="5321808" cy="219456"/>
          </a:xfrm>
          <a:prstGeom prst="rect">
            <a:avLst/>
          </a:prstGeom>
          <a:solidFill>
            <a:srgbClr val="FFEBEE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578608"/>
            <a:ext cx="1700784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clips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993392" y="2578608"/>
            <a:ext cx="3511296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7,442 short .mp4 video files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19456" y="2798064"/>
            <a:ext cx="5321808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798064"/>
            <a:ext cx="1700784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993392" y="2798064"/>
            <a:ext cx="3511296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diverse actors (age, gender, ethnicity)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19456" y="3017520"/>
            <a:ext cx="5321808" cy="219456"/>
          </a:xfrm>
          <a:prstGeom prst="rect">
            <a:avLst/>
          </a:prstGeom>
          <a:solidFill>
            <a:srgbClr val="FFEBEE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017520"/>
            <a:ext cx="1700784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993392" y="3017520"/>
            <a:ext cx="3511296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 angry, disgust, fearful, happy, neutral, sad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19456" y="3236976"/>
            <a:ext cx="5321808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236976"/>
            <a:ext cx="1700784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993392" y="3236976"/>
            <a:ext cx="3511296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~3–5 seconds per clip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19456" y="3456432"/>
            <a:ext cx="5321808" cy="219456"/>
          </a:xfrm>
          <a:prstGeom prst="rect">
            <a:avLst/>
          </a:prstGeom>
          <a:solidFill>
            <a:srgbClr val="FFEBEE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3456432"/>
            <a:ext cx="1700784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993392" y="3456432"/>
            <a:ext cx="3511296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.mp4 — extracted as 16kHz mono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19456" y="3675888"/>
            <a:ext cx="5321808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3675888"/>
            <a:ext cx="1700784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993392" y="3675888"/>
            <a:ext cx="3511296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frames — middle frame used as visual anchor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19456" y="3895344"/>
            <a:ext cx="5321808" cy="219456"/>
          </a:xfrm>
          <a:prstGeom prst="rect">
            <a:avLst/>
          </a:prstGeom>
          <a:solidFill>
            <a:srgbClr val="FFEBEE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3895344"/>
            <a:ext cx="1700784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middle frame?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993392" y="3895344"/>
            <a:ext cx="3511296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facial expression (widest smile, furrowed brow) before relaxation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19456" y="4114800"/>
            <a:ext cx="5321808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114800"/>
            <a:ext cx="1700784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RAVDESS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993392" y="4114800"/>
            <a:ext cx="3511296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7,442 vs 1,440 clips  |  91 vs 24 actors  |  6 vs 8 emotions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742432" y="2066544"/>
            <a:ext cx="36576" cy="237744"/>
          </a:xfrm>
          <a:prstGeom prst="rect">
            <a:avLst/>
          </a:prstGeom>
          <a:solidFill>
            <a:srgbClr val="8A5200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15584" y="2066544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CREMA-D Filename Encoding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742432" y="2286000"/>
            <a:ext cx="6236208" cy="2066544"/>
          </a:xfrm>
          <a:prstGeom prst="rect">
            <a:avLst/>
          </a:prstGeom>
          <a:solidFill>
            <a:srgbClr val="1E1E2E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33872" y="2322576"/>
            <a:ext cx="605332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CREMA-D filename: 4 fields, underscore-separated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833872" y="2491740"/>
            <a:ext cx="605332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 1001  _  DFA  _  ANG  _  XX  .mp4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833872" y="2660904"/>
            <a:ext cx="605332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│       │       │       └── Level (XX=unspecified intensity)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833872" y="2830068"/>
            <a:ext cx="605332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│       │       └────────── Emotion code (3-letter)  ← KEY FIELD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833872" y="2999232"/>
            <a:ext cx="605332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│       └────────────────── Sentence code (12 possible sentences)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833872" y="3168396"/>
            <a:ext cx="605332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└────────────────────────── Actor ID (1001-1091, i.e. 91 actors)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833872" y="3337560"/>
            <a:ext cx="605332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833872" y="3506724"/>
            <a:ext cx="605332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EMOTION MAP:  ANG→angry  DIS→disgust  FEA→fearful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833872" y="3675888"/>
            <a:ext cx="605332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HAP→happy  NEU→neutral  SAD→sad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833872" y="3845052"/>
            <a:ext cx="605332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833872" y="4014216"/>
            <a:ext cx="605332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int: angry=0  disgust=1  fearful=2  happy=3  neutral=4  sad=5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833872" y="4183380"/>
            <a:ext cx="605332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Handles 4-part (1001_DFA_ANG_XX) and 5-part formats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182880" y="4462272"/>
            <a:ext cx="3657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6032" y="4462272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Training Arc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2880" y="4681728"/>
            <a:ext cx="2834640" cy="1755648"/>
          </a:xfrm>
          <a:prstGeom prst="rect">
            <a:avLst/>
          </a:prstGeom>
          <a:solidFill>
            <a:srgbClr val="E3F2FD"/>
          </a:solidFill>
          <a:ln w="11430">
            <a:solidFill>
              <a:srgbClr val="1565C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182880" y="4681728"/>
            <a:ext cx="50292" cy="17556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92608" y="4681728"/>
            <a:ext cx="2670048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Cross-Modal InfoNCE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292608" y="4919472"/>
            <a:ext cx="2670048" cy="1481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audio↔video same clip (no labels)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L_InfoNCE(ê_audio, ê_video)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13  |  LR: 1e-4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loss 3.44→1.28  |  42.2% (1/6)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017520" y="5559552"/>
            <a:ext cx="182880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3182112" y="4681728"/>
            <a:ext cx="2834640" cy="1755648"/>
          </a:xfrm>
          <a:prstGeom prst="rect">
            <a:avLst/>
          </a:prstGeom>
          <a:solidFill>
            <a:srgbClr val="FFF0CC"/>
          </a:solidFill>
          <a:ln w="11430">
            <a:solidFill>
              <a:srgbClr val="8A520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3182112" y="4681728"/>
            <a:ext cx="50292" cy="1755648"/>
          </a:xfrm>
          <a:prstGeom prst="rect">
            <a:avLst/>
          </a:prstGeom>
          <a:solidFill>
            <a:srgbClr val="8A5200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91840" y="4681728"/>
            <a:ext cx="2670048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SupCon Refinement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291840" y="4919472"/>
            <a:ext cx="2670048" cy="1481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CREMA-D emotion labels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L_SupCon(ê_audio, labels)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10  |  LR: 1e-5 ← too small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stuck at 3.35  |  43.9% (3/6)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016752" y="5559552"/>
            <a:ext cx="182880" cy="0"/>
          </a:xfrm>
          <a:prstGeom prst="line">
            <a:avLst/>
          </a:prstGeom>
          <a:noFill/>
          <a:ln w="15240">
            <a:solidFill>
              <a:srgbClr val="8A5200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6181344" y="4681728"/>
            <a:ext cx="2834640" cy="1755648"/>
          </a:xfrm>
          <a:prstGeom prst="rect">
            <a:avLst/>
          </a:prstGeom>
          <a:solidFill>
            <a:srgbClr val="E8F5E9"/>
          </a:solidFill>
          <a:ln w="11430">
            <a:solidFill>
              <a:srgbClr val="2E7D32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6181344" y="4681728"/>
            <a:ext cx="50292" cy="17556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91072" y="4681728"/>
            <a:ext cx="2670048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SupCon Refinement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291072" y="4919472"/>
            <a:ext cx="2670048" cy="1481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CREMA-D emotion labels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L_SupCon(ê_audio, labels)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15  |  LR: 5e-5 ← 5× larger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3.0  |  ≥ 4/6 (66.7%)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9015984" y="5559552"/>
            <a:ext cx="182880" cy="0"/>
          </a:xfrm>
          <a:prstGeom prst="line">
            <a:avLst/>
          </a:prstGeom>
          <a:noFill/>
          <a:ln w="1524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9180576" y="4681728"/>
            <a:ext cx="2834640" cy="1755648"/>
          </a:xfrm>
          <a:prstGeom prst="rect">
            <a:avLst/>
          </a:prstGeom>
          <a:solidFill>
            <a:srgbClr val="FFEBEE"/>
          </a:solidFill>
          <a:ln w="11430">
            <a:solidFill>
              <a:srgbClr val="C62828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9180576" y="4681728"/>
            <a:ext cx="50292" cy="17556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290304" y="4681728"/>
            <a:ext cx="2670048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Outputs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9290304" y="4919472"/>
            <a:ext cx="2670048" cy="1481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audio_projection_cremad.pth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video_frame_projection.pth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emotion_centroids_cremad.pt [6×512]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config.json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05156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 — Full Dual-Branch Architecture &amp; Feature Caching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0" y="0"/>
            <a:ext cx="11887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117043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Audio: Wav2Vec 2.0 (94M frozen) + AudioProjection  |  Video: ResNet-50 (23M frozen) + VideoFrameProjection  |  One-time cache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IT 581 Capstone  |  Concordia University of Edmonton  |  Pipeline D — CREMA-D Audio-Visual Emotion Recognition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182880" y="621792"/>
            <a:ext cx="36576" cy="23774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621792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Architecture — Two Frozen Backbones + Two Trainable Projection Heads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868680"/>
            <a:ext cx="1389888" cy="1042416"/>
          </a:xfrm>
          <a:prstGeom prst="rect">
            <a:avLst/>
          </a:prstGeom>
          <a:solidFill>
            <a:srgbClr val="1A1A2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868680"/>
            <a:ext cx="1389888" cy="10424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CREMA-D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.mp4 clip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1001_DFA_ANG_XX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~3-5 seconds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82880" y="1938528"/>
            <a:ext cx="1389888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audio-visual clip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1591056" y="1389888"/>
            <a:ext cx="256032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47088" y="1042416"/>
            <a:ext cx="0" cy="694944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47088" y="1042416"/>
            <a:ext cx="256032" cy="0"/>
          </a:xfrm>
          <a:prstGeom prst="line">
            <a:avLst/>
          </a:prstGeom>
          <a:noFill/>
          <a:ln w="15240">
            <a:solidFill>
              <a:srgbClr val="7B1FA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847088" y="1737360"/>
            <a:ext cx="256032" cy="0"/>
          </a:xfrm>
          <a:prstGeom prst="line">
            <a:avLst/>
          </a:prstGeom>
          <a:noFill/>
          <a:ln w="1524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121408" y="868680"/>
            <a:ext cx="1005840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BRANCH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21408" y="987552"/>
            <a:ext cx="1755648" cy="475488"/>
          </a:xfrm>
          <a:prstGeom prst="rect">
            <a:avLst/>
          </a:prstGeom>
          <a:solidFill>
            <a:srgbClr val="F5F5F5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987552"/>
            <a:ext cx="1609344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Preprocessing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194560" y="1170432"/>
            <a:ext cx="160934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torchaudio.load() → 16kHz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stereo→mono [1,T]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895344" y="1225296"/>
            <a:ext cx="201168" cy="0"/>
          </a:xfrm>
          <a:prstGeom prst="line">
            <a:avLst/>
          </a:prstGeom>
          <a:noFill/>
          <a:ln w="15240">
            <a:solidFill>
              <a:srgbClr val="7B1FA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114800" y="987552"/>
            <a:ext cx="1938528" cy="475488"/>
          </a:xfrm>
          <a:prstGeom prst="rect">
            <a:avLst/>
          </a:prstGeom>
          <a:solidFill>
            <a:srgbClr val="D7E4F5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87952" y="987552"/>
            <a:ext cx="1792224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 2.0 (FROZEN)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187952" y="1170432"/>
            <a:ext cx="179222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94M params  CNN+Transformer12L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mean-pool → e_wav ∈ ℝ⁷⁶⁸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071616" y="1225296"/>
            <a:ext cx="201168" cy="0"/>
          </a:xfrm>
          <a:prstGeom prst="line">
            <a:avLst/>
          </a:prstGeom>
          <a:noFill/>
          <a:ln w="15240">
            <a:solidFill>
              <a:srgbClr val="14407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91072" y="1024128"/>
            <a:ext cx="512064" cy="402336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1024128"/>
            <a:ext cx="512064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821424" y="1225296"/>
            <a:ext cx="201168" cy="0"/>
          </a:xfrm>
          <a:prstGeom prst="line">
            <a:avLst/>
          </a:prstGeom>
          <a:noFill/>
          <a:ln w="15240">
            <a:solidFill>
              <a:srgbClr val="7B1FA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40880" y="987552"/>
            <a:ext cx="2084832" cy="475488"/>
          </a:xfrm>
          <a:prstGeom prst="rect">
            <a:avLst/>
          </a:prstGeom>
          <a:solidFill>
            <a:srgbClr val="F3E5F5"/>
          </a:solidFill>
          <a:ln w="15240">
            <a:solidFill>
              <a:srgbClr val="7B1FA2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040880" y="987552"/>
            <a:ext cx="50292" cy="47548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987552"/>
            <a:ext cx="192024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AudioProjection (TRAINS)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132320" y="1170432"/>
            <a:ext cx="19202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~987K params  768→512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Linear→GELU→LN→Linear→LN→L2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9144000" y="1225296"/>
            <a:ext cx="201168" cy="0"/>
          </a:xfrm>
          <a:prstGeom prst="line">
            <a:avLst/>
          </a:prstGeom>
          <a:noFill/>
          <a:ln w="15240">
            <a:solidFill>
              <a:srgbClr val="7B1FA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363456" y="1024128"/>
            <a:ext cx="658368" cy="402336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63456" y="1024128"/>
            <a:ext cx="658368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ê_audio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S⁵¹¹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21408" y="1572768"/>
            <a:ext cx="1005840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BRANCH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21408" y="1700784"/>
            <a:ext cx="1755648" cy="475488"/>
          </a:xfrm>
          <a:prstGeom prst="rect">
            <a:avLst/>
          </a:prstGeom>
          <a:solidFill>
            <a:srgbClr val="F5F5F5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1700784"/>
            <a:ext cx="1609344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Frame Extract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194560" y="1883664"/>
            <a:ext cx="160934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cv2.VideoCapture → seek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total//2 → RGB [3,224,224]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895344" y="1938528"/>
            <a:ext cx="201168" cy="0"/>
          </a:xfrm>
          <a:prstGeom prst="line">
            <a:avLst/>
          </a:prstGeom>
          <a:noFill/>
          <a:ln w="1524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114800" y="1700784"/>
            <a:ext cx="1938528" cy="475488"/>
          </a:xfrm>
          <a:prstGeom prst="rect">
            <a:avLst/>
          </a:prstGeom>
          <a:solidFill>
            <a:srgbClr val="EAE0F8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87952" y="1700784"/>
            <a:ext cx="1792224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(FROZEN)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187952" y="1883664"/>
            <a:ext cx="179222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23M params  ImageNet weights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pool5 → f_img ∈ ℝ²⁰⁴⁸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071616" y="1938528"/>
            <a:ext cx="201168" cy="0"/>
          </a:xfrm>
          <a:prstGeom prst="line">
            <a:avLst/>
          </a:prstGeom>
          <a:noFill/>
          <a:ln w="15240">
            <a:solidFill>
              <a:srgbClr val="5B2D8E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291072" y="1737360"/>
            <a:ext cx="512064" cy="40233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1072" y="1737360"/>
            <a:ext cx="512064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2048d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821424" y="1938528"/>
            <a:ext cx="201168" cy="0"/>
          </a:xfrm>
          <a:prstGeom prst="line">
            <a:avLst/>
          </a:prstGeom>
          <a:noFill/>
          <a:ln w="1524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040880" y="1700784"/>
            <a:ext cx="2084832" cy="475488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040880" y="1700784"/>
            <a:ext cx="50292" cy="4754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0" y="1700784"/>
            <a:ext cx="192024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VideoFrameProjection (TRAINS)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132320" y="1883664"/>
            <a:ext cx="19202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~2.6M params  2048→512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Linear(2048→1024)→GELU→LN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→Linear(1024→512)→LN→L2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9144000" y="1938528"/>
            <a:ext cx="201168" cy="0"/>
          </a:xfrm>
          <a:prstGeom prst="line">
            <a:avLst/>
          </a:prstGeom>
          <a:noFill/>
          <a:ln w="1524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9363456" y="1737360"/>
            <a:ext cx="658368" cy="40233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63456" y="1737360"/>
            <a:ext cx="658368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ê_video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S⁵¹¹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131552" y="1188720"/>
            <a:ext cx="1847088" cy="749808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10222992" y="1188720"/>
            <a:ext cx="168249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 Loss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222992" y="1408176"/>
            <a:ext cx="1682496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Positive: same clip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ê_audio ↔ ê_video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negatives per pair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0040112" y="1225296"/>
            <a:ext cx="73152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10040112" y="1938528"/>
            <a:ext cx="73152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182880" y="2322576"/>
            <a:ext cx="36576" cy="237744"/>
          </a:xfrm>
          <a:prstGeom prst="rect">
            <a:avLst/>
          </a:prstGeom>
          <a:solidFill>
            <a:srgbClr val="8A5200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6032" y="2322576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Caching Strategy — One-Time Extraction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82880" y="2542032"/>
            <a:ext cx="4023360" cy="1353312"/>
          </a:xfrm>
          <a:prstGeom prst="rect">
            <a:avLst/>
          </a:prstGeom>
          <a:solidFill>
            <a:srgbClr val="FFF0CC"/>
          </a:solidFill>
          <a:ln w="10160">
            <a:solidFill>
              <a:srgbClr val="8A520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274320" y="2542032"/>
            <a:ext cx="38404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Speed-Up Lemma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74320" y="2761488"/>
            <a:ext cx="384048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cache (on-the-fly each epoch):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T_no_cache = 7,442 × 13 × 0.3s ≈ 29,024s ≈ 8 HOURS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one-time caching (~15-20 min):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T_cache = 1,080s + 13 × 30s ≈ 27 MINUTES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Speed-up: 29,024 / 1,440 ≈ 17×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(Similar speed-up applies for ResNet frame encoding)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315968" y="2542032"/>
            <a:ext cx="3840480" cy="1353312"/>
          </a:xfrm>
          <a:prstGeom prst="rect">
            <a:avLst/>
          </a:prstGeom>
          <a:solidFill>
            <a:srgbClr val="1E1E2E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07408" y="2578608"/>
            <a:ext cx="365760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 entry schema (crema_cache.pt):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407408" y="2700223"/>
            <a:ext cx="365760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stem → {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407408" y="2821838"/>
            <a:ext cx="365760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'audio_emb'   : tensor [768],        # Wav2Vec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4407408" y="2943454"/>
            <a:ext cx="365760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'frame_tensor': tensor [3,224,224],  # middle frame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407408" y="3065069"/>
            <a:ext cx="365760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'emotion'     : 'angry',             # string label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407408" y="3186684"/>
            <a:ext cx="365760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'label'       : 0,                   # int 0-5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407408" y="3308299"/>
            <a:ext cx="365760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'actor_id'    : 1001,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4407408" y="3429914"/>
            <a:ext cx="365760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'has_video'   : True,                # False=gray fallback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4407408" y="3551530"/>
            <a:ext cx="365760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'stem'        : '1001_DFA_ANG_XX'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4407408" y="3673145"/>
            <a:ext cx="365760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}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4407408" y="3794760"/>
            <a:ext cx="365760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GUARD: assert audio_emb.shape[0] == 768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8266176" y="2542032"/>
            <a:ext cx="3712464" cy="1353312"/>
          </a:xfrm>
          <a:prstGeom prst="rect">
            <a:avLst/>
          </a:prstGeom>
          <a:solidFill>
            <a:srgbClr val="D7E4F5"/>
          </a:solidFill>
          <a:ln w="10160">
            <a:solidFill>
              <a:srgbClr val="14407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8357616" y="2542032"/>
            <a:ext cx="3529584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Mode Auto-Selection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357616" y="2761488"/>
            <a:ext cx="3529584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n_with_video / len(cache) ≥ 0.5?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CROSS_MODAL = True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Stage 1: Cross-Modal InfoNCE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audio ↔ video from same clip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→ CROSS_MODAL = False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Audio-only SupCon (fallback)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CREMA-D result: CROSS_MODAL = True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.mp4 files well-formed)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82880" y="4005072"/>
            <a:ext cx="36576" cy="237744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56032" y="4005072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Lifecycle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182880" y="4224528"/>
            <a:ext cx="1920240" cy="256032"/>
          </a:xfrm>
          <a:prstGeom prst="rect">
            <a:avLst/>
          </a:prstGeom>
          <a:solidFill>
            <a:srgbClr val="FAE0E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37744" y="4224528"/>
            <a:ext cx="96926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extraction start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1225296" y="4224528"/>
            <a:ext cx="58521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 loaded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1810512" y="4224528"/>
            <a:ext cx="2743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+360 MB VRAM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2176272" y="4224528"/>
            <a:ext cx="19202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231136" y="4224528"/>
            <a:ext cx="96926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extraction end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3218688" y="4224528"/>
            <a:ext cx="58521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 deleted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3803904" y="4224528"/>
            <a:ext cx="2743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freed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4169664" y="4224528"/>
            <a:ext cx="1920240" cy="256032"/>
          </a:xfrm>
          <a:prstGeom prst="rect">
            <a:avLst/>
          </a:prstGeom>
          <a:solidFill>
            <a:srgbClr val="FAE0E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224528" y="4224528"/>
            <a:ext cx="96926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start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5212080" y="4224528"/>
            <a:ext cx="58521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AudioProjection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5797296" y="4224528"/>
            <a:ext cx="2743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MB VRAM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6163056" y="4224528"/>
            <a:ext cx="19202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217920" y="4224528"/>
            <a:ext cx="96926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start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7205472" y="4224528"/>
            <a:ext cx="58521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VideoFrameProjection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7790688" y="4224528"/>
            <a:ext cx="2743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MB VRAM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8156448" y="4224528"/>
            <a:ext cx="1920240" cy="256032"/>
          </a:xfrm>
          <a:prstGeom prst="rect">
            <a:avLst/>
          </a:prstGeom>
          <a:solidFill>
            <a:srgbClr val="FAE0E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211312" y="4224528"/>
            <a:ext cx="96926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batch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9198864" y="4224528"/>
            <a:ext cx="58521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from cache CPU→GPU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9784080" y="4224528"/>
            <a:ext cx="2743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MB/batch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10149840" y="4224528"/>
            <a:ext cx="19202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204704" y="4224528"/>
            <a:ext cx="969264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during training</a:t>
            </a:r>
            <a:endParaRPr lang="en-US" sz="650" dirty="0"/>
          </a:p>
        </p:txBody>
      </p:sp>
      <p:sp>
        <p:nvSpPr>
          <p:cNvPr id="104" name="Text 102"/>
          <p:cNvSpPr/>
          <p:nvPr/>
        </p:nvSpPr>
        <p:spPr>
          <a:xfrm>
            <a:off x="11192256" y="4224528"/>
            <a:ext cx="58521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proj heads + batch</a:t>
            </a:r>
            <a:endParaRPr lang="en-US" sz="650" dirty="0"/>
          </a:p>
        </p:txBody>
      </p:sp>
      <p:sp>
        <p:nvSpPr>
          <p:cNvPr id="105" name="Text 103"/>
          <p:cNvSpPr/>
          <p:nvPr/>
        </p:nvSpPr>
        <p:spPr>
          <a:xfrm>
            <a:off x="11777472" y="4224528"/>
            <a:ext cx="2743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 MB VRAM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182880" y="4572000"/>
            <a:ext cx="36576" cy="23774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56032" y="4572000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Head Parameter Breakdown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182880" y="4791456"/>
            <a:ext cx="1828800" cy="237744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37744" y="4791456"/>
            <a:ext cx="17373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2011680" y="4791456"/>
            <a:ext cx="914400" cy="237744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066544" y="4791456"/>
            <a:ext cx="8229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2926080" y="4791456"/>
            <a:ext cx="1097280" cy="237744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980944" y="4791456"/>
            <a:ext cx="100584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4023360" y="4791456"/>
            <a:ext cx="8138160" cy="237744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078224" y="4791456"/>
            <a:ext cx="80467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182880" y="5029200"/>
            <a:ext cx="18288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37744" y="5029200"/>
            <a:ext cx="17373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 2.0 backbone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2011680" y="5029200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066544" y="5029200"/>
            <a:ext cx="8229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94M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2926080" y="5029200"/>
            <a:ext cx="10972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980944" y="5029200"/>
            <a:ext cx="100584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(frozen)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4023360" y="5029200"/>
            <a:ext cx="81381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078224" y="5029200"/>
            <a:ext cx="80467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+ 12-layer Transformer → mean-pool → 768d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182880" y="5266944"/>
            <a:ext cx="18288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37744" y="5266944"/>
            <a:ext cx="17373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backbone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2011680" y="5266944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066544" y="5266944"/>
            <a:ext cx="8229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23M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2926080" y="5266944"/>
            <a:ext cx="109728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980944" y="5266944"/>
            <a:ext cx="100584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(frozen)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4023360" y="5266944"/>
            <a:ext cx="813816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078224" y="5266944"/>
            <a:ext cx="80467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Conv→BN→ReLU→Layers→AvgPool → 2048d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182880" y="5504688"/>
            <a:ext cx="18288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37744" y="5504688"/>
            <a:ext cx="17373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AudioProjection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2011680" y="5504688"/>
            <a:ext cx="9144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066544" y="5504688"/>
            <a:ext cx="8229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~987K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2926080" y="5504688"/>
            <a:ext cx="10972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980944" y="5504688"/>
            <a:ext cx="100584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~987K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4023360" y="5504688"/>
            <a:ext cx="81381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078224" y="5504688"/>
            <a:ext cx="80467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Linear(768→768)→GELU→LN→Linear(768→512)→LN→L2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182880" y="5742432"/>
            <a:ext cx="18288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237744" y="5742432"/>
            <a:ext cx="17373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VideoFrameProjection proj/norm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2011680" y="5742432"/>
            <a:ext cx="91440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2066544" y="5742432"/>
            <a:ext cx="8229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~2.6M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2926080" y="5742432"/>
            <a:ext cx="109728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2980944" y="5742432"/>
            <a:ext cx="100584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~2.6M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4023360" y="5742432"/>
            <a:ext cx="8138160" cy="237744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078224" y="5742432"/>
            <a:ext cx="80467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Linear(2048→1024)→GELU→LN→Linear(1024→512)→LN→L2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182880" y="5980176"/>
            <a:ext cx="1828800" cy="237744"/>
          </a:xfrm>
          <a:prstGeom prst="rect">
            <a:avLst/>
          </a:prstGeom>
          <a:solidFill>
            <a:srgbClr val="EAE0F8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37744" y="5980176"/>
            <a:ext cx="17373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trainable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2011680" y="5980176"/>
            <a:ext cx="914400" cy="237744"/>
          </a:xfrm>
          <a:prstGeom prst="rect">
            <a:avLst/>
          </a:prstGeom>
          <a:solidFill>
            <a:srgbClr val="EAE0F8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2066544" y="5980176"/>
            <a:ext cx="82296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~3.6M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2926080" y="5980176"/>
            <a:ext cx="1097280" cy="237744"/>
          </a:xfrm>
          <a:prstGeom prst="rect">
            <a:avLst/>
          </a:prstGeom>
          <a:solidFill>
            <a:srgbClr val="EAE0F8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2980944" y="5980176"/>
            <a:ext cx="100584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~3.6M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4023360" y="5980176"/>
            <a:ext cx="8138160" cy="237744"/>
          </a:xfrm>
          <a:prstGeom prst="rect">
            <a:avLst/>
          </a:prstGeom>
          <a:solidFill>
            <a:srgbClr val="EAE0F8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078224" y="5980176"/>
            <a:ext cx="80467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~3% of total 120M system params</a:t>
            </a:r>
            <a:endParaRPr lang="en-US" sz="700" dirty="0"/>
          </a:p>
        </p:txBody>
      </p:sp>
      <p:sp>
        <p:nvSpPr>
          <p:cNvPr id="156" name="Shape 154"/>
          <p:cNvSpPr/>
          <p:nvPr/>
        </p:nvSpPr>
        <p:spPr>
          <a:xfrm>
            <a:off x="182880" y="6309360"/>
            <a:ext cx="11795760" cy="347472"/>
          </a:xfrm>
          <a:prstGeom prst="rect">
            <a:avLst/>
          </a:prstGeom>
          <a:solidFill>
            <a:srgbClr val="F5F5F5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274320" y="6309360"/>
            <a:ext cx="32004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normalisation (mandatory for ResNet-50):</a:t>
            </a:r>
            <a:endParaRPr lang="en-US" sz="800" dirty="0"/>
          </a:p>
        </p:txBody>
      </p:sp>
      <p:sp>
        <p:nvSpPr>
          <p:cNvPr id="158" name="Text 156"/>
          <p:cNvSpPr/>
          <p:nvPr/>
        </p:nvSpPr>
        <p:spPr>
          <a:xfrm>
            <a:off x="274320" y="6309360"/>
            <a:ext cx="115214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x̂_{c,h,w} = (x_{c,h,w} − μ_c) / σ_c   |   μ=[0.485,0.456,0.406]  σ=[0.229,0.224,0.225]  (ImageNet-1K training statistics)  |  ResNet's BatchNorm calibrated with these values — wrong normalisation shifts pool5 features out of distribution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05156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 — Projection Head Architectures: AudioProjection &amp; VideoFrameProjection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0" y="0"/>
            <a:ext cx="11887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117043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design  |  Both output S⁵¹¹  |  cos(ê_a,ê_v) = ê_a·ê_v  |  AudioProjection warm-started from Pipeline 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IT 581 Capstone  |  Concordia University of Edmonton  |  Pipeline D — CREMA-D Audio-Visual Emotion Recognition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182880" y="621792"/>
            <a:ext cx="36576" cy="23774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621792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AudioProjection — Warm-Started from Pipeline 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859536"/>
            <a:ext cx="1389888" cy="1078992"/>
          </a:xfrm>
          <a:prstGeom prst="rect">
            <a:avLst/>
          </a:prstGeom>
          <a:solidFill>
            <a:srgbClr val="F5F5F5"/>
          </a:solidFill>
          <a:ln w="11430">
            <a:solidFill>
              <a:srgbClr val="AAA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859536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x∈ℝ⁷⁶⁸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82880" y="1261872"/>
            <a:ext cx="138988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mean-pool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572768" y="1408176"/>
            <a:ext cx="10058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627632" y="859536"/>
            <a:ext cx="1389888" cy="1078992"/>
          </a:xfrm>
          <a:prstGeom prst="rect">
            <a:avLst/>
          </a:prstGeom>
          <a:solidFill>
            <a:srgbClr val="F3E5F5"/>
          </a:solidFill>
          <a:ln w="11430">
            <a:solidFill>
              <a:srgbClr val="7B1F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27632" y="859536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768→768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27632" y="1261872"/>
            <a:ext cx="138988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W₁∈ℝ⁷⁶⁸ˣ⁷⁶⁸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017520" y="1408176"/>
            <a:ext cx="10058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072384" y="859536"/>
            <a:ext cx="1389888" cy="1078992"/>
          </a:xfrm>
          <a:prstGeom prst="rect">
            <a:avLst/>
          </a:prstGeom>
          <a:solidFill>
            <a:srgbClr val="F3E5F5"/>
          </a:solidFill>
          <a:ln w="11430">
            <a:solidFill>
              <a:srgbClr val="7B1FA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72384" y="859536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GELU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072384" y="1261872"/>
            <a:ext cx="138988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x·Φ(x)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462272" y="1408176"/>
            <a:ext cx="10058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17136" y="859536"/>
            <a:ext cx="1389888" cy="1078992"/>
          </a:xfrm>
          <a:prstGeom prst="rect">
            <a:avLst/>
          </a:prstGeom>
          <a:solidFill>
            <a:srgbClr val="F3E5F5"/>
          </a:solidFill>
          <a:ln w="1143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17136" y="859536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(768)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17136" y="1261872"/>
            <a:ext cx="138988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907024" y="1408176"/>
            <a:ext cx="10058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961888" y="859536"/>
            <a:ext cx="1389888" cy="1078992"/>
          </a:xfrm>
          <a:prstGeom prst="rect">
            <a:avLst/>
          </a:prstGeom>
          <a:solidFill>
            <a:srgbClr val="F3E5F5"/>
          </a:solidFill>
          <a:ln w="11430">
            <a:solidFill>
              <a:srgbClr val="7B1FA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61888" y="859536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768→512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61888" y="1261872"/>
            <a:ext cx="138988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W₂∈ℝ⁵¹²ˣ⁷⁶⁸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7351776" y="1408176"/>
            <a:ext cx="10058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06640" y="859536"/>
            <a:ext cx="1389888" cy="1078992"/>
          </a:xfrm>
          <a:prstGeom prst="rect">
            <a:avLst/>
          </a:prstGeom>
          <a:solidFill>
            <a:srgbClr val="F3E5F5"/>
          </a:solidFill>
          <a:ln w="11430">
            <a:solidFill>
              <a:srgbClr val="7B1FA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859536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(512)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406640" y="1261872"/>
            <a:ext cx="138988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norm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8796528" y="1408176"/>
            <a:ext cx="10058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851392" y="859536"/>
            <a:ext cx="1389888" cy="1078992"/>
          </a:xfrm>
          <a:prstGeom prst="rect">
            <a:avLst/>
          </a:prstGeom>
          <a:solidFill>
            <a:srgbClr val="D1F0E6"/>
          </a:solidFill>
          <a:ln w="11430">
            <a:solidFill>
              <a:srgbClr val="0D7C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51392" y="859536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L2-Norm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851392" y="1261872"/>
            <a:ext cx="138988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ê=x/‖x‖₂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sphere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‖ê‖=1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0241280" y="1408176"/>
            <a:ext cx="10058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296144" y="859536"/>
            <a:ext cx="1389888" cy="1078992"/>
          </a:xfrm>
          <a:prstGeom prst="rect">
            <a:avLst/>
          </a:prstGeom>
          <a:solidFill>
            <a:srgbClr val="7B1FA2"/>
          </a:solidFill>
          <a:ln w="11430">
            <a:solidFill>
              <a:srgbClr val="7B1FA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96144" y="859536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ê_audio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∈S⁵¹¹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296144" y="1261872"/>
            <a:ext cx="1389888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512d unit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~987K params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82880" y="2029968"/>
            <a:ext cx="5047488" cy="621792"/>
          </a:xfrm>
          <a:prstGeom prst="rect">
            <a:avLst/>
          </a:prstGeom>
          <a:solidFill>
            <a:srgbClr val="D8F2DF"/>
          </a:solidFill>
          <a:ln w="12700">
            <a:solidFill>
              <a:srgbClr val="1A6B3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74320" y="2029968"/>
            <a:ext cx="486460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Warm-start from Pipeline C (RAVDESS 6/8 @ 59%)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4320" y="2249424"/>
            <a:ext cx="4864608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RAVDESS and CREMA-D share 6 of 8 emotions (angry, disgust, fearful, happy, neutral, sad). Warm-started geometry gives a head start → LR reduced from 1e-4 → 5e-5 when warm-start detected to preserve inherited structure.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321808" y="2029968"/>
            <a:ext cx="6656832" cy="621792"/>
          </a:xfrm>
          <a:prstGeom prst="rect">
            <a:avLst/>
          </a:prstGeom>
          <a:solidFill>
            <a:srgbClr val="F3E5F5"/>
          </a:solidFill>
          <a:ln w="10160">
            <a:solidFill>
              <a:srgbClr val="7B1FA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13248" y="2029968"/>
            <a:ext cx="647395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f_θ^audio: ℝ⁷⁶⁸ → S⁵¹¹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13248" y="2249424"/>
            <a:ext cx="6473952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f_θ(x) = g_θ(x)/‖g_θ(x)‖₂   |   g_θ(x) = LN₅₁₂(W₂·GELU(LN₇₆₈(W₁x+b₁))+b₂)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W₁∈ℝ⁷⁶⁸ˣ⁷⁶⁸  W₂∈ℝ⁵¹²ˣ⁷⁶⁸  |  Params: 590K+1.5K+394K+1K = ~987K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82880" y="2743200"/>
            <a:ext cx="36576" cy="2377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6032" y="2743200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VideoFrameProjection — 2048→512 with Intermediate 1024d Layer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82880" y="2962656"/>
            <a:ext cx="1389888" cy="1115568"/>
          </a:xfrm>
          <a:prstGeom prst="rect">
            <a:avLst/>
          </a:prstGeom>
          <a:solidFill>
            <a:srgbClr val="1A1A2E"/>
          </a:solidFill>
          <a:ln w="11430">
            <a:solidFill>
              <a:srgbClr val="AAAA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" y="2962656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[3,224,224]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82880" y="3364992"/>
            <a:ext cx="1389888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middle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1572768" y="3529584"/>
            <a:ext cx="10058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627632" y="2962656"/>
            <a:ext cx="1389888" cy="1115568"/>
          </a:xfrm>
          <a:prstGeom prst="rect">
            <a:avLst/>
          </a:prstGeom>
          <a:solidFill>
            <a:srgbClr val="EAE0F8"/>
          </a:solidFill>
          <a:ln w="11430">
            <a:solidFill>
              <a:srgbClr val="5B2D8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627632" y="2962656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(FROZEN)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627632" y="3364992"/>
            <a:ext cx="1389888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23M params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no_grad()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pool5→2048d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3017520" y="3529584"/>
            <a:ext cx="10058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3072384" y="2962656"/>
            <a:ext cx="1389888" cy="1115568"/>
          </a:xfrm>
          <a:prstGeom prst="rect">
            <a:avLst/>
          </a:prstGeom>
          <a:solidFill>
            <a:srgbClr val="F5F5F5"/>
          </a:solidFill>
          <a:ln w="11430">
            <a:solidFill>
              <a:srgbClr val="AAAAA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72384" y="2962656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f_img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∈ℝ²⁰⁴⁸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072384" y="3364992"/>
            <a:ext cx="1389888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pool5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flatten(1)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4462272" y="3529584"/>
            <a:ext cx="10058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4517136" y="2962656"/>
            <a:ext cx="1389888" cy="1115568"/>
          </a:xfrm>
          <a:prstGeom prst="rect">
            <a:avLst/>
          </a:prstGeom>
          <a:solidFill>
            <a:srgbClr val="FFEBEE"/>
          </a:solidFill>
          <a:ln w="11430">
            <a:solidFill>
              <a:srgbClr val="C6282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17136" y="2962656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2048→1024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517136" y="3364992"/>
            <a:ext cx="1389888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W₃∈ℝ¹⁰²⁴ˣ²⁰⁴⁸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5907024" y="3529584"/>
            <a:ext cx="10058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5961888" y="2962656"/>
            <a:ext cx="1389888" cy="1115568"/>
          </a:xfrm>
          <a:prstGeom prst="rect">
            <a:avLst/>
          </a:prstGeom>
          <a:solidFill>
            <a:srgbClr val="FFEBEE"/>
          </a:solidFill>
          <a:ln w="11430">
            <a:solidFill>
              <a:srgbClr val="C6282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61888" y="2962656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GELU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LN(1024)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961888" y="3364992"/>
            <a:ext cx="1389888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non-linearity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+stabilise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1024d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7351776" y="3529584"/>
            <a:ext cx="10058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7406640" y="2962656"/>
            <a:ext cx="1389888" cy="1115568"/>
          </a:xfrm>
          <a:prstGeom prst="rect">
            <a:avLst/>
          </a:prstGeom>
          <a:solidFill>
            <a:srgbClr val="FFEBEE"/>
          </a:solidFill>
          <a:ln w="11430">
            <a:solidFill>
              <a:srgbClr val="C6282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06640" y="2962656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1024→512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406640" y="3364992"/>
            <a:ext cx="1389888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W₄∈ℝ⁵¹²ˣ¹⁰²⁴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8796528" y="3529584"/>
            <a:ext cx="10058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8851392" y="2962656"/>
            <a:ext cx="1389888" cy="1115568"/>
          </a:xfrm>
          <a:prstGeom prst="rect">
            <a:avLst/>
          </a:prstGeom>
          <a:solidFill>
            <a:srgbClr val="D1F0E6"/>
          </a:solidFill>
          <a:ln w="11430">
            <a:solidFill>
              <a:srgbClr val="0D7C5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851392" y="2962656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LN(512)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+L2-Norm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8851392" y="3364992"/>
            <a:ext cx="1389888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+unit sphere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‖ê‖=1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10241280" y="3529584"/>
            <a:ext cx="10058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10296144" y="2962656"/>
            <a:ext cx="1389888" cy="1115568"/>
          </a:xfrm>
          <a:prstGeom prst="rect">
            <a:avLst/>
          </a:prstGeom>
          <a:solidFill>
            <a:srgbClr val="C62828"/>
          </a:solidFill>
          <a:ln w="11430">
            <a:solidFill>
              <a:srgbClr val="C6282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296144" y="2962656"/>
            <a:ext cx="1389888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ê_video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∈S⁵¹¹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0296144" y="3364992"/>
            <a:ext cx="1389888" cy="6766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512d unit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~2.6M params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182880" y="4169664"/>
            <a:ext cx="5047488" cy="1042416"/>
          </a:xfrm>
          <a:prstGeom prst="rect">
            <a:avLst/>
          </a:prstGeom>
          <a:solidFill>
            <a:srgbClr val="FFEBEE"/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4320" y="4169664"/>
            <a:ext cx="486460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VideoFrameProjection parameter count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19456" y="4425696"/>
            <a:ext cx="4974336" cy="18288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74320" y="4425696"/>
            <a:ext cx="237744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Linear(2048→1024)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2670048" y="4425696"/>
            <a:ext cx="246888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2048×1024+1024 = 2,098,176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219456" y="4608576"/>
            <a:ext cx="497433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4320" y="4608576"/>
            <a:ext cx="237744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LayerNorm(1024)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2670048" y="4608576"/>
            <a:ext cx="246888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2×1024 = 2,048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219456" y="4791456"/>
            <a:ext cx="4974336" cy="182880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74320" y="4791456"/>
            <a:ext cx="237744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Linear(1024→512)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2670048" y="4791456"/>
            <a:ext cx="246888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1024×512+512 = 524,800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219456" y="4974336"/>
            <a:ext cx="497433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74320" y="4974336"/>
            <a:ext cx="237744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LayerNorm(512)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2670048" y="4974336"/>
            <a:ext cx="246888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2×512 = 1,024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219456" y="5157216"/>
            <a:ext cx="4974336" cy="182880"/>
          </a:xfrm>
          <a:prstGeom prst="rect">
            <a:avLst/>
          </a:prstGeom>
          <a:solidFill>
            <a:srgbClr val="FFEBEE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4320" y="5157216"/>
            <a:ext cx="237744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trainable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2670048" y="5157216"/>
            <a:ext cx="246888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~2,627,048  (~2.6M)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5321808" y="4169664"/>
            <a:ext cx="6656832" cy="1042416"/>
          </a:xfrm>
          <a:prstGeom prst="rect">
            <a:avLst/>
          </a:prstGeom>
          <a:solidFill>
            <a:srgbClr val="FFEBEE"/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413248" y="4169664"/>
            <a:ext cx="6473952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f_φ^video: ℝ³ˣ²²⁴ˣ²²⁴ → S⁵¹¹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5413248" y="4389120"/>
            <a:ext cx="6473952" cy="7863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f_φ(I) = L2_norm(LN₅₁₂(W₄·GELU(LN₁₀₂₄(W₃·ResNet50(I)+b₃))+b₄))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ResNet50(I) computed inside torch.no_grad()  (backbone frozen, no backprop)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W₃∈ℝ¹⁰²⁴ˣ²⁰⁴⁸  W₄∈ℝ⁵¹²ˣ¹⁰²⁴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2048→1024→512 instead of 2048→512 directly?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1024d layer gives model capacity to learn non-linear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from visual features before final compression.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TextProjection (768→512) is also two-stage for the same reason.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182880" y="5303520"/>
            <a:ext cx="11795760" cy="347472"/>
          </a:xfrm>
          <a:prstGeom prst="rect">
            <a:avLst/>
          </a:prstGeom>
          <a:solidFill>
            <a:srgbClr val="D1F0E6"/>
          </a:solidFill>
          <a:ln w="10160">
            <a:solidFill>
              <a:srgbClr val="0D7C5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74320" y="5303520"/>
            <a:ext cx="25603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 — Unit Sphere Alignment: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274320" y="5303520"/>
            <a:ext cx="115214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both ê_audio and ê_video are L2-normalised to S⁵¹¹: cos(ê_audio, ê_video) = ê_audio · ê_video ∈ [-1, +1]. The inner product equals cosine similarity exactly. This is the natural metric for InfoNCE and makes IndexFlatIP search equivalent to cosine search — no extra computation.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182880" y="5742432"/>
            <a:ext cx="36576" cy="237744"/>
          </a:xfrm>
          <a:prstGeom prst="rect">
            <a:avLst/>
          </a:prstGeom>
          <a:solidFill>
            <a:srgbClr val="8A5200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56032" y="5742432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Frame Extraction — Rationale &amp; Algorithm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182880" y="5961888"/>
            <a:ext cx="11795760" cy="603504"/>
          </a:xfrm>
          <a:prstGeom prst="rect">
            <a:avLst/>
          </a:prstGeom>
          <a:solidFill>
            <a:srgbClr val="1E1E2E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74320" y="5998464"/>
            <a:ext cx="1161288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Algorithm: EXTRACT_MIDDLE_FRAME(mp4_path) — O(1) seek, not full decode</a:t>
            </a:r>
            <a:endParaRPr lang="en-US" sz="680" dirty="0"/>
          </a:p>
        </p:txBody>
      </p:sp>
      <p:sp>
        <p:nvSpPr>
          <p:cNvPr id="107" name="Text 105"/>
          <p:cNvSpPr/>
          <p:nvPr/>
        </p:nvSpPr>
        <p:spPr>
          <a:xfrm>
            <a:off x="274320" y="6097219"/>
            <a:ext cx="1161288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= cv2.VideoCapture(mp4_path)  |  total = cap.get(CAP_PROP_FRAME_COUNT)</a:t>
            </a:r>
            <a:endParaRPr lang="en-US" sz="680" dirty="0"/>
          </a:p>
        </p:txBody>
      </p:sp>
      <p:sp>
        <p:nvSpPr>
          <p:cNvPr id="108" name="Text 106"/>
          <p:cNvSpPr/>
          <p:nvPr/>
        </p:nvSpPr>
        <p:spPr>
          <a:xfrm>
            <a:off x="274320" y="6195974"/>
            <a:ext cx="1161288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cap.set(CAP_PROP_POS_FRAMES, max(0, total // 2))  ← seek to middle frame directly (~5ms vs ~2s for full decode)</a:t>
            </a:r>
            <a:endParaRPr lang="en-US" sz="680" dirty="0"/>
          </a:p>
        </p:txBody>
      </p:sp>
      <p:sp>
        <p:nvSpPr>
          <p:cNvPr id="109" name="Text 107"/>
          <p:cNvSpPr/>
          <p:nvPr/>
        </p:nvSpPr>
        <p:spPr>
          <a:xfrm>
            <a:off x="274320" y="6294730"/>
            <a:ext cx="1161288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ret, frame = cap.read()  |  rgb = cv2.cvtColor(frame, COLOR_BGR2RGB)  ← OpenCV is BGR, PIL needs RGB</a:t>
            </a:r>
            <a:endParaRPr lang="en-US" sz="680" dirty="0"/>
          </a:p>
        </p:txBody>
      </p:sp>
      <p:sp>
        <p:nvSpPr>
          <p:cNvPr id="110" name="Text 108"/>
          <p:cNvSpPr/>
          <p:nvPr/>
        </p:nvSpPr>
        <p:spPr>
          <a:xfrm>
            <a:off x="274320" y="6393485"/>
            <a:ext cx="1161288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FRAME_TRANSFORM(Image.fromarray(rgb)), True  ← Resize(224)→ToTensor→Normalize(μ,σ)</a:t>
            </a:r>
            <a:endParaRPr lang="en-US" sz="680" dirty="0"/>
          </a:p>
        </p:txBody>
      </p:sp>
      <p:sp>
        <p:nvSpPr>
          <p:cNvPr id="111" name="Text 109"/>
          <p:cNvSpPr/>
          <p:nvPr/>
        </p:nvSpPr>
        <p:spPr>
          <a:xfrm>
            <a:off x="274320" y="6492240"/>
            <a:ext cx="1161288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9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Fallback: gray placeholder [3,224,224] if OpenCV fails  →  cache has_video=False  →  mode falls back to audio-only SupCon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05156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 — Stage 1: Cross-Modal InfoNCE Loss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0" y="0"/>
            <a:ext cx="11887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117043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Positive: same clip  |  Negative: 31 other clips per batch  |  Random baseline log(32)≈3.47  |  Symmetric: audio↔video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IT 581 Capstone  |  Concordia University of Edmonton  |  Pipeline D — CREMA-D Audio-Visual Emotion Recognition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182880" y="621792"/>
            <a:ext cx="36576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621792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InfoNCE — Full Mathematical Treatment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859536"/>
            <a:ext cx="8065008" cy="270662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859536"/>
            <a:ext cx="7882128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1097280"/>
            <a:ext cx="7882128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batch of B (audio, video) pairs, let S_ij = ê_audio_i · ê_video_j  (cosine similarity matrix [B,B]: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" y="1298448"/>
            <a:ext cx="7882128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L_InfoNCE = ½ × [ −(1/B) Σᵢ log[ exp(S_ii/τ) / Σⱼ exp(S_ij/τ) ]     ← audio→video direction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1536192"/>
            <a:ext cx="788212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+ −(1/B) Σⱼ log[ exp(S_jj/τ) / Σᵢ exp(S_ij/τ) ]  ]    ← video→audio direction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1792224"/>
            <a:ext cx="7882128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pair: (audio_i, video_i) from the same .mp4 clip — the only genuine audio-visual pair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4320" y="1975104"/>
            <a:ext cx="7882128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Negatives: all 31 other (audio_i, video_j) pairs in the batch where j≠i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2157984"/>
            <a:ext cx="7882128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Symmetric: first term = 'given audio, find correct video'  |  second term = 'given video, find correct audio'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4320" y="2340864"/>
            <a:ext cx="7882128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logits = ê_audio @ ê_video.T / τ  |  labels = arange(B)  |  loss = (CE(logits,labels) + CE(logits.T,labels))/2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" y="2523744"/>
            <a:ext cx="7882128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baseline: L_random = log(B) = log(32) ≈ 3.47  |  τ=0.07  |  B=32  |  232 batches/epoch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375904" y="859536"/>
            <a:ext cx="3602736" cy="2706624"/>
          </a:xfrm>
          <a:prstGeom prst="rect">
            <a:avLst/>
          </a:prstGeom>
          <a:solidFill>
            <a:srgbClr val="F5F5F5"/>
          </a:solidFill>
          <a:ln w="10160">
            <a:solidFill>
              <a:srgbClr val="AAAAA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67344" y="859536"/>
            <a:ext cx="341985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Cross-Modal Before SupCon?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67344" y="1097280"/>
            <a:ext cx="3419856" cy="24323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 uses NATURAL PAIRING signal: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clip's audio and video came from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actor expressing the same emotion.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emotion labels needed (self-supervised).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all 7,442 clips have emotion labels,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actors express emotions consistently in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voice and face — aligned audio-video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NATURALLY group by emotion,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without supervision.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SupCon (Stage 2) then uses explicit labels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sharpen the cluster boundaries that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 has sketched.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two-stage strategy mirrors: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CLAP (Contrastive Language-Audio)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AudioCLIP (audio-image-text alignment)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82880" y="3657600"/>
            <a:ext cx="36576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3657600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Matrix [B=8, 4 emotions]  — What the Model Optimises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" y="3877056"/>
            <a:ext cx="8065008" cy="2487168"/>
          </a:xfrm>
          <a:prstGeom prst="rect">
            <a:avLst/>
          </a:prstGeom>
          <a:solidFill>
            <a:srgbClr val="1E1E2E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13632"/>
            <a:ext cx="786384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 matrix S[i,j] = ê_audio_i · ê_video_j / τ   [B, B]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74320" y="4096512"/>
            <a:ext cx="786384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training (random):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74320" y="4279392"/>
            <a:ext cx="786384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vid1(A) vid2(A) vid3(B) vid4(B) vid5(C) vid6(C) vid7(D) vid8(D)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74320" y="4462272"/>
            <a:ext cx="786384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aud1(A): [  0.0    0.1   -0.1    0.0     0.0     0.1    -0.1    0.0  ] ← random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74320" y="4645152"/>
            <a:ext cx="786384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aud2(A): [  0.1    0.0    0.0   -0.1     0.1     0.0     0.0    0.1  ]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74320" y="4828032"/>
            <a:ext cx="786384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Stage 1 InfoNCE (diagonal dominates):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74320" y="5010912"/>
            <a:ext cx="786384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vid1(A) vid2(A) vid3(B) vid4(B) vid5(C) vid6(C) vid7(D) vid8(D)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74320" y="5193792"/>
            <a:ext cx="786384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aud1(A): [ HIGH   med    low     low     low     low     low     low  ] ← correct match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74320" y="5376672"/>
            <a:ext cx="786384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aud2(A): [  med   HIGH   low     low     low     low     low     low  ] ← correct match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74320" y="5559552"/>
            <a:ext cx="786384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aud3(B): [  low   low    HIGH    med     low     low     low     low  ]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74320" y="5742432"/>
            <a:ext cx="786384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= diagonal (same clip audio↔video aligned)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74320" y="5925312"/>
            <a:ext cx="786384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drives diagonal to maximum, off-diagonal to minimum within each row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74320" y="6108192"/>
            <a:ext cx="786384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By-product: same-emotion clips naturally cluster (angry audio near angry video)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375904" y="3877056"/>
            <a:ext cx="3602736" cy="2487168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467344" y="3877056"/>
            <a:ext cx="341985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Convergence Targets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412480" y="4151376"/>
            <a:ext cx="3529584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67344" y="4151376"/>
            <a:ext cx="6400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125712" y="4151376"/>
            <a:ext cx="7315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3.0–3.5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875520" y="4151376"/>
            <a:ext cx="20116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random, InfoNCE starts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412480" y="4553712"/>
            <a:ext cx="3529584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67344" y="4553712"/>
            <a:ext cx="6400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5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125712" y="4553712"/>
            <a:ext cx="7315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2.0–2.8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875520" y="4553712"/>
            <a:ext cx="20116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Audio-video alignment forming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8412480" y="4956048"/>
            <a:ext cx="3529584" cy="365760"/>
          </a:xfrm>
          <a:prstGeom prst="rect">
            <a:avLst/>
          </a:prstGeom>
          <a:solidFill>
            <a:srgbClr val="E3F2FD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67344" y="4956048"/>
            <a:ext cx="6400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10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9125712" y="4956048"/>
            <a:ext cx="7315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1.2–2.2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875520" y="4956048"/>
            <a:ext cx="20116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clips correctly paired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8412480" y="5358384"/>
            <a:ext cx="3529584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67344" y="5358384"/>
            <a:ext cx="6400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9125712" y="5358384"/>
            <a:ext cx="7315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0.8–1.8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875520" y="5358384"/>
            <a:ext cx="20116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alignment ready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467344" y="5760720"/>
            <a:ext cx="3419856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actual result: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3.44 → 1.28  |  accuracy 42.2%  (1/6 emotions)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by accuracy, not last epoch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05156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 — Stage 2: SupCon Refinement &amp; Two-Stage Training Strategy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0" y="0"/>
            <a:ext cx="11887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117043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Audio-only SupCon after InfoNCE alignment  |  Phase 2: LR=1e-5 (stuck)  |  Phase 3: LR=5e-5 (converges)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IT 581 Capstone  |  Concordia University of Edmonton  |  Pipeline D — CREMA-D Audio-Visual Emotion Recognition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182880" y="621792"/>
            <a:ext cx="36576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621792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Contrastive Loss (SupCon) — Full Formulation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859536"/>
            <a:ext cx="7589520" cy="2322576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859536"/>
            <a:ext cx="74066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batch of B audio embeddings {ê_i} with emotion labels {y_i}: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097280"/>
            <a:ext cx="7406640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𝒫(i) = { p ∈ {1,...,B} \ {i}  |  y_p = y_i }     same-emotion set, excluding self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" y="1298448"/>
            <a:ext cx="740664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A(i) = {1,...,B} \ {i}                               all others (denominator set)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4320" y="1499616"/>
            <a:ext cx="74066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L_SupCon = Σᵢ  (−1/|𝒫(i)|)  Σ_{p∈𝒫(i)}  log[ exp(êᵢ·ê_p / τ) / Σ_{a∈A(i)} exp(êᵢ·ê_a / τ) 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1773936"/>
            <a:ext cx="7406640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τ=0.07  |  B=32  |  ~5 clips/emotion per batch  |  ~120 positive pairs per batch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4320" y="1975104"/>
            <a:ext cx="74066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 vs SupCon: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InfoNCE: 1 positive per anchor (the paired modality clip), requires 2 modalities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SupCon : |𝒫(i)| positives per anchor (all same-emotion clips), single modality ok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InfoNCE → cross-modal alignment  |  SupCon → within-class compaction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790688" y="859536"/>
            <a:ext cx="4187952" cy="2322576"/>
          </a:xfrm>
          <a:prstGeom prst="rect">
            <a:avLst/>
          </a:prstGeom>
          <a:solidFill>
            <a:srgbClr val="FAE0E0"/>
          </a:solidFill>
          <a:ln w="12700">
            <a:solidFill>
              <a:srgbClr val="9B202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82128" y="859536"/>
            <a:ext cx="400507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Phase 2 (LR=1e-5) Failed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82128" y="1097280"/>
            <a:ext cx="4005072" cy="20482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SupCon loss stuck at ~3.35 / 10 epochs.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computed correctly — step size too small.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magnitude of SupCon: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‖∇_θ L_SupCon‖ ≈ (1−p_correct)/τ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Phase 2 start (44% acc): p_correct≈0.13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‖∇‖ ≈ (1−0.13)/0.07 ≈ 12.4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update per step: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2 LR=1e-5: 1e-5 × 12.4 ≈ 1.2e-4  (marginal)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3 LR=5e-5: 5e-5 × 12.4 ≈ 6.2e-4  (meaningful)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5e-5 is large enough to reposition centroids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preserves InfoNCE geometry from Phase 1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(LR &lt; 1e-4 which was Phase 1's LR).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82880" y="3273552"/>
            <a:ext cx="36576" cy="23774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273552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Contrastive Training Strategy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2880" y="3493008"/>
            <a:ext cx="5779008" cy="124358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3493008"/>
            <a:ext cx="559612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Cross-Modal InfoNCE (13 epochs, LR=1e-4)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3712464"/>
            <a:ext cx="5596128" cy="9875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same-clip audio↔video pairing (SELF-SUPERVISED — no emotion labels needed)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Trains: both AudioProjection + VideoFrameProjection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audio and video embeddings aligned in 512-d space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Same-emotion clips naturally cluster because actor expresses same emotion in both voice and face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Inspiration: CLAP (Wu et al. 2023), AudioCLIP (Guzhov et al. 2022)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loss 3.44→1.28  |  42.2% (1/6)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998464" y="4114800"/>
            <a:ext cx="256032" cy="0"/>
          </a:xfrm>
          <a:prstGeom prst="line">
            <a:avLst/>
          </a:prstGeom>
          <a:noFill/>
          <a:ln w="15240">
            <a:solidFill>
              <a:srgbClr val="14407A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998464" y="3968496"/>
            <a:ext cx="256032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6291072" y="3493008"/>
            <a:ext cx="5687568" cy="1243584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82512" y="3493008"/>
            <a:ext cx="550468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SupCon Refinement (10+15 epochs, LR=1e-5→5e-5)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82512" y="3712464"/>
            <a:ext cx="5504688" cy="9875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explicit CREMA-D emotion labels (SUPERVISED)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Trains: AudioProjection ONLY (VideoFrameProjection not updated)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audio-only? MIVA-KNIGHT uses audio for emotion detection at inference — fine-tune the operational model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tightens same-emotion clusters, pushes different-emotion clusters apart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result (LR=1e-5): stuck at 3.35 loss  |  43.9% (3/6)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result (LR=5e-5): target &lt; 3.0  |  ≥ 4/6 (66.7%)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82880" y="4828032"/>
            <a:ext cx="36576" cy="23774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4828032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Comparison — Three-Phase Training History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82880" y="5047488"/>
            <a:ext cx="640080" cy="292608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" y="5047488"/>
            <a:ext cx="5486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22960" y="5047488"/>
            <a:ext cx="1828800" cy="292608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" y="5047488"/>
            <a:ext cx="17373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651760" y="5047488"/>
            <a:ext cx="1645920" cy="292608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06624" y="5047488"/>
            <a:ext cx="15544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297680" y="5047488"/>
            <a:ext cx="640080" cy="292608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52544" y="5047488"/>
            <a:ext cx="5486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937760" y="5047488"/>
            <a:ext cx="731520" cy="292608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92624" y="5047488"/>
            <a:ext cx="6400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669280" y="5047488"/>
            <a:ext cx="1463040" cy="292608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24144" y="5047488"/>
            <a:ext cx="13716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trains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132320" y="5047488"/>
            <a:ext cx="2926080" cy="292608"/>
          </a:xfrm>
          <a:prstGeom prst="rect">
            <a:avLst/>
          </a:prstGeom>
          <a:solidFill>
            <a:srgbClr val="0F346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87184" y="5047488"/>
            <a:ext cx="28346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82880" y="5340096"/>
            <a:ext cx="6400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7744" y="5340096"/>
            <a:ext cx="5486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InfoNCE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822960" y="5340096"/>
            <a:ext cx="18288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7824" y="5340096"/>
            <a:ext cx="17373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 v3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651760" y="5340096"/>
            <a:ext cx="16459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06624" y="5340096"/>
            <a:ext cx="15544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InfoNCE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297680" y="5340096"/>
            <a:ext cx="6400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52544" y="5340096"/>
            <a:ext cx="5486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1e-4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937760" y="5340096"/>
            <a:ext cx="731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92624" y="5340096"/>
            <a:ext cx="6400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669280" y="5340096"/>
            <a:ext cx="1463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24144" y="5340096"/>
            <a:ext cx="13716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AudioProj + VideoProj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7132320" y="5340096"/>
            <a:ext cx="29260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87184" y="5340096"/>
            <a:ext cx="28346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42.2%  1/6  loss→1.28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82880" y="5632704"/>
            <a:ext cx="640080" cy="292608"/>
          </a:xfrm>
          <a:prstGeom prst="rect">
            <a:avLst/>
          </a:prstGeom>
          <a:solidFill>
            <a:srgbClr val="FAE0E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7744" y="5632704"/>
            <a:ext cx="5486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SupCon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822960" y="5632704"/>
            <a:ext cx="1828800" cy="292608"/>
          </a:xfrm>
          <a:prstGeom prst="rect">
            <a:avLst/>
          </a:prstGeom>
          <a:solidFill>
            <a:srgbClr val="FAE0E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77824" y="5632704"/>
            <a:ext cx="17373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 v3 (appended)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2651760" y="5632704"/>
            <a:ext cx="1645920" cy="292608"/>
          </a:xfrm>
          <a:prstGeom prst="rect">
            <a:avLst/>
          </a:prstGeom>
          <a:solidFill>
            <a:srgbClr val="FAE0E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06624" y="5632704"/>
            <a:ext cx="15544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SupCon on labels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297680" y="5632704"/>
            <a:ext cx="640080" cy="292608"/>
          </a:xfrm>
          <a:prstGeom prst="rect">
            <a:avLst/>
          </a:prstGeom>
          <a:solidFill>
            <a:srgbClr val="FAE0E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52544" y="5632704"/>
            <a:ext cx="5486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1e-5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937760" y="5632704"/>
            <a:ext cx="731520" cy="292608"/>
          </a:xfrm>
          <a:prstGeom prst="rect">
            <a:avLst/>
          </a:prstGeom>
          <a:solidFill>
            <a:srgbClr val="FAE0E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92624" y="5632704"/>
            <a:ext cx="6400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5669280" y="5632704"/>
            <a:ext cx="1463040" cy="292608"/>
          </a:xfrm>
          <a:prstGeom prst="rect">
            <a:avLst/>
          </a:prstGeom>
          <a:solidFill>
            <a:srgbClr val="FAE0E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24144" y="5632704"/>
            <a:ext cx="13716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AudioProj only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7132320" y="5632704"/>
            <a:ext cx="2926080" cy="292608"/>
          </a:xfrm>
          <a:prstGeom prst="rect">
            <a:avLst/>
          </a:prstGeom>
          <a:solidFill>
            <a:srgbClr val="FAE0E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87184" y="5632704"/>
            <a:ext cx="28346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43.9%  3/6  stuck@3.35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182880" y="5925312"/>
            <a:ext cx="640080" cy="292608"/>
          </a:xfrm>
          <a:prstGeom prst="rect">
            <a:avLst/>
          </a:prstGeom>
          <a:solidFill>
            <a:srgbClr val="E8F5E9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37744" y="5925312"/>
            <a:ext cx="5486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SupCon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822960" y="5925312"/>
            <a:ext cx="1828800" cy="292608"/>
          </a:xfrm>
          <a:prstGeom prst="rect">
            <a:avLst/>
          </a:prstGeom>
          <a:solidFill>
            <a:srgbClr val="E8F5E9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77824" y="5925312"/>
            <a:ext cx="17373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notebook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651760" y="5925312"/>
            <a:ext cx="1645920" cy="292608"/>
          </a:xfrm>
          <a:prstGeom prst="rect">
            <a:avLst/>
          </a:prstGeom>
          <a:solidFill>
            <a:srgbClr val="E8F5E9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06624" y="5925312"/>
            <a:ext cx="15544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SupCon on labels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297680" y="5925312"/>
            <a:ext cx="640080" cy="292608"/>
          </a:xfrm>
          <a:prstGeom prst="rect">
            <a:avLst/>
          </a:prstGeom>
          <a:solidFill>
            <a:srgbClr val="E8F5E9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52544" y="5925312"/>
            <a:ext cx="5486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5e-5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4937760" y="5925312"/>
            <a:ext cx="731520" cy="292608"/>
          </a:xfrm>
          <a:prstGeom prst="rect">
            <a:avLst/>
          </a:prstGeom>
          <a:solidFill>
            <a:srgbClr val="E8F5E9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992624" y="5925312"/>
            <a:ext cx="6400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5669280" y="5925312"/>
            <a:ext cx="1463040" cy="292608"/>
          </a:xfrm>
          <a:prstGeom prst="rect">
            <a:avLst/>
          </a:prstGeom>
          <a:solidFill>
            <a:srgbClr val="E8F5E9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724144" y="5925312"/>
            <a:ext cx="13716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AudioProj only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7132320" y="5925312"/>
            <a:ext cx="2926080" cy="292608"/>
          </a:xfrm>
          <a:prstGeom prst="rect">
            <a:avLst/>
          </a:prstGeom>
          <a:solidFill>
            <a:srgbClr val="E8F5E9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187184" y="5925312"/>
            <a:ext cx="28346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≥4/6 (66.7%)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182880" y="6327648"/>
            <a:ext cx="11795760" cy="347472"/>
          </a:xfrm>
          <a:prstGeom prst="rect">
            <a:avLst/>
          </a:prstGeom>
          <a:solidFill>
            <a:srgbClr val="F5F5F5"/>
          </a:solidFill>
          <a:ln w="7620">
            <a:solidFill>
              <a:srgbClr val="AAAAA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74320" y="6327648"/>
            <a:ext cx="292608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LR = 5e-5 for Phase 3 (not 1e-4)?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274320" y="6327648"/>
            <a:ext cx="115214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13 InfoNCE epochs, AudioProjection has learned useful cross-modal geometry. SupCon at LR=1e-4 (Phase 1's LR) would overwrite InfoNCE structure in favour of pure within-modality clustering → may degrade cross-modal retrieval in MIVA-KNIGHT full pipeline. LR=5e-5: large enough to reposition centroids, small enough to preserve alignment.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05156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 — Training Loops &amp; Algorithms: All Three Phases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0" y="0"/>
            <a:ext cx="11887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117043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InfoNCE 13ep  |  Phase 2: SupCon 1e-5 10ep  |  Phase 3: SupCon 5e-5 15ep  |  Gradient clip 1.0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IT 581 Capstone  |  Concordia University of Edmonton  |  Pipeline D — CREMA-D Audio-Visual Emotion Recognition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182880" y="621792"/>
            <a:ext cx="36576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621792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Algorithm: Cross-Modal InfoNCE Training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841248"/>
            <a:ext cx="5650992" cy="2852928"/>
          </a:xfrm>
          <a:prstGeom prst="rect">
            <a:avLst/>
          </a:prstGeom>
          <a:solidFill>
            <a:srgbClr val="1E1E2E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877824"/>
            <a:ext cx="5468112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Algorithm: PIPELINE_D_STAGE1 (Cell 13, 13 epochs, LR=1e-4)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74320" y="1017727"/>
            <a:ext cx="5468112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Config: B=32, epochs=13, τ=0.07, warmup=10% (302 steps of 3016)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74320" y="1157630"/>
            <a:ext cx="5468112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start_epoch, all_losses, all_accs ← load_checkpoint('D-CREMAD-v3')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74320" y="1297534"/>
            <a:ext cx="5468112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epoch = start_epoch TO 12: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74320" y="1437437"/>
            <a:ext cx="5468112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audio_proj.train(); video_proj.train()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74320" y="1577340"/>
            <a:ext cx="5468112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(audio[32,768], frames[32,3,224,224], labels[32]) in loader: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" y="1717243"/>
            <a:ext cx="5468112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audio_batch, frame_batch → device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74320" y="1857146"/>
            <a:ext cx="5468112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audio_emb ← audio_proj(audio_batch)     # [32,512] L2-norm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74320" y="1997050"/>
            <a:ext cx="5468112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CROSS_MODAL:                          # True for CREMA-D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74320" y="2136953"/>
            <a:ext cx="5468112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video_emb ← video_proj(frame_batch)   # [32,512] L2-norm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74320" y="2276856"/>
            <a:ext cx="5468112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loss ← infonce_loss(audio_emb, video_emb, τ=0.07)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" y="2416759"/>
            <a:ext cx="5468112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 loss ← supcon_loss(audio_emb, labels, τ=0.07)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74320" y="2556662"/>
            <a:ext cx="5468112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optimizer.zero_grad(); loss.backward()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74320" y="2696566"/>
            <a:ext cx="5468112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clip_grad_norm_(trainable, max_norm=1.0)  # safety brake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74320" y="2836469"/>
            <a:ext cx="5468112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optimizer.step(); scheduler.step()  # warmup+cosine LR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74320" y="2976372"/>
            <a:ext cx="5468112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acc, per_emo, _ ← evaluate_emotion_accuracy()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74320" y="3116275"/>
            <a:ext cx="5468112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acc &gt; best_acc: save best_{audio,video}_sd  # by acc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74320" y="3256178"/>
            <a:ext cx="5468112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save_checkpoint(epoch, losses, accs)  # every epoch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74320" y="3396082"/>
            <a:ext cx="5468112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trainable = audio_proj.params + video_proj.proj.params + video_proj.norm.params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74320" y="3535985"/>
            <a:ext cx="5468112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video_proj.backbone.params EXCLUDED (frozen ResNet-50)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961888" y="621792"/>
            <a:ext cx="36576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621792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Algorithm: SupCon Refinement (LR=5e-5)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61888" y="841248"/>
            <a:ext cx="6035040" cy="2852928"/>
          </a:xfrm>
          <a:prstGeom prst="rect">
            <a:avLst/>
          </a:prstGeom>
          <a:solidFill>
            <a:srgbClr val="1E1E2E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877824"/>
            <a:ext cx="585216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Algorithm: PHASE3_TRAINING (Phase 3 notebook, 15 epochs, LR=5e-5)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053328" y="1017727"/>
            <a:ext cx="585216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Config: B=32, epochs=15, τ=0.07, LR=5e-5 (constant, no scheduler)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053328" y="1157630"/>
            <a:ext cx="585216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start_epoch, all_losses, all_accs ← load_checkpoint('D-CREMAD-phase3')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053328" y="1297534"/>
            <a:ext cx="585216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 weight-loading chain: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053328" y="1437437"/>
            <a:ext cx="585216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audio_projection_cremad.pth  (Phase 2 best, 43.9%) ← preferred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053328" y="1577340"/>
            <a:ext cx="585216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checkpoint_pipelineD_latest.pth  (fallback)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053328" y="1717243"/>
            <a:ext cx="585216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Random init  (last resort, WARNING printed)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053328" y="1857146"/>
            <a:ext cx="585216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epoch = start_epoch TO 14: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053328" y="1997050"/>
            <a:ext cx="585216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audio_proj.train()  # video_proj NOT updated in Phase 3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053328" y="2136953"/>
            <a:ext cx="585216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(audio[32,768], labels[32]) in audio_loader: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053328" y="2276856"/>
            <a:ext cx="585216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audio_batch, labels → device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053328" y="2416759"/>
            <a:ext cx="585216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audio_emb ← audio_proj(audio_batch)     # [32,512] L2-norm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053328" y="2556662"/>
            <a:ext cx="585216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← supcon_loss(audio_emb, labels, τ=0.07)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053328" y="2696566"/>
            <a:ext cx="585216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optimizer.zero_grad(); loss.backward()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053328" y="2836469"/>
            <a:ext cx="585216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clip_grad_norm_(audio_proj.params, max_norm=1.0)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053328" y="2976372"/>
            <a:ext cx="585216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optimizer.step()  # constant LR — no scheduler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053328" y="3116275"/>
            <a:ext cx="585216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acc, per_emo, _ ← evaluate_emotion_accuracy()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053328" y="3256178"/>
            <a:ext cx="585216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acc &gt; best_acc: best_sd ← deep_copy(audio_proj.state_dict())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053328" y="3396082"/>
            <a:ext cx="5852160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save_checkpoint(epoch)  → 'D-CREMAD-phase3' identity tag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82880" y="3803904"/>
            <a:ext cx="36576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" y="3803904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Forward Pass Data Flow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82880" y="4023360"/>
            <a:ext cx="11795760" cy="987552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059936"/>
            <a:ext cx="11612880" cy="1920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audio_batch [32,768] ──► AudioProjection ──► ê_audio [32,512]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74320" y="4251960"/>
            <a:ext cx="11612880" cy="1920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frame_batch [32,3,224,224] ──► VideoFrameProjection (ResNet no_grad + proj) ──► ê_video [32,512]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74320" y="4443984"/>
            <a:ext cx="11612880" cy="1920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[32,32] = ê_audio @ ê_video.T / τ  |  labels = arange(32)  |  loss = (CE(sim,labels) + CE(sim.T,labels)) / 2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4320" y="4636008"/>
            <a:ext cx="11612880" cy="1920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flows THROUGH: AudioProjection θ + VideoFrameProjection proj/norm φ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74320" y="4828032"/>
            <a:ext cx="11612880" cy="1920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BLOCKED AT:  ResNet-50 backbone (requires_grad=False)  |  Wav2Vec 2.0 (not in graph — cache used)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82880" y="5102352"/>
            <a:ext cx="36576" cy="237744"/>
          </a:xfrm>
          <a:prstGeom prst="rect">
            <a:avLst/>
          </a:prstGeom>
          <a:solidFill>
            <a:srgbClr val="8A5200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6032" y="5102352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 &amp; LR Schedule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82880" y="5321808"/>
            <a:ext cx="5760720" cy="1261872"/>
          </a:xfrm>
          <a:prstGeom prst="rect">
            <a:avLst/>
          </a:prstGeom>
          <a:solidFill>
            <a:srgbClr val="FFF0CC"/>
          </a:solidFill>
          <a:ln w="10160">
            <a:solidFill>
              <a:srgbClr val="8A520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274320" y="5321808"/>
            <a:ext cx="557784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 — ‖∇‖₂ ≤ 1.0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74320" y="5541264"/>
            <a:ext cx="55778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∇̃ = min(1, c/‖∇‖₂) × ∇  where c=1.0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risk: VideoFrameProjection starts random → large gradients from video head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destabilise warm-started audio weights in first epochs.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risk: LR=5e-5 (5× Phase 2) → larger updates per step. Clipping to 1.0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no single batch causes destructive update even with the increased LR.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Clipping preserves DIRECTION of gradient (only caps magnitude) so learning signal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valid while preventing catastrophic parameter updates.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108192" y="5321808"/>
            <a:ext cx="5870448" cy="1261872"/>
          </a:xfrm>
          <a:prstGeom prst="rect">
            <a:avLst/>
          </a:prstGeom>
          <a:solidFill>
            <a:srgbClr val="D7E4F5"/>
          </a:solidFill>
          <a:ln w="10160">
            <a:solidFill>
              <a:srgbClr val="14407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199632" y="5321808"/>
            <a:ext cx="568756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Schedules Across All Phases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199632" y="5541264"/>
            <a:ext cx="5687568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(InfoNCE): Warmup + Cosine Decay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total_steps = 232 batches × 13 epochs = 3,016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warmup_steps = 3,016 // 10 = 302 steps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η(t) = η₀ × t/warmup  for t &lt; 302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η(t) = η₀ × ½(1+cos(π×progress))  for t ≥ 302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η₀ = 1e-4 (or 5e-5 if warm-started from Pipeline C)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(SupCon 1e-5): No scheduler — constant LR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(SupCon 5e-5): No scheduler — constant LR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(short phases, near minimum → no warmup needed)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05156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 — Evaluation Protocol &amp; Three-Phase Results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0" y="0"/>
            <a:ext cx="11887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117043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Centroid-NN Voronoi classifier  |  6-class  |  Phase 1: 42.2%  |  Phase 2: 43.9%  |  Phase 3: target ≥66.7%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IT 581 Capstone  |  Concordia University of Edmonton  |  Pipeline D — CREMA-D Audio-Visual Emotion Recognition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182880" y="621792"/>
            <a:ext cx="36576" cy="237744"/>
          </a:xfrm>
          <a:prstGeom prst="rect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621792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Nearest-Neighbour Evaluation — Voronoi on S⁵¹¹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859536"/>
            <a:ext cx="6876288" cy="1938528"/>
          </a:xfrm>
          <a:prstGeom prst="rect">
            <a:avLst/>
          </a:prstGeom>
          <a:solidFill>
            <a:srgbClr val="D1F0E6"/>
          </a:solidFill>
          <a:ln w="12700">
            <a:solidFill>
              <a:srgbClr val="0D7C5F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859536"/>
            <a:ext cx="6693408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evaluate_emotion_accuracy() — Full Algorithm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1097280"/>
            <a:ext cx="6693408" cy="1664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Project all 7,442 audio embeddings through audio_proj (eval mode, no grad)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all_embs [N,512], all_labels [N] ← collect from all batches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Compute per-class spherical centroids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label l ∈ {0,1,2,3,4,5}: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mask ← (all_labels==l)  |  centroid ← F.normalize(all_embs[mask].mean(dim=0))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centroids ← stack(6 centroids)  # [6,512]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Nearest-centroid classification (Voronoi on S⁵¹¹)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sims      ← all_embs @ centroids.T  # [N,6] cosine similarities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predicted ← sims.argmax(dim=1)       # [N]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correct   ← (predicted == all_labels).float()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overall   ← mean(correct)             scalar ∈ [0,1]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argmax_c ê · c̄_c  where c̄_c = L2_norm(mean of class c embeddings)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187184" y="859536"/>
            <a:ext cx="4791456" cy="1938528"/>
          </a:xfrm>
          <a:prstGeom prst="rect">
            <a:avLst/>
          </a:prstGeom>
          <a:solidFill>
            <a:srgbClr val="F5F5F5"/>
          </a:solidFill>
          <a:ln w="10160">
            <a:solidFill>
              <a:srgbClr val="AAAAA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78624" y="859536"/>
            <a:ext cx="4608576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6-Class Accuracy Benchmarks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23760" y="1115568"/>
            <a:ext cx="4718304" cy="256032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78624" y="1115568"/>
            <a:ext cx="7315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28432" y="1115568"/>
            <a:ext cx="387705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(1/6 chance) — CREMA-D baseline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223760" y="1389888"/>
            <a:ext cx="4718304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1389888"/>
            <a:ext cx="7315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42.2%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028432" y="1389888"/>
            <a:ext cx="387705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InfoNCE only (1/6 emotions)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23760" y="1664208"/>
            <a:ext cx="4718304" cy="256032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78624" y="1664208"/>
            <a:ext cx="7315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43.9%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28432" y="1664208"/>
            <a:ext cx="387705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SupCon 1e-5 (3/6 emotions)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223760" y="1938528"/>
            <a:ext cx="4718304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786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28432" y="1938528"/>
            <a:ext cx="387705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 target (Phase 3 goal)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223760" y="2212848"/>
            <a:ext cx="4718304" cy="256032"/>
          </a:xfrm>
          <a:prstGeom prst="rect">
            <a:avLst/>
          </a:prstGeom>
          <a:solidFill>
            <a:srgbClr val="F5F5F5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78624" y="2212848"/>
            <a:ext cx="7315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28432" y="2212848"/>
            <a:ext cx="387705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 emotions correctly classified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223760" y="2487168"/>
            <a:ext cx="4718304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78624" y="2487168"/>
            <a:ext cx="7315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28432" y="2487168"/>
            <a:ext cx="387705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separation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82880" y="2907792"/>
            <a:ext cx="36576" cy="2377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2907792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Across All Three Phases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82880" y="3127248"/>
            <a:ext cx="3913632" cy="32918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82880" y="3127248"/>
            <a:ext cx="50292" cy="3291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127248"/>
            <a:ext cx="3730752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3511296"/>
            <a:ext cx="3730752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epochs  |  LR=1e-4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74320" y="3712464"/>
            <a:ext cx="3730752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3.44→1.28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74320" y="3913632"/>
            <a:ext cx="3730752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42.2%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74320" y="4242816"/>
            <a:ext cx="373075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1/6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4553712"/>
            <a:ext cx="3730752" cy="274320"/>
          </a:xfrm>
          <a:prstGeom prst="rect">
            <a:avLst/>
          </a:prstGeom>
          <a:solidFill>
            <a:srgbClr val="D8F2DF"/>
          </a:solidFill>
          <a:ln w="3810">
            <a:solidFill>
              <a:srgbClr val="1A6B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4553712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angry:70%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4864608"/>
            <a:ext cx="3730752" cy="274320"/>
          </a:xfrm>
          <a:prstGeom prst="rect">
            <a:avLst/>
          </a:prstGeom>
          <a:solidFill>
            <a:srgbClr val="FFF0CC"/>
          </a:solidFill>
          <a:ln w="3810">
            <a:solidFill>
              <a:srgbClr val="8A52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4864608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disgust:25%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5175504"/>
            <a:ext cx="3730752" cy="274320"/>
          </a:xfrm>
          <a:prstGeom prst="rect">
            <a:avLst/>
          </a:prstGeom>
          <a:solidFill>
            <a:srgbClr val="FFF0CC"/>
          </a:solidFill>
          <a:ln w="3810">
            <a:solidFill>
              <a:srgbClr val="8A52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5175504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fearful:20%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4320" y="5486400"/>
            <a:ext cx="3730752" cy="274320"/>
          </a:xfrm>
          <a:prstGeom prst="rect">
            <a:avLst/>
          </a:prstGeom>
          <a:solidFill>
            <a:srgbClr val="FFF0CC"/>
          </a:solidFill>
          <a:ln w="3810">
            <a:solidFill>
              <a:srgbClr val="8A52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5486400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happy:50%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74320" y="5797296"/>
            <a:ext cx="3730752" cy="274320"/>
          </a:xfrm>
          <a:prstGeom prst="rect">
            <a:avLst/>
          </a:prstGeom>
          <a:solidFill>
            <a:srgbClr val="FFF0CC"/>
          </a:solidFill>
          <a:ln w="3810">
            <a:solidFill>
              <a:srgbClr val="8A52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" y="5797296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neutral:50%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74320" y="6108192"/>
            <a:ext cx="3730752" cy="274320"/>
          </a:xfrm>
          <a:prstGeom prst="rect">
            <a:avLst/>
          </a:prstGeom>
          <a:solidFill>
            <a:srgbClr val="FFF0CC"/>
          </a:solidFill>
          <a:ln w="3810">
            <a:solidFill>
              <a:srgbClr val="8A52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6108192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sad:35%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187952" y="3127248"/>
            <a:ext cx="3913632" cy="3291840"/>
          </a:xfrm>
          <a:prstGeom prst="rect">
            <a:avLst/>
          </a:prstGeom>
          <a:solidFill>
            <a:srgbClr val="FFF0CC"/>
          </a:solidFill>
          <a:ln w="12700">
            <a:solidFill>
              <a:srgbClr val="8A520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187952" y="3127248"/>
            <a:ext cx="50292" cy="3291840"/>
          </a:xfrm>
          <a:prstGeom prst="rect">
            <a:avLst/>
          </a:prstGeom>
          <a:solidFill>
            <a:srgbClr val="8A5200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79392" y="3127248"/>
            <a:ext cx="3730752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SupCon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279392" y="3511296"/>
            <a:ext cx="3730752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epochs  |  LR=1e-5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279392" y="3712464"/>
            <a:ext cx="3730752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stuck~3.35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279392" y="3913632"/>
            <a:ext cx="3730752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43.9%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279392" y="4242816"/>
            <a:ext cx="373075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3/6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279392" y="4553712"/>
            <a:ext cx="3730752" cy="274320"/>
          </a:xfrm>
          <a:prstGeom prst="rect">
            <a:avLst/>
          </a:prstGeom>
          <a:solidFill>
            <a:srgbClr val="D8F2DF"/>
          </a:solidFill>
          <a:ln w="3810">
            <a:solidFill>
              <a:srgbClr val="1A6B3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52544" y="4553712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angry:70%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279392" y="4864608"/>
            <a:ext cx="3730752" cy="274320"/>
          </a:xfrm>
          <a:prstGeom prst="rect">
            <a:avLst/>
          </a:prstGeom>
          <a:solidFill>
            <a:srgbClr val="FFF0CC"/>
          </a:solidFill>
          <a:ln w="3810">
            <a:solidFill>
              <a:srgbClr val="8A52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52544" y="4864608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disgust:30%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279392" y="5175504"/>
            <a:ext cx="3730752" cy="274320"/>
          </a:xfrm>
          <a:prstGeom prst="rect">
            <a:avLst/>
          </a:prstGeom>
          <a:solidFill>
            <a:srgbClr val="FFF0CC"/>
          </a:solidFill>
          <a:ln w="3810">
            <a:solidFill>
              <a:srgbClr val="8A52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52544" y="5175504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fearful:25%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279392" y="5486400"/>
            <a:ext cx="3730752" cy="274320"/>
          </a:xfrm>
          <a:prstGeom prst="rect">
            <a:avLst/>
          </a:prstGeom>
          <a:solidFill>
            <a:srgbClr val="D8F2DF"/>
          </a:solidFill>
          <a:ln w="3810">
            <a:solidFill>
              <a:srgbClr val="1A6B3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52544" y="5486400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happy:60%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279392" y="5797296"/>
            <a:ext cx="3730752" cy="274320"/>
          </a:xfrm>
          <a:prstGeom prst="rect">
            <a:avLst/>
          </a:prstGeom>
          <a:solidFill>
            <a:srgbClr val="D8F2DF"/>
          </a:solidFill>
          <a:ln w="3810">
            <a:solidFill>
              <a:srgbClr val="1A6B3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52544" y="5797296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neutral:55%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279392" y="6108192"/>
            <a:ext cx="3730752" cy="274320"/>
          </a:xfrm>
          <a:prstGeom prst="rect">
            <a:avLst/>
          </a:prstGeom>
          <a:solidFill>
            <a:srgbClr val="FFF0CC"/>
          </a:solidFill>
          <a:ln w="3810">
            <a:solidFill>
              <a:srgbClr val="8A52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52544" y="6108192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sad:30%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8193024" y="3127248"/>
            <a:ext cx="3913632" cy="32918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8193024" y="3127248"/>
            <a:ext cx="50292" cy="3291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84464" y="3127248"/>
            <a:ext cx="3730752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SupCon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284464" y="3511296"/>
            <a:ext cx="3730752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epochs  |  LR=5e-5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8284464" y="3712464"/>
            <a:ext cx="3730752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target&lt;3.0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8284464" y="3913632"/>
            <a:ext cx="3730752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284464" y="4242816"/>
            <a:ext cx="3730752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≥4/6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8284464" y="4553712"/>
            <a:ext cx="3730752" cy="274320"/>
          </a:xfrm>
          <a:prstGeom prst="rect">
            <a:avLst/>
          </a:prstGeom>
          <a:solidFill>
            <a:srgbClr val="D8F2DF"/>
          </a:solidFill>
          <a:ln w="3810">
            <a:solidFill>
              <a:srgbClr val="1A6B3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357616" y="4553712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angry: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8284464" y="4864608"/>
            <a:ext cx="3730752" cy="274320"/>
          </a:xfrm>
          <a:prstGeom prst="rect">
            <a:avLst/>
          </a:prstGeom>
          <a:solidFill>
            <a:srgbClr val="FAE0E0"/>
          </a:solidFill>
          <a:ln w="3810">
            <a:solidFill>
              <a:srgbClr val="9B202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357616" y="4864608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disgust: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8284464" y="5175504"/>
            <a:ext cx="3730752" cy="274320"/>
          </a:xfrm>
          <a:prstGeom prst="rect">
            <a:avLst/>
          </a:prstGeom>
          <a:solidFill>
            <a:srgbClr val="FAE0E0"/>
          </a:solidFill>
          <a:ln w="3810">
            <a:solidFill>
              <a:srgbClr val="9B202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357616" y="5175504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fearful: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8284464" y="5486400"/>
            <a:ext cx="3730752" cy="274320"/>
          </a:xfrm>
          <a:prstGeom prst="rect">
            <a:avLst/>
          </a:prstGeom>
          <a:solidFill>
            <a:srgbClr val="D8F2DF"/>
          </a:solidFill>
          <a:ln w="3810">
            <a:solidFill>
              <a:srgbClr val="1A6B3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357616" y="5486400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happy: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8284464" y="5797296"/>
            <a:ext cx="3730752" cy="274320"/>
          </a:xfrm>
          <a:prstGeom prst="rect">
            <a:avLst/>
          </a:prstGeom>
          <a:solidFill>
            <a:srgbClr val="D8F2DF"/>
          </a:solidFill>
          <a:ln w="3810">
            <a:solidFill>
              <a:srgbClr val="1A6B3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357616" y="5797296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neutral: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8284464" y="6108192"/>
            <a:ext cx="3730752" cy="274320"/>
          </a:xfrm>
          <a:prstGeom prst="rect">
            <a:avLst/>
          </a:prstGeom>
          <a:solidFill>
            <a:srgbClr val="FAE0E0"/>
          </a:solidFill>
          <a:ln w="3810">
            <a:solidFill>
              <a:srgbClr val="9B202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357616" y="6108192"/>
            <a:ext cx="3566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sad: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2051792" y="2907792"/>
            <a:ext cx="36576" cy="23774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2124944" y="2907792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Confusion Pairs in CREMA-D (Russell Circumplex)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12051792" y="3127248"/>
            <a:ext cx="18288" cy="329184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05156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 — Checkpoint System, Dataset Design &amp; Emotion Confusion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0" y="0"/>
            <a:ext cx="11887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117043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guards  |  Phase-specific checkpoints  |  CREMADDataset  |  Russell circumplex confusion pairs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IT 581 Capstone  |  Concordia University of Edmonton  |  Pipeline D — CREMA-D Audio-Visual Emotion Recognition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182880" y="621792"/>
            <a:ext cx="36576" cy="237744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621792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System — Phase-Specific Files with Identity Guards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859536"/>
            <a:ext cx="5760720" cy="2304288"/>
          </a:xfrm>
          <a:prstGeom prst="rect">
            <a:avLst/>
          </a:prstGeom>
          <a:solidFill>
            <a:srgbClr val="D7E4F5"/>
          </a:solidFill>
          <a:ln w="12700">
            <a:solidFill>
              <a:srgbClr val="14407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859536"/>
            <a:ext cx="557784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1+2 Checkpoint  (checkpoint_pipelineD_latest.pth)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9456" y="1078992"/>
            <a:ext cx="5687568" cy="2048256"/>
          </a:xfrm>
          <a:prstGeom prst="rect">
            <a:avLst/>
          </a:prstGeom>
          <a:solidFill>
            <a:srgbClr val="1E1E2E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115568"/>
            <a:ext cx="5541264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torch.save({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92608" y="1266444"/>
            <a:ext cx="5541264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'epoch'            : int,              # last completed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92608" y="1417320"/>
            <a:ext cx="5541264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'audio_proj_state' : OrderedDict,      # AudioProjection θ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92608" y="1568196"/>
            <a:ext cx="5541264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'video_proj_state' : OrderedDict,      # VideoFrameProjection φ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92608" y="1719072"/>
            <a:ext cx="5541264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'optimizer_state'  : dict,             # AdamW m_t, v_t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92608" y="1869948"/>
            <a:ext cx="5541264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'scheduler_state'  : dict,             # LR step counter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92608" y="2020824"/>
            <a:ext cx="5541264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'all_losses/accs'  : List[float],      # full history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92608" y="2171700"/>
            <a:ext cx="5541264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'wav2vec_dim'       : 768,             # dimension guard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92608" y="2322576"/>
            <a:ext cx="5541264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'pipeline'          : 'D-CREMAD-v3',  # identity guard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92608" y="2473452"/>
            <a:ext cx="5541264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'cross_modal'       : True,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92608" y="2624328"/>
            <a:ext cx="5541264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'warm_start'        : bool,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92608" y="2775204"/>
            <a:ext cx="5541264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CHECKPOINT)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92608" y="2926080"/>
            <a:ext cx="5541264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Guard: ckpt.get('pipeline') != 'D-CREMAD-v3' → start fresh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108192" y="859536"/>
            <a:ext cx="5870448" cy="230428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99632" y="859536"/>
            <a:ext cx="568756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Checkpoint  (checkpoint_pipelineD_phase3.pth)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44768" y="1078992"/>
            <a:ext cx="5833872" cy="2048256"/>
          </a:xfrm>
          <a:prstGeom prst="rect">
            <a:avLst/>
          </a:prstGeom>
          <a:solidFill>
            <a:srgbClr val="1E1E2E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115568"/>
            <a:ext cx="568756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torch.save({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217920" y="1266444"/>
            <a:ext cx="568756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'epoch'            : int,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217920" y="1417320"/>
            <a:ext cx="568756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'audio_proj_state' : OrderedDict,      # AudioProjection only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217920" y="1568196"/>
            <a:ext cx="568756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'optimizer_state'  : dict,             # Phase 3 AdamW state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217920" y="1719072"/>
            <a:ext cx="568756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'all_losses/accs'  : List[float],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217920" y="1869948"/>
            <a:ext cx="568756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'embed_dim'        : 512,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217920" y="2020824"/>
            <a:ext cx="568756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'pipeline'         : 'D-CREMAD-phase3', # separate identity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217920" y="2171700"/>
            <a:ext cx="568756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CHECKPOINT)  # separate file — does NOT overwrite Phase 1/2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217920" y="2322576"/>
            <a:ext cx="568756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217920" y="2473452"/>
            <a:ext cx="568756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separate Phase 3 checkpoint?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217920" y="2624328"/>
            <a:ext cx="568756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can be re-run with diff LR → shared file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217920" y="2775204"/>
            <a:ext cx="568756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E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would be overwritten, making comparison impossible.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217920" y="2926080"/>
            <a:ext cx="5687568" cy="16276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Guard: ckpt.get('pipeline') != 'D-CREMAD-phase3' → fresh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82880" y="3255264"/>
            <a:ext cx="36576" cy="237744"/>
          </a:xfrm>
          <a:prstGeom prst="rect">
            <a:avLst/>
          </a:prstGeom>
          <a:solidFill>
            <a:srgbClr val="8A5200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" y="3255264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CREMADDataset &amp; DataLoader — Phase 1 vs Phase 3 Design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82880" y="3474720"/>
            <a:ext cx="5760720" cy="1408176"/>
          </a:xfrm>
          <a:prstGeom prst="rect">
            <a:avLst/>
          </a:prstGeom>
          <a:solidFill>
            <a:srgbClr val="FFF0CC"/>
          </a:solidFill>
          <a:ln w="10160">
            <a:solidFill>
              <a:srgbClr val="8A520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74320" y="3474720"/>
            <a:ext cx="557784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CREMADDataset — Three-field returns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19456" y="3694176"/>
            <a:ext cx="822960" cy="256032"/>
          </a:xfrm>
          <a:prstGeom prst="rect">
            <a:avLst/>
          </a:prstGeom>
          <a:solidFill>
            <a:srgbClr val="8A520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3694176"/>
            <a:ext cx="7315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042416" y="3694176"/>
            <a:ext cx="1097280" cy="256032"/>
          </a:xfrm>
          <a:prstGeom prst="rect">
            <a:avLst/>
          </a:prstGeom>
          <a:solidFill>
            <a:srgbClr val="8A520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97280" y="3694176"/>
            <a:ext cx="10058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139696" y="3694176"/>
            <a:ext cx="3785616" cy="256032"/>
          </a:xfrm>
          <a:prstGeom prst="rect">
            <a:avLst/>
          </a:prstGeom>
          <a:solidFill>
            <a:srgbClr val="8A520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94560" y="3694176"/>
            <a:ext cx="369417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19456" y="3950208"/>
            <a:ext cx="8229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3950208"/>
            <a:ext cx="7315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audio_emb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042416" y="3950208"/>
            <a:ext cx="10972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97280" y="3950208"/>
            <a:ext cx="10058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[768]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139696" y="3950208"/>
            <a:ext cx="3785616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94560" y="3950208"/>
            <a:ext cx="369417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AudioProjection input (from Wav2Vec cache)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19456" y="4206240"/>
            <a:ext cx="822960" cy="256032"/>
          </a:xfrm>
          <a:prstGeom prst="rect">
            <a:avLst/>
          </a:prstGeom>
          <a:solidFill>
            <a:srgbClr val="FFF0CC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206240"/>
            <a:ext cx="7315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frame_tensor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1042416" y="4206240"/>
            <a:ext cx="1097280" cy="256032"/>
          </a:xfrm>
          <a:prstGeom prst="rect">
            <a:avLst/>
          </a:prstGeom>
          <a:solidFill>
            <a:srgbClr val="FFF0CC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97280" y="4206240"/>
            <a:ext cx="10058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[3,224,224]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139696" y="4206240"/>
            <a:ext cx="3785616" cy="256032"/>
          </a:xfrm>
          <a:prstGeom prst="rect">
            <a:avLst/>
          </a:prstGeom>
          <a:solidFill>
            <a:srgbClr val="FFF0CC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94560" y="4206240"/>
            <a:ext cx="369417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VideoFrameProjection input (from OpenCV cache)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19456" y="4462272"/>
            <a:ext cx="8229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462272"/>
            <a:ext cx="73152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042416" y="4462272"/>
            <a:ext cx="10972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97280" y="4462272"/>
            <a:ext cx="10058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int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139696" y="4462272"/>
            <a:ext cx="3785616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94560" y="4462272"/>
            <a:ext cx="3694176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SupCon positive mask (only if mode=SupCon)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108192" y="3474720"/>
            <a:ext cx="5870448" cy="1408176"/>
          </a:xfrm>
          <a:prstGeom prst="rect">
            <a:avLst/>
          </a:prstGeom>
          <a:solidFill>
            <a:srgbClr val="E8F5E9"/>
          </a:solidFill>
          <a:ln w="10160">
            <a:solidFill>
              <a:srgbClr val="2E7D32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6199632" y="3474720"/>
            <a:ext cx="568756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CREMADDataset — Audio-only (frame dropped)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199632" y="3694176"/>
            <a:ext cx="5687568" cy="11521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strips frame_tensor — only (audio_emb[768], label_int) returned.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768 floats ≈ 3 KB per sample vs 768+150K = ~600 KB in Phase 1.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DataLoader: B=32, shuffle=True, drop_last=True, num_workers=0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per epoch: floor(7442/32) = 232  (same as Phase 1)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Phase 3 gradient steps: 232 × 15 = 3,480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pairs per batch: Σ n_c(n_c-1) ≈ 6×5×4 = 120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82880" y="4974336"/>
            <a:ext cx="36576" cy="23774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56032" y="4974336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CREMA-D Emotion Confusion Analysis — Russell Arousal-Valence Circumplex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82880" y="5193792"/>
            <a:ext cx="5760720" cy="1389888"/>
          </a:xfrm>
          <a:prstGeom prst="rect">
            <a:avLst/>
          </a:prstGeom>
          <a:solidFill>
            <a:srgbClr val="EAE0F8"/>
          </a:solidFill>
          <a:ln w="10160">
            <a:solidFill>
              <a:srgbClr val="5B2D8E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274320" y="5193792"/>
            <a:ext cx="557784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confusion pairs (acoustic similarity):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219456" y="5449824"/>
            <a:ext cx="5687568" cy="329184"/>
          </a:xfrm>
          <a:prstGeom prst="rect">
            <a:avLst/>
          </a:prstGeom>
          <a:solidFill>
            <a:srgbClr val="EAE0F8"/>
          </a:solidFill>
          <a:ln w="3810">
            <a:solidFill>
              <a:srgbClr val="5B2D8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" y="5449824"/>
            <a:ext cx="128016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 ↔ fearful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1572768" y="5449824"/>
            <a:ext cx="429768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negative valence. Disgust: low arousal + disgust prosody. Fearful: high arousal + fear prosody. In audio-only, the valence overlap causes misclassification.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219456" y="5815584"/>
            <a:ext cx="5687568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5B2D8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4320" y="5815584"/>
            <a:ext cx="128016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 ↔ neutral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1572768" y="5815584"/>
            <a:ext cx="429768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low arousal. Sad: flat intonation + vocal fry + slower tempo. Neutral: flat intonation + normal tempo. Near-identical acoustic features in short clips.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219456" y="6181344"/>
            <a:ext cx="5687568" cy="329184"/>
          </a:xfrm>
          <a:prstGeom prst="rect">
            <a:avLst/>
          </a:prstGeom>
          <a:solidFill>
            <a:srgbClr val="EAE0F8"/>
          </a:solidFill>
          <a:ln w="3810">
            <a:solidFill>
              <a:srgbClr val="5B2D8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4320" y="6181344"/>
            <a:ext cx="128016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↔ fearful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1572768" y="6181344"/>
            <a:ext cx="429768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high arousal. Angry: harsh voice quality + rising pitch. Fearful: breathy voice + rising pitch. Without video (frown vs wide eyes), audio alone confuses these.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6108192" y="5193792"/>
            <a:ext cx="5870448" cy="1389888"/>
          </a:xfrm>
          <a:prstGeom prst="rect">
            <a:avLst/>
          </a:prstGeom>
          <a:solidFill>
            <a:srgbClr val="F5F5F5"/>
          </a:solidFill>
          <a:ln w="8890">
            <a:solidFill>
              <a:srgbClr val="AAAAA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6199632" y="5193792"/>
            <a:ext cx="568756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video context matters (cross-modal advantage):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199632" y="5413248"/>
            <a:ext cx="5687568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vs fearful: facial expression very different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angry: furrowed brow, tense jaw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fearful: wide eyes, open mouth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Video resolves confusion audio-alone cannot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disgusted vs fearful: FACS action units differ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disgust: AU9 (nose wrinkle) + AU15 (lip corner down)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fearful: AU1+2 (inner brow raise)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Video provides the discriminating signal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Pipeline D uses both modalities in Phase 1: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 alignment forces the model to use video context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disambiguate acoustically similar emotions,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better-separated embeddings than audio-alone SupCon.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105156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 — Saved Outputs, System Integration &amp; Complete MIVA-KNIGHT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0" y="0"/>
            <a:ext cx="11887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1170432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audio_projection_cremad.pth  |  video_frame_projection.pth  |  emotion_centroids_cremad.pt  |  4-pipeline complete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9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 |  IT 581 Capstone  |  Concordia University of Edmonton  |  Pipeline D — CREMA-D Audio-Visual Emotion Recognition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182880" y="621792"/>
            <a:ext cx="36576" cy="237744"/>
          </a:xfrm>
          <a:prstGeom prst="rect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621792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Pipeline D Outputs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859536"/>
            <a:ext cx="2834640" cy="2450592"/>
          </a:xfrm>
          <a:prstGeom prst="rect">
            <a:avLst/>
          </a:prstGeom>
          <a:solidFill>
            <a:srgbClr val="F3E5F5"/>
          </a:solidFill>
          <a:ln w="11430">
            <a:solidFill>
              <a:srgbClr val="7B1FA2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859536"/>
            <a:ext cx="50292" cy="245059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859536"/>
            <a:ext cx="2670048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audio_projection_cremad.pth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4320" y="1060704"/>
            <a:ext cx="2670048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checkpoint dict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74320" y="1225296"/>
            <a:ext cx="2670048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pipeline.py, domain_config.py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74320" y="1389888"/>
            <a:ext cx="2651760" cy="1883664"/>
          </a:xfrm>
          <a:prstGeom prst="rect">
            <a:avLst/>
          </a:prstGeom>
          <a:solidFill>
            <a:srgbClr val="1E1E2E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426464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'model_state_dict': state_dict,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47472" y="1595628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'wav2vec_dim': 768,  # critical: 768d not 512d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47472" y="1764792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'embed_dim': 512,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47472" y="1933956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'best_epoch': int,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47472" y="2103120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'best_accuracy': float,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47472" y="2272284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'pipeline': 'D-CREMAD-phase3',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47472" y="2441448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'warm_start': 'Pipeline-C' or 'random',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47472" y="2610612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'training_note': 'InfoNCE(13ep)-&gt;SupCon1e-5(10ep)-&gt;SupCon5e-5(15ep)'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47472" y="2779776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3182112" y="859536"/>
            <a:ext cx="2834640" cy="2450592"/>
          </a:xfrm>
          <a:prstGeom prst="rect">
            <a:avLst/>
          </a:prstGeom>
          <a:solidFill>
            <a:srgbClr val="FFEBEE"/>
          </a:solidFill>
          <a:ln w="11430">
            <a:solidFill>
              <a:srgbClr val="C62828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82112" y="859536"/>
            <a:ext cx="50292" cy="24505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859536"/>
            <a:ext cx="2670048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video_frame_projection.pth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273552" y="1060704"/>
            <a:ext cx="2670048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checkpoint dict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273552" y="1225296"/>
            <a:ext cx="2670048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video-conferencing emotion, ablation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73552" y="1389888"/>
            <a:ext cx="2651760" cy="1883664"/>
          </a:xfrm>
          <a:prstGeom prst="rect">
            <a:avLst/>
          </a:prstGeom>
          <a:solidFill>
            <a:srgbClr val="1E1E2E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46704" y="1426464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'model_state_dict': state_dict,  # includes ResNet backbone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346704" y="1595628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'resnet_dim': 2048,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346704" y="1764792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'embed_dim': 512,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3346704" y="1933956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'pipeline': 'D-CREMAD-v3'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346704" y="2103120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3346704" y="2272284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 for potential future use in video-based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3346704" y="2441448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emotion understanding or ablation studies.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3346704" y="2610612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used in MIVA-KNIGHT voice interface.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181344" y="859536"/>
            <a:ext cx="2834640" cy="2450592"/>
          </a:xfrm>
          <a:prstGeom prst="rect">
            <a:avLst/>
          </a:prstGeom>
          <a:solidFill>
            <a:srgbClr val="D1F0E6"/>
          </a:solidFill>
          <a:ln w="11430">
            <a:solidFill>
              <a:srgbClr val="0D7C5F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81344" y="859536"/>
            <a:ext cx="50292" cy="2450592"/>
          </a:xfrm>
          <a:prstGeom prst="rect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72784" y="859536"/>
            <a:ext cx="2670048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emotion_centroids_cremad.pt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272784" y="1060704"/>
            <a:ext cx="2670048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tensor [6,512]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272784" y="1225296"/>
            <a:ext cx="2670048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emotion detection from voice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272784" y="1389888"/>
            <a:ext cx="2651760" cy="1883664"/>
          </a:xfrm>
          <a:prstGeom prst="rect">
            <a:avLst/>
          </a:prstGeom>
          <a:solidFill>
            <a:srgbClr val="1E1E2E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45936" y="1426464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order (CREMA_EMOTIONS_6):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345936" y="1595628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 0: angry    Row 1: disgust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345936" y="1764792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 2: fearful  Row 3: happy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6345936" y="1933956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 4: neutral  Row 5: sad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6345936" y="2103120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345936" y="2272284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at inference: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6345936" y="2441448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sims = centroids @ e_audio.T  # [6,1]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6345936" y="2610612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detected = CREMA_EMOTIONS_6[sims.argmax()]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9180576" y="859536"/>
            <a:ext cx="2834640" cy="2450592"/>
          </a:xfrm>
          <a:prstGeom prst="rect">
            <a:avLst/>
          </a:prstGeom>
          <a:solidFill>
            <a:srgbClr val="FFF0CC"/>
          </a:solidFill>
          <a:ln w="11430">
            <a:solidFill>
              <a:srgbClr val="8A520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180576" y="859536"/>
            <a:ext cx="50292" cy="2450592"/>
          </a:xfrm>
          <a:prstGeom prst="rect">
            <a:avLst/>
          </a:prstGeom>
          <a:solidFill>
            <a:srgbClr val="8A5200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72016" y="859536"/>
            <a:ext cx="2670048" cy="219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config.json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9272016" y="1060704"/>
            <a:ext cx="2670048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— human + machine readable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9272016" y="1225296"/>
            <a:ext cx="2670048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reproducibility record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9272016" y="1389888"/>
            <a:ext cx="2651760" cy="1883664"/>
          </a:xfrm>
          <a:prstGeom prst="rect">
            <a:avLst/>
          </a:prstGeom>
          <a:solidFill>
            <a:srgbClr val="1E1E2E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45168" y="1426464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'pipeline': 'D - CREMA-D Audio-Visual MER',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9345168" y="1595628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'dataset': '7442 clips, 91 actors, 6 emotions',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9345168" y="1764792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'training_mode': 'cross-modal InfoNCE',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9345168" y="1933956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'wav2vec_dim': 768,  'embed_dim': 512,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9345168" y="2103120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'epochs': 13,  'batch_size': 32,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9345168" y="2272284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'per_emotion_accuracy': { ... },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9345168" y="2441448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'n_emotions_correct': int,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9345168" y="2610612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'pipeline_c_comparison': '6/8@59.0%'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9345168" y="2779776"/>
            <a:ext cx="2523744" cy="1691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182880" y="3438144"/>
            <a:ext cx="36576" cy="237744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6032" y="3438144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Critical Fixes Required Before Month 6 Integration Testing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82880" y="3657600"/>
            <a:ext cx="6876288" cy="1481328"/>
          </a:xfrm>
          <a:prstGeom prst="rect">
            <a:avLst/>
          </a:prstGeom>
          <a:solidFill>
            <a:srgbClr val="FAE0E0"/>
          </a:solidFill>
          <a:ln w="12700">
            <a:solidFill>
              <a:srgbClr val="9B202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219456" y="3913632"/>
            <a:ext cx="6803136" cy="274320"/>
          </a:xfrm>
          <a:prstGeom prst="rect">
            <a:avLst/>
          </a:prstGeom>
          <a:solidFill>
            <a:srgbClr val="FAE0E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4320" y="3913632"/>
            <a:ext cx="5486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41248" y="3913632"/>
            <a:ext cx="11887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44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domain_config.py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2048256" y="3913632"/>
            <a:ext cx="49377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audio_weights → pipelineC/audio_projection.pth  (768d, not 512d Month 2)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19456" y="4224528"/>
            <a:ext cx="68031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4224528"/>
            <a:ext cx="5486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2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41248" y="4224528"/>
            <a:ext cx="11887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44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domain_config.py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2048256" y="4224528"/>
            <a:ext cx="49377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emotion_centroids → pipelineC/emotion_centroids.pt  (Pipeline C 6/8 @ 59.0%)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219456" y="4535424"/>
            <a:ext cx="6803136" cy="274320"/>
          </a:xfrm>
          <a:prstGeom prst="rect">
            <a:avLst/>
          </a:prstGeom>
          <a:solidFill>
            <a:srgbClr val="FAE0E0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4320" y="4535424"/>
            <a:ext cx="5486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3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841248" y="4535424"/>
            <a:ext cx="11887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44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pipeline.py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2048256" y="4535424"/>
            <a:ext cx="49377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AudioProjection(wav2vec_dim=768)  [currently 512 — the original bug]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219456" y="4846320"/>
            <a:ext cx="6803136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AAAAA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4320" y="4846320"/>
            <a:ext cx="5486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4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41248" y="4846320"/>
            <a:ext cx="11887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44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encoders.py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2048256" y="4846320"/>
            <a:ext cx="49377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live Wav2Vec outputs 768d hidden states (not 512d)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7205472" y="3657600"/>
            <a:ext cx="4956048" cy="1481328"/>
          </a:xfrm>
          <a:prstGeom prst="rect">
            <a:avLst/>
          </a:prstGeom>
          <a:solidFill>
            <a:srgbClr val="D7E4F5"/>
          </a:solidFill>
          <a:ln w="10160">
            <a:solidFill>
              <a:srgbClr val="14407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7296912" y="3657600"/>
            <a:ext cx="4773168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Inference After Fixes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7296912" y="3877056"/>
            <a:ext cx="4773168" cy="1225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speaks: "What does bilateral consolidation mean?"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Wav2Vec 2.0 (frozen) → 768d e_wav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AudioProjection (Pipeline C/D) → 512d ê_audio ∈ S⁵¹¹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cos(ê_audio, c̄_e) for each emotion → argmax → "confused"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Domain auto-detect (medical terms detected)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swap to MedicalDomain: ROCO FAISS + scispaCy KG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hybrid_retrieve(query, ROCO_FAISS, KG_medical)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top-5 grounded docs pass confidence guard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Groq Llama-3.1-8B: "User sounds confused. Explain..."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gTTS voice output + written answer + source panel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182880" y="5248656"/>
            <a:ext cx="36576" cy="237744"/>
          </a:xfrm>
          <a:prstGeom prst="rect">
            <a:avLst/>
          </a:prstGeom>
          <a:solidFill>
            <a:srgbClr val="1A6B30"/>
          </a:solidFill>
          <a:ln w="12700">
            <a:solidFill>
              <a:srgbClr val="1A6B3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56032" y="5248656"/>
            <a:ext cx="6400800" cy="2377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MIVA-KNIGHT — All 4 Pipelines Complete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182880" y="5468112"/>
            <a:ext cx="2834640" cy="1280160"/>
          </a:xfrm>
          <a:prstGeom prst="rect">
            <a:avLst/>
          </a:prstGeom>
          <a:solidFill>
            <a:srgbClr val="D1F0E6"/>
          </a:solidFill>
          <a:ln w="11430">
            <a:solidFill>
              <a:srgbClr val="0D7C5F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182880" y="5468112"/>
            <a:ext cx="50292" cy="1280160"/>
          </a:xfrm>
          <a:prstGeom prst="rect">
            <a:avLst/>
          </a:prstGeom>
          <a:solidFill>
            <a:srgbClr val="0D7C5F"/>
          </a:solidFill>
          <a:ln w="12700">
            <a:solidFill>
              <a:srgbClr val="0D7C5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92608" y="5468112"/>
            <a:ext cx="265176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COCO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0D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(Text+Image)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292608" y="5852160"/>
            <a:ext cx="2651760" cy="8595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  |  15 epochs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TextProj + ImageProj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P@1=64.6%  MRR=0.727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182112" y="5468112"/>
            <a:ext cx="2834640" cy="1280160"/>
          </a:xfrm>
          <a:prstGeom prst="rect">
            <a:avLst/>
          </a:prstGeom>
          <a:solidFill>
            <a:srgbClr val="D7E4F5"/>
          </a:solidFill>
          <a:ln w="11430">
            <a:solidFill>
              <a:srgbClr val="14407A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3182112" y="5468112"/>
            <a:ext cx="50292" cy="1280160"/>
          </a:xfrm>
          <a:prstGeom prst="rect">
            <a:avLst/>
          </a:prstGeom>
          <a:solidFill>
            <a:srgbClr val="14407A"/>
          </a:solidFill>
          <a:ln w="12700">
            <a:solidFill>
              <a:srgbClr val="14407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291840" y="5468112"/>
            <a:ext cx="265176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ROCO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144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(Medical)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3291840" y="5852160"/>
            <a:ext cx="2651760" cy="8595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  |  ~20 epochs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ImageProj (ROCO head)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P@1=62.8%  MRR=0.767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1.35s domain swap ✓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181344" y="5468112"/>
            <a:ext cx="2834640" cy="1280160"/>
          </a:xfrm>
          <a:prstGeom prst="rect">
            <a:avLst/>
          </a:prstGeom>
          <a:solidFill>
            <a:srgbClr val="F3E5F5"/>
          </a:solidFill>
          <a:ln w="11430">
            <a:solidFill>
              <a:srgbClr val="7B1FA2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6181344" y="5468112"/>
            <a:ext cx="50292" cy="128016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291072" y="5468112"/>
            <a:ext cx="265176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RAVDESS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(Audio)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6291072" y="5852160"/>
            <a:ext cx="2651760" cy="8595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SupCon  |  30 epochs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AudioProjection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 @ 59.0%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 27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9180576" y="5468112"/>
            <a:ext cx="2834640" cy="1280160"/>
          </a:xfrm>
          <a:prstGeom prst="rect">
            <a:avLst/>
          </a:prstGeom>
          <a:solidFill>
            <a:srgbClr val="FFEBEE"/>
          </a:solidFill>
          <a:ln w="11430">
            <a:solidFill>
              <a:srgbClr val="C62828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9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9180576" y="5468112"/>
            <a:ext cx="50292" cy="12801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290304" y="5468112"/>
            <a:ext cx="265176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CREMA-D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(Audio+Video)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9290304" y="5852160"/>
            <a:ext cx="2651760" cy="8595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InfoNCE→SupCon  |  38ep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AudioProj+VideoProj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phases  |  6 emotions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actors  7,442 clips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182880" y="6803136"/>
            <a:ext cx="11795760" cy="2560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74320" y="6803136"/>
            <a:ext cx="115214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512-dimensional embedding space  S⁵¹¹  |  All 4 pipelines output L2-normalised 512d unit vectors  |  Cross-modal comparisons are geometrically valid  |  Domain-agnostic BERT+Wav2Vec core frozen throughout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MIVA-KNIGHT Pipeline D — CREMA-D Audio-Visual MER</dc:title>
  <dc:subject>PptxGenJS Presentation</dc:subject>
  <dc:creator>PptxGenJS</dc:creator>
  <cp:lastModifiedBy>PptxGenJS</cp:lastModifiedBy>
  <cp:revision>1</cp:revision>
  <dcterms:created xsi:type="dcterms:W3CDTF">2026-03-17T19:08:55Z</dcterms:created>
  <dcterms:modified xsi:type="dcterms:W3CDTF">2026-03-17T19:08:55Z</dcterms:modified>
</cp:coreProperties>
</file>